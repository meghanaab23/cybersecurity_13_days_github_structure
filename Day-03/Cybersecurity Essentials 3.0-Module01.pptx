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5"/>
  </p:notesMasterIdLst>
  <p:sldIdLst>
    <p:sldId id="256" r:id="rId5"/>
    <p:sldId id="257" r:id="rId6"/>
    <p:sldId id="258" r:id="rId7"/>
    <p:sldId id="1072" r:id="rId8"/>
    <p:sldId id="259" r:id="rId9"/>
    <p:sldId id="260" r:id="rId10"/>
    <p:sldId id="1073" r:id="rId11"/>
    <p:sldId id="1078" r:id="rId12"/>
    <p:sldId id="1079" r:id="rId13"/>
    <p:sldId id="1080" r:id="rId14"/>
    <p:sldId id="1081" r:id="rId15"/>
    <p:sldId id="262" r:id="rId16"/>
    <p:sldId id="1075" r:id="rId17"/>
    <p:sldId id="263" r:id="rId18"/>
    <p:sldId id="264" r:id="rId19"/>
    <p:sldId id="265" r:id="rId20"/>
    <p:sldId id="267" r:id="rId21"/>
    <p:sldId id="271" r:id="rId22"/>
    <p:sldId id="272" r:id="rId23"/>
    <p:sldId id="273" r:id="rId24"/>
    <p:sldId id="274" r:id="rId25"/>
    <p:sldId id="275" r:id="rId26"/>
    <p:sldId id="276" r:id="rId27"/>
    <p:sldId id="278" r:id="rId28"/>
    <p:sldId id="281" r:id="rId29"/>
    <p:sldId id="283" r:id="rId30"/>
    <p:sldId id="285" r:id="rId31"/>
    <p:sldId id="286" r:id="rId32"/>
    <p:sldId id="287" r:id="rId33"/>
    <p:sldId id="291" r:id="rId34"/>
    <p:sldId id="292" r:id="rId35"/>
    <p:sldId id="293" r:id="rId36"/>
    <p:sldId id="294" r:id="rId37"/>
    <p:sldId id="296" r:id="rId38"/>
    <p:sldId id="298" r:id="rId39"/>
    <p:sldId id="300" r:id="rId40"/>
    <p:sldId id="301" r:id="rId41"/>
    <p:sldId id="302" r:id="rId42"/>
    <p:sldId id="303" r:id="rId43"/>
    <p:sldId id="304" r:id="rId44"/>
    <p:sldId id="306" r:id="rId45"/>
    <p:sldId id="307" r:id="rId46"/>
    <p:sldId id="309" r:id="rId47"/>
    <p:sldId id="311" r:id="rId48"/>
    <p:sldId id="312" r:id="rId49"/>
    <p:sldId id="315" r:id="rId50"/>
    <p:sldId id="317" r:id="rId51"/>
    <p:sldId id="319" r:id="rId52"/>
    <p:sldId id="320" r:id="rId53"/>
    <p:sldId id="321" r:id="rId54"/>
    <p:sldId id="323" r:id="rId55"/>
    <p:sldId id="324" r:id="rId56"/>
    <p:sldId id="326" r:id="rId57"/>
    <p:sldId id="328" r:id="rId58"/>
    <p:sldId id="330" r:id="rId59"/>
    <p:sldId id="331" r:id="rId60"/>
    <p:sldId id="332" r:id="rId61"/>
    <p:sldId id="334" r:id="rId62"/>
    <p:sldId id="335" r:id="rId63"/>
    <p:sldId id="1077" r:id="rId64"/>
    <p:sldId id="337" r:id="rId65"/>
    <p:sldId id="339" r:id="rId66"/>
    <p:sldId id="1076" r:id="rId67"/>
    <p:sldId id="340" r:id="rId68"/>
    <p:sldId id="341" r:id="rId69"/>
    <p:sldId id="343" r:id="rId70"/>
    <p:sldId id="345" r:id="rId71"/>
    <p:sldId id="346" r:id="rId72"/>
    <p:sldId id="347" r:id="rId73"/>
    <p:sldId id="348" r:id="rId7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E22BBC-AC2E-1E24-31C0-ED9B8F712FE9}" name="Cláudia Naumann" initials="CN" userId="S::naumann_nce.ufrj.br#ext#@cisco.onmicrosoft.com::2c14c15b-0266-4182-83e5-84c7c06e2959" providerId="AD"/>
  <p188:author id="{31CCBEBE-11CE-F1BF-0C9B-F972ACE97E89}" name="ecuyang@gmail.com" initials="e" userId="ecuyang@gmail.com" providerId="None"/>
  <p188:author id="{C7165DCF-3304-E89D-7E12-A5425B5649D3}" name="Anna Bolen -X (abolen - UNICON INC at Cisco)" initials="AC" userId="S::abolen@cisco.com::8fcf5b57-97b6-40ce-9683-275924855fa8" providerId="AD"/>
  <p188:author id="{85B366E1-42EE-4C3B-3267-9BFE3DE9F467}" name="Brie Nelson" initials="BN" userId="S::brie_elearningdoc.com#ext#@cisco.onmicrosoft.com::712abed6-64c6-4c4c-80f1-14676a42bb7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E7FF-73D8-41BE-8E49-C3B6FCA3A686}" v="1" dt="2023-03-30T15:38:47.0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64" autoAdjust="0"/>
    <p:restoredTop sz="84136" autoAdjust="0"/>
  </p:normalViewPr>
  <p:slideViewPr>
    <p:cSldViewPr snapToGrid="0">
      <p:cViewPr varScale="1">
        <p:scale>
          <a:sx n="99" d="100"/>
          <a:sy n="99" d="100"/>
        </p:scale>
        <p:origin x="5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 Bolen -X (abolen - UNICON INC at Cisco)" userId="8fcf5b57-97b6-40ce-9683-275924855fa8" providerId="ADAL" clId="{CB05E7FF-73D8-41BE-8E49-C3B6FCA3A686}"/>
    <pc:docChg chg="modSld">
      <pc:chgData name="Anna Bolen -X (abolen - UNICON INC at Cisco)" userId="8fcf5b57-97b6-40ce-9683-275924855fa8" providerId="ADAL" clId="{CB05E7FF-73D8-41BE-8E49-C3B6FCA3A686}" dt="2023-03-30T15:38:47.060" v="0"/>
      <pc:docMkLst>
        <pc:docMk/>
      </pc:docMkLst>
      <pc:sldChg chg="modSp modNotes">
        <pc:chgData name="Anna Bolen -X (abolen - UNICON INC at Cisco)" userId="8fcf5b57-97b6-40ce-9683-275924855fa8" providerId="ADAL" clId="{CB05E7FF-73D8-41BE-8E49-C3B6FCA3A686}" dt="2023-03-30T15:38:47.060" v="0"/>
        <pc:sldMkLst>
          <pc:docMk/>
          <pc:sldMk cId="0" sldId="256"/>
        </pc:sldMkLst>
        <pc:spChg chg="mod">
          <ac:chgData name="Anna Bolen -X (abolen - UNICON INC at Cisco)" userId="8fcf5b57-97b6-40ce-9683-275924855fa8" providerId="ADAL" clId="{CB05E7FF-73D8-41BE-8E49-C3B6FCA3A686}" dt="2023-03-30T15:38:47.060" v="0"/>
          <ac:spMkLst>
            <pc:docMk/>
            <pc:sldMk cId="0" sldId="256"/>
            <ac:spMk id="4" creationId="{00000000-0000-0000-0000-000000000000}"/>
          </ac:spMkLst>
        </pc:spChg>
      </pc:sldChg>
      <pc:sldChg chg="modSp modNotes">
        <pc:chgData name="Anna Bolen -X (abolen - UNICON INC at Cisco)" userId="8fcf5b57-97b6-40ce-9683-275924855fa8" providerId="ADAL" clId="{CB05E7FF-73D8-41BE-8E49-C3B6FCA3A686}" dt="2023-03-30T15:38:47.060" v="0"/>
        <pc:sldMkLst>
          <pc:docMk/>
          <pc:sldMk cId="0" sldId="262"/>
        </pc:sldMkLst>
        <pc:spChg chg="mod">
          <ac:chgData name="Anna Bolen -X (abolen - UNICON INC at Cisco)" userId="8fcf5b57-97b6-40ce-9683-275924855fa8" providerId="ADAL" clId="{CB05E7FF-73D8-41BE-8E49-C3B6FCA3A686}" dt="2023-03-30T15:38:47.060" v="0"/>
          <ac:spMkLst>
            <pc:docMk/>
            <pc:sldMk cId="0" sldId="262"/>
            <ac:spMk id="3" creationId="{00000000-0000-0000-0000-000000000000}"/>
          </ac:spMkLst>
        </pc:spChg>
      </pc:sldChg>
    </pc:docChg>
  </pc:docChgLst>
  <pc:docChgLst>
    <pc:chgData name="Anna Bolen -X (abolen - UNICON INC at Cisco)" userId="8fcf5b57-97b6-40ce-9683-275924855fa8" providerId="ADAL" clId="{6A5E4895-8625-4B25-B70E-13FCBE82D0C7}"/>
    <pc:docChg chg="custSel modSld">
      <pc:chgData name="Anna Bolen -X (abolen - UNICON INC at Cisco)" userId="8fcf5b57-97b6-40ce-9683-275924855fa8" providerId="ADAL" clId="{6A5E4895-8625-4B25-B70E-13FCBE82D0C7}" dt="2023-03-22T15:48:14.114" v="55" actId="207"/>
      <pc:docMkLst>
        <pc:docMk/>
      </pc:docMkLst>
      <pc:sldChg chg="addSp modSp mod">
        <pc:chgData name="Anna Bolen -X (abolen - UNICON INC at Cisco)" userId="8fcf5b57-97b6-40ce-9683-275924855fa8" providerId="ADAL" clId="{6A5E4895-8625-4B25-B70E-13FCBE82D0C7}" dt="2023-03-22T15:48:14.114" v="55" actId="207"/>
        <pc:sldMkLst>
          <pc:docMk/>
          <pc:sldMk cId="3094066351" sldId="1073"/>
        </pc:sldMkLst>
        <pc:spChg chg="add mod">
          <ac:chgData name="Anna Bolen -X (abolen - UNICON INC at Cisco)" userId="8fcf5b57-97b6-40ce-9683-275924855fa8" providerId="ADAL" clId="{6A5E4895-8625-4B25-B70E-13FCBE82D0C7}" dt="2023-03-22T15:48:14.114" v="55" actId="207"/>
          <ac:spMkLst>
            <pc:docMk/>
            <pc:sldMk cId="3094066351" sldId="1073"/>
            <ac:spMk id="3" creationId="{E6E0A81B-EE8C-FFE3-0F20-0A36957EC39D}"/>
          </ac:spMkLst>
        </pc:spChg>
      </pc:sldChg>
    </pc:docChg>
  </pc:docChgLst>
  <pc:docChgLst>
    <pc:chgData name="Anna Bolen -X (abolen - UNICON INC at Cisco)" userId="8fcf5b57-97b6-40ce-9683-275924855fa8" providerId="ADAL" clId="{4BCEB66D-BD7E-499F-BB18-72E5B2B2E67C}"/>
    <pc:docChg chg="undo custSel modSld">
      <pc:chgData name="Anna Bolen -X (abolen - UNICON INC at Cisco)" userId="8fcf5b57-97b6-40ce-9683-275924855fa8" providerId="ADAL" clId="{4BCEB66D-BD7E-499F-BB18-72E5B2B2E67C}" dt="2022-11-07T17:41:07.364" v="93"/>
      <pc:docMkLst>
        <pc:docMk/>
      </pc:docMkLst>
      <pc:sldChg chg="modSp mod modShow">
        <pc:chgData name="Anna Bolen -X (abolen - UNICON INC at Cisco)" userId="8fcf5b57-97b6-40ce-9683-275924855fa8" providerId="ADAL" clId="{4BCEB66D-BD7E-499F-BB18-72E5B2B2E67C}" dt="2022-11-07T17:39:12.161" v="81" actId="729"/>
        <pc:sldMkLst>
          <pc:docMk/>
          <pc:sldMk cId="0" sldId="257"/>
        </pc:sldMkLst>
        <pc:spChg chg="mod">
          <ac:chgData name="Anna Bolen -X (abolen - UNICON INC at Cisco)" userId="8fcf5b57-97b6-40ce-9683-275924855fa8" providerId="ADAL" clId="{4BCEB66D-BD7E-499F-BB18-72E5B2B2E67C}" dt="2022-11-04T18:23:05.031" v="80" actId="14100"/>
          <ac:spMkLst>
            <pc:docMk/>
            <pc:sldMk cId="0" sldId="257"/>
            <ac:spMk id="3" creationId="{00000000-0000-0000-0000-000000000000}"/>
          </ac:spMkLst>
        </pc:spChg>
      </pc:sldChg>
      <pc:sldChg chg="mod modShow">
        <pc:chgData name="Anna Bolen -X (abolen - UNICON INC at Cisco)" userId="8fcf5b57-97b6-40ce-9683-275924855fa8" providerId="ADAL" clId="{4BCEB66D-BD7E-499F-BB18-72E5B2B2E67C}" dt="2022-11-07T17:39:14.786" v="82" actId="729"/>
        <pc:sldMkLst>
          <pc:docMk/>
          <pc:sldMk cId="0" sldId="258"/>
        </pc:sldMkLst>
      </pc:sldChg>
      <pc:sldChg chg="mod modShow">
        <pc:chgData name="Anna Bolen -X (abolen - UNICON INC at Cisco)" userId="8fcf5b57-97b6-40ce-9683-275924855fa8" providerId="ADAL" clId="{4BCEB66D-BD7E-499F-BB18-72E5B2B2E67C}" dt="2022-11-07T17:39:28.385" v="84" actId="729"/>
        <pc:sldMkLst>
          <pc:docMk/>
          <pc:sldMk cId="0" sldId="259"/>
        </pc:sldMkLst>
      </pc:sldChg>
      <pc:sldChg chg="mod modShow">
        <pc:chgData name="Anna Bolen -X (abolen - UNICON INC at Cisco)" userId="8fcf5b57-97b6-40ce-9683-275924855fa8" providerId="ADAL" clId="{4BCEB66D-BD7E-499F-BB18-72E5B2B2E67C}" dt="2022-11-07T17:39:31.731" v="85" actId="729"/>
        <pc:sldMkLst>
          <pc:docMk/>
          <pc:sldMk cId="0" sldId="260"/>
        </pc:sldMkLst>
      </pc:sldChg>
      <pc:sldChg chg="addCm">
        <pc:chgData name="Anna Bolen -X (abolen - UNICON INC at Cisco)" userId="8fcf5b57-97b6-40ce-9683-275924855fa8" providerId="ADAL" clId="{4BCEB66D-BD7E-499F-BB18-72E5B2B2E67C}" dt="2022-10-31T17:17:59.631" v="0"/>
        <pc:sldMkLst>
          <pc:docMk/>
          <pc:sldMk cId="0" sldId="261"/>
        </pc:sldMkLst>
      </pc:sldChg>
      <pc:sldChg chg="modSp mod">
        <pc:chgData name="Anna Bolen -X (abolen - UNICON INC at Cisco)" userId="8fcf5b57-97b6-40ce-9683-275924855fa8" providerId="ADAL" clId="{4BCEB66D-BD7E-499F-BB18-72E5B2B2E67C}" dt="2022-10-31T17:26:05.665" v="35" actId="14100"/>
        <pc:sldMkLst>
          <pc:docMk/>
          <pc:sldMk cId="0" sldId="265"/>
        </pc:sldMkLst>
        <pc:spChg chg="mod">
          <ac:chgData name="Anna Bolen -X (abolen - UNICON INC at Cisco)" userId="8fcf5b57-97b6-40ce-9683-275924855fa8" providerId="ADAL" clId="{4BCEB66D-BD7E-499F-BB18-72E5B2B2E67C}" dt="2022-10-31T17:26:05.665" v="35" actId="14100"/>
          <ac:spMkLst>
            <pc:docMk/>
            <pc:sldMk cId="0" sldId="265"/>
            <ac:spMk id="25" creationId="{00000000-0000-0000-0000-000000000000}"/>
          </ac:spMkLst>
        </pc:spChg>
      </pc:sldChg>
      <pc:sldChg chg="delCm">
        <pc:chgData name="Anna Bolen -X (abolen - UNICON INC at Cisco)" userId="8fcf5b57-97b6-40ce-9683-275924855fa8" providerId="ADAL" clId="{4BCEB66D-BD7E-499F-BB18-72E5B2B2E67C}" dt="2022-11-07T17:41:07.364" v="93"/>
        <pc:sldMkLst>
          <pc:docMk/>
          <pc:sldMk cId="0" sldId="271"/>
        </pc:sldMkLst>
      </pc:sldChg>
      <pc:sldChg chg="modSp mod">
        <pc:chgData name="Anna Bolen -X (abolen - UNICON INC at Cisco)" userId="8fcf5b57-97b6-40ce-9683-275924855fa8" providerId="ADAL" clId="{4BCEB66D-BD7E-499F-BB18-72E5B2B2E67C}" dt="2022-10-31T17:20:14.772" v="16" actId="255"/>
        <pc:sldMkLst>
          <pc:docMk/>
          <pc:sldMk cId="0" sldId="272"/>
        </pc:sldMkLst>
        <pc:spChg chg="mod">
          <ac:chgData name="Anna Bolen -X (abolen - UNICON INC at Cisco)" userId="8fcf5b57-97b6-40ce-9683-275924855fa8" providerId="ADAL" clId="{4BCEB66D-BD7E-499F-BB18-72E5B2B2E67C}" dt="2022-10-31T17:20:14.772" v="16" actId="255"/>
          <ac:spMkLst>
            <pc:docMk/>
            <pc:sldMk cId="0" sldId="272"/>
            <ac:spMk id="4" creationId="{1D61DD85-1329-8A74-5349-C9BEECE1EB60}"/>
          </ac:spMkLst>
        </pc:spChg>
      </pc:sldChg>
      <pc:sldChg chg="modSp mod">
        <pc:chgData name="Anna Bolen -X (abolen - UNICON INC at Cisco)" userId="8fcf5b57-97b6-40ce-9683-275924855fa8" providerId="ADAL" clId="{4BCEB66D-BD7E-499F-BB18-72E5B2B2E67C}" dt="2022-10-31T17:20:09.148" v="15" actId="255"/>
        <pc:sldMkLst>
          <pc:docMk/>
          <pc:sldMk cId="0" sldId="273"/>
        </pc:sldMkLst>
        <pc:spChg chg="mod">
          <ac:chgData name="Anna Bolen -X (abolen - UNICON INC at Cisco)" userId="8fcf5b57-97b6-40ce-9683-275924855fa8" providerId="ADAL" clId="{4BCEB66D-BD7E-499F-BB18-72E5B2B2E67C}" dt="2022-10-31T17:20:09.148" v="15" actId="255"/>
          <ac:spMkLst>
            <pc:docMk/>
            <pc:sldMk cId="0" sldId="273"/>
            <ac:spMk id="5" creationId="{00000000-0000-0000-0000-000000000000}"/>
          </ac:spMkLst>
        </pc:spChg>
      </pc:sldChg>
      <pc:sldChg chg="modSp mod">
        <pc:chgData name="Anna Bolen -X (abolen - UNICON INC at Cisco)" userId="8fcf5b57-97b6-40ce-9683-275924855fa8" providerId="ADAL" clId="{4BCEB66D-BD7E-499F-BB18-72E5B2B2E67C}" dt="2022-10-31T17:19:51.133" v="13" actId="255"/>
        <pc:sldMkLst>
          <pc:docMk/>
          <pc:sldMk cId="0" sldId="283"/>
        </pc:sldMkLst>
        <pc:spChg chg="mod">
          <ac:chgData name="Anna Bolen -X (abolen - UNICON INC at Cisco)" userId="8fcf5b57-97b6-40ce-9683-275924855fa8" providerId="ADAL" clId="{4BCEB66D-BD7E-499F-BB18-72E5B2B2E67C}" dt="2022-10-31T17:19:51.133" v="13" actId="255"/>
          <ac:spMkLst>
            <pc:docMk/>
            <pc:sldMk cId="0" sldId="283"/>
            <ac:spMk id="5" creationId="{00000000-0000-0000-0000-000000000000}"/>
          </ac:spMkLst>
        </pc:spChg>
      </pc:sldChg>
      <pc:sldChg chg="modSp mod">
        <pc:chgData name="Anna Bolen -X (abolen - UNICON INC at Cisco)" userId="8fcf5b57-97b6-40ce-9683-275924855fa8" providerId="ADAL" clId="{4BCEB66D-BD7E-499F-BB18-72E5B2B2E67C}" dt="2022-10-31T17:20:50.292" v="18" actId="255"/>
        <pc:sldMkLst>
          <pc:docMk/>
          <pc:sldMk cId="0" sldId="286"/>
        </pc:sldMkLst>
        <pc:spChg chg="mod">
          <ac:chgData name="Anna Bolen -X (abolen - UNICON INC at Cisco)" userId="8fcf5b57-97b6-40ce-9683-275924855fa8" providerId="ADAL" clId="{4BCEB66D-BD7E-499F-BB18-72E5B2B2E67C}" dt="2022-10-31T17:20:50.292" v="18" actId="255"/>
          <ac:spMkLst>
            <pc:docMk/>
            <pc:sldMk cId="0" sldId="286"/>
            <ac:spMk id="5" creationId="{00000000-0000-0000-0000-000000000000}"/>
          </ac:spMkLst>
        </pc:spChg>
      </pc:sldChg>
      <pc:sldChg chg="delCm modNotesTx">
        <pc:chgData name="Anna Bolen -X (abolen - UNICON INC at Cisco)" userId="8fcf5b57-97b6-40ce-9683-275924855fa8" providerId="ADAL" clId="{4BCEB66D-BD7E-499F-BB18-72E5B2B2E67C}" dt="2022-10-31T17:32:35.569" v="37"/>
        <pc:sldMkLst>
          <pc:docMk/>
          <pc:sldMk cId="0" sldId="287"/>
        </pc:sldMkLst>
      </pc:sldChg>
      <pc:sldChg chg="modSp mod">
        <pc:chgData name="Anna Bolen -X (abolen - UNICON INC at Cisco)" userId="8fcf5b57-97b6-40ce-9683-275924855fa8" providerId="ADAL" clId="{4BCEB66D-BD7E-499F-BB18-72E5B2B2E67C}" dt="2022-10-31T17:21:10.821" v="20" actId="255"/>
        <pc:sldMkLst>
          <pc:docMk/>
          <pc:sldMk cId="0" sldId="291"/>
        </pc:sldMkLst>
        <pc:spChg chg="mod">
          <ac:chgData name="Anna Bolen -X (abolen - UNICON INC at Cisco)" userId="8fcf5b57-97b6-40ce-9683-275924855fa8" providerId="ADAL" clId="{4BCEB66D-BD7E-499F-BB18-72E5B2B2E67C}" dt="2022-10-31T17:21:10.821" v="20" actId="255"/>
          <ac:spMkLst>
            <pc:docMk/>
            <pc:sldMk cId="0" sldId="291"/>
            <ac:spMk id="5" creationId="{00000000-0000-0000-0000-000000000000}"/>
          </ac:spMkLst>
        </pc:spChg>
      </pc:sldChg>
      <pc:sldChg chg="modSp mod">
        <pc:chgData name="Anna Bolen -X (abolen - UNICON INC at Cisco)" userId="8fcf5b57-97b6-40ce-9683-275924855fa8" providerId="ADAL" clId="{4BCEB66D-BD7E-499F-BB18-72E5B2B2E67C}" dt="2022-10-31T17:33:00.215" v="38" actId="14100"/>
        <pc:sldMkLst>
          <pc:docMk/>
          <pc:sldMk cId="0" sldId="293"/>
        </pc:sldMkLst>
        <pc:spChg chg="mod">
          <ac:chgData name="Anna Bolen -X (abolen - UNICON INC at Cisco)" userId="8fcf5b57-97b6-40ce-9683-275924855fa8" providerId="ADAL" clId="{4BCEB66D-BD7E-499F-BB18-72E5B2B2E67C}" dt="2022-10-31T17:33:00.215" v="38" actId="14100"/>
          <ac:spMkLst>
            <pc:docMk/>
            <pc:sldMk cId="0" sldId="293"/>
            <ac:spMk id="3" creationId="{00000000-0000-0000-0000-000000000000}"/>
          </ac:spMkLst>
        </pc:spChg>
      </pc:sldChg>
      <pc:sldChg chg="delCm">
        <pc:chgData name="Anna Bolen -X (abolen - UNICON INC at Cisco)" userId="8fcf5b57-97b6-40ce-9683-275924855fa8" providerId="ADAL" clId="{4BCEB66D-BD7E-499F-BB18-72E5B2B2E67C}" dt="2022-10-31T17:33:06.725" v="40"/>
        <pc:sldMkLst>
          <pc:docMk/>
          <pc:sldMk cId="0" sldId="294"/>
        </pc:sldMkLst>
      </pc:sldChg>
      <pc:sldChg chg="modSp mod">
        <pc:chgData name="Anna Bolen -X (abolen - UNICON INC at Cisco)" userId="8fcf5b57-97b6-40ce-9683-275924855fa8" providerId="ADAL" clId="{4BCEB66D-BD7E-499F-BB18-72E5B2B2E67C}" dt="2022-10-31T18:26:24.211" v="41" actId="14100"/>
        <pc:sldMkLst>
          <pc:docMk/>
          <pc:sldMk cId="0" sldId="303"/>
        </pc:sldMkLst>
        <pc:spChg chg="mod">
          <ac:chgData name="Anna Bolen -X (abolen - UNICON INC at Cisco)" userId="8fcf5b57-97b6-40ce-9683-275924855fa8" providerId="ADAL" clId="{4BCEB66D-BD7E-499F-BB18-72E5B2B2E67C}" dt="2022-10-31T18:26:24.211" v="41" actId="14100"/>
          <ac:spMkLst>
            <pc:docMk/>
            <pc:sldMk cId="0" sldId="303"/>
            <ac:spMk id="3" creationId="{00000000-0000-0000-0000-000000000000}"/>
          </ac:spMkLst>
        </pc:spChg>
        <pc:spChg chg="mod">
          <ac:chgData name="Anna Bolen -X (abolen - UNICON INC at Cisco)" userId="8fcf5b57-97b6-40ce-9683-275924855fa8" providerId="ADAL" clId="{4BCEB66D-BD7E-499F-BB18-72E5B2B2E67C}" dt="2022-10-31T17:22:14.520" v="24" actId="14100"/>
          <ac:spMkLst>
            <pc:docMk/>
            <pc:sldMk cId="0" sldId="303"/>
            <ac:spMk id="5" creationId="{00000000-0000-0000-0000-000000000000}"/>
          </ac:spMkLst>
        </pc:spChg>
      </pc:sldChg>
      <pc:sldChg chg="modSp mod delCm modCm">
        <pc:chgData name="Anna Bolen -X (abolen - UNICON INC at Cisco)" userId="8fcf5b57-97b6-40ce-9683-275924855fa8" providerId="ADAL" clId="{4BCEB66D-BD7E-499F-BB18-72E5B2B2E67C}" dt="2022-10-31T18:27:04.761" v="43" actId="13244"/>
        <pc:sldMkLst>
          <pc:docMk/>
          <pc:sldMk cId="0" sldId="306"/>
        </pc:sldMkLst>
        <pc:graphicFrameChg chg="ord">
          <ac:chgData name="Anna Bolen -X (abolen - UNICON INC at Cisco)" userId="8fcf5b57-97b6-40ce-9683-275924855fa8" providerId="ADAL" clId="{4BCEB66D-BD7E-499F-BB18-72E5B2B2E67C}" dt="2022-10-31T18:27:04.761" v="43" actId="13244"/>
          <ac:graphicFrameMkLst>
            <pc:docMk/>
            <pc:sldMk cId="0" sldId="306"/>
            <ac:graphicFrameMk id="4" creationId="{A2D1D426-BDA1-D470-1D58-A26B34CA3EA8}"/>
          </ac:graphicFrameMkLst>
        </pc:graphicFrameChg>
      </pc:sldChg>
      <pc:sldChg chg="delCm modCm">
        <pc:chgData name="Anna Bolen -X (abolen - UNICON INC at Cisco)" userId="8fcf5b57-97b6-40ce-9683-275924855fa8" providerId="ADAL" clId="{4BCEB66D-BD7E-499F-BB18-72E5B2B2E67C}" dt="2022-10-31T18:27:20.198" v="44"/>
        <pc:sldMkLst>
          <pc:docMk/>
          <pc:sldMk cId="0" sldId="307"/>
        </pc:sldMkLst>
      </pc:sldChg>
      <pc:sldChg chg="modSp mod">
        <pc:chgData name="Anna Bolen -X (abolen - UNICON INC at Cisco)" userId="8fcf5b57-97b6-40ce-9683-275924855fa8" providerId="ADAL" clId="{4BCEB66D-BD7E-499F-BB18-72E5B2B2E67C}" dt="2022-10-31T18:27:34.983" v="45" actId="14100"/>
        <pc:sldMkLst>
          <pc:docMk/>
          <pc:sldMk cId="0" sldId="309"/>
        </pc:sldMkLst>
        <pc:spChg chg="mod">
          <ac:chgData name="Anna Bolen -X (abolen - UNICON INC at Cisco)" userId="8fcf5b57-97b6-40ce-9683-275924855fa8" providerId="ADAL" clId="{4BCEB66D-BD7E-499F-BB18-72E5B2B2E67C}" dt="2022-10-31T18:27:34.983" v="45" actId="14100"/>
          <ac:spMkLst>
            <pc:docMk/>
            <pc:sldMk cId="0" sldId="309"/>
            <ac:spMk id="3" creationId="{00000000-0000-0000-0000-000000000000}"/>
          </ac:spMkLst>
        </pc:spChg>
        <pc:spChg chg="mod">
          <ac:chgData name="Anna Bolen -X (abolen - UNICON INC at Cisco)" userId="8fcf5b57-97b6-40ce-9683-275924855fa8" providerId="ADAL" clId="{4BCEB66D-BD7E-499F-BB18-72E5B2B2E67C}" dt="2022-10-31T17:23:03.365" v="27" actId="6549"/>
          <ac:spMkLst>
            <pc:docMk/>
            <pc:sldMk cId="0" sldId="309"/>
            <ac:spMk id="5" creationId="{00000000-0000-0000-0000-000000000000}"/>
          </ac:spMkLst>
        </pc:spChg>
      </pc:sldChg>
      <pc:sldChg chg="modSp mod">
        <pc:chgData name="Anna Bolen -X (abolen - UNICON INC at Cisco)" userId="8fcf5b57-97b6-40ce-9683-275924855fa8" providerId="ADAL" clId="{4BCEB66D-BD7E-499F-BB18-72E5B2B2E67C}" dt="2022-10-31T17:23:25.397" v="28" actId="2711"/>
        <pc:sldMkLst>
          <pc:docMk/>
          <pc:sldMk cId="0" sldId="315"/>
        </pc:sldMkLst>
        <pc:spChg chg="mod">
          <ac:chgData name="Anna Bolen -X (abolen - UNICON INC at Cisco)" userId="8fcf5b57-97b6-40ce-9683-275924855fa8" providerId="ADAL" clId="{4BCEB66D-BD7E-499F-BB18-72E5B2B2E67C}" dt="2022-10-31T17:23:25.397" v="28" actId="2711"/>
          <ac:spMkLst>
            <pc:docMk/>
            <pc:sldMk cId="0" sldId="315"/>
            <ac:spMk id="5" creationId="{00000000-0000-0000-0000-000000000000}"/>
          </ac:spMkLst>
        </pc:spChg>
      </pc:sldChg>
      <pc:sldChg chg="modSp mod delCm modCm">
        <pc:chgData name="Anna Bolen -X (abolen - UNICON INC at Cisco)" userId="8fcf5b57-97b6-40ce-9683-275924855fa8" providerId="ADAL" clId="{4BCEB66D-BD7E-499F-BB18-72E5B2B2E67C}" dt="2022-10-31T18:29:11.269" v="47" actId="962"/>
        <pc:sldMkLst>
          <pc:docMk/>
          <pc:sldMk cId="0" sldId="324"/>
        </pc:sldMkLst>
        <pc:picChg chg="mod">
          <ac:chgData name="Anna Bolen -X (abolen - UNICON INC at Cisco)" userId="8fcf5b57-97b6-40ce-9683-275924855fa8" providerId="ADAL" clId="{4BCEB66D-BD7E-499F-BB18-72E5B2B2E67C}" dt="2022-10-31T18:29:11.269" v="47" actId="962"/>
          <ac:picMkLst>
            <pc:docMk/>
            <pc:sldMk cId="0" sldId="324"/>
            <ac:picMk id="4" creationId="{7B78AB73-EC0B-5A1D-0A56-4B2245E7BF45}"/>
          </ac:picMkLst>
        </pc:picChg>
      </pc:sldChg>
      <pc:sldChg chg="modSp mod">
        <pc:chgData name="Anna Bolen -X (abolen - UNICON INC at Cisco)" userId="8fcf5b57-97b6-40ce-9683-275924855fa8" providerId="ADAL" clId="{4BCEB66D-BD7E-499F-BB18-72E5B2B2E67C}" dt="2022-10-31T18:29:47.827" v="48" actId="962"/>
        <pc:sldMkLst>
          <pc:docMk/>
          <pc:sldMk cId="0" sldId="330"/>
        </pc:sldMkLst>
        <pc:picChg chg="mod">
          <ac:chgData name="Anna Bolen -X (abolen - UNICON INC at Cisco)" userId="8fcf5b57-97b6-40ce-9683-275924855fa8" providerId="ADAL" clId="{4BCEB66D-BD7E-499F-BB18-72E5B2B2E67C}" dt="2022-10-31T18:29:47.827" v="48" actId="962"/>
          <ac:picMkLst>
            <pc:docMk/>
            <pc:sldMk cId="0" sldId="330"/>
            <ac:picMk id="4" creationId="{C1EB3FEE-BE7E-F3A3-909E-B8B5DD2DDB0A}"/>
          </ac:picMkLst>
        </pc:picChg>
      </pc:sldChg>
      <pc:sldChg chg="modSp mod delCm modCm">
        <pc:chgData name="Anna Bolen -X (abolen - UNICON INC at Cisco)" userId="8fcf5b57-97b6-40ce-9683-275924855fa8" providerId="ADAL" clId="{4BCEB66D-BD7E-499F-BB18-72E5B2B2E67C}" dt="2022-10-31T18:30:03.194" v="50" actId="13244"/>
        <pc:sldMkLst>
          <pc:docMk/>
          <pc:sldMk cId="0" sldId="331"/>
        </pc:sldMkLst>
        <pc:spChg chg="ord">
          <ac:chgData name="Anna Bolen -X (abolen - UNICON INC at Cisco)" userId="8fcf5b57-97b6-40ce-9683-275924855fa8" providerId="ADAL" clId="{4BCEB66D-BD7E-499F-BB18-72E5B2B2E67C}" dt="2022-10-31T18:30:03.194" v="50" actId="13244"/>
          <ac:spMkLst>
            <pc:docMk/>
            <pc:sldMk cId="0" sldId="331"/>
            <ac:spMk id="25" creationId="{00000000-0000-0000-0000-000000000000}"/>
          </ac:spMkLst>
        </pc:spChg>
      </pc:sldChg>
      <pc:sldChg chg="modSp mod delCm modCm">
        <pc:chgData name="Anna Bolen -X (abolen - UNICON INC at Cisco)" userId="8fcf5b57-97b6-40ce-9683-275924855fa8" providerId="ADAL" clId="{4BCEB66D-BD7E-499F-BB18-72E5B2B2E67C}" dt="2022-10-31T18:30:44.290" v="53" actId="1076"/>
        <pc:sldMkLst>
          <pc:docMk/>
          <pc:sldMk cId="0" sldId="335"/>
        </pc:sldMkLst>
        <pc:spChg chg="mod">
          <ac:chgData name="Anna Bolen -X (abolen - UNICON INC at Cisco)" userId="8fcf5b57-97b6-40ce-9683-275924855fa8" providerId="ADAL" clId="{4BCEB66D-BD7E-499F-BB18-72E5B2B2E67C}" dt="2022-10-31T18:30:44.290" v="53" actId="1076"/>
          <ac:spMkLst>
            <pc:docMk/>
            <pc:sldMk cId="0" sldId="335"/>
            <ac:spMk id="25" creationId="{00000000-0000-0000-0000-000000000000}"/>
          </ac:spMkLst>
        </pc:spChg>
        <pc:graphicFrameChg chg="ord">
          <ac:chgData name="Anna Bolen -X (abolen - UNICON INC at Cisco)" userId="8fcf5b57-97b6-40ce-9683-275924855fa8" providerId="ADAL" clId="{4BCEB66D-BD7E-499F-BB18-72E5B2B2E67C}" dt="2022-10-31T18:30:37.910" v="52" actId="13244"/>
          <ac:graphicFrameMkLst>
            <pc:docMk/>
            <pc:sldMk cId="0" sldId="335"/>
            <ac:graphicFrameMk id="4" creationId="{460AF8B0-7442-166E-37B5-8D2F188719A4}"/>
          </ac:graphicFrameMkLst>
        </pc:graphicFrameChg>
      </pc:sldChg>
      <pc:sldChg chg="modSp mod delCm modCm">
        <pc:chgData name="Anna Bolen -X (abolen - UNICON INC at Cisco)" userId="8fcf5b57-97b6-40ce-9683-275924855fa8" providerId="ADAL" clId="{4BCEB66D-BD7E-499F-BB18-72E5B2B2E67C}" dt="2022-10-31T18:32:23.074" v="58" actId="13244"/>
        <pc:sldMkLst>
          <pc:docMk/>
          <pc:sldMk cId="0" sldId="345"/>
        </pc:sldMkLst>
        <pc:spChg chg="mod">
          <ac:chgData name="Anna Bolen -X (abolen - UNICON INC at Cisco)" userId="8fcf5b57-97b6-40ce-9683-275924855fa8" providerId="ADAL" clId="{4BCEB66D-BD7E-499F-BB18-72E5B2B2E67C}" dt="2022-10-31T18:32:17.317" v="57" actId="14100"/>
          <ac:spMkLst>
            <pc:docMk/>
            <pc:sldMk cId="0" sldId="345"/>
            <ac:spMk id="3" creationId="{00000000-0000-0000-0000-000000000000}"/>
          </ac:spMkLst>
        </pc:spChg>
        <pc:graphicFrameChg chg="ord">
          <ac:chgData name="Anna Bolen -X (abolen - UNICON INC at Cisco)" userId="8fcf5b57-97b6-40ce-9683-275924855fa8" providerId="ADAL" clId="{4BCEB66D-BD7E-499F-BB18-72E5B2B2E67C}" dt="2022-10-31T18:32:23.074" v="58" actId="13244"/>
          <ac:graphicFrameMkLst>
            <pc:docMk/>
            <pc:sldMk cId="0" sldId="345"/>
            <ac:graphicFrameMk id="4" creationId="{630B8932-C97C-92F0-B030-438BD2F40694}"/>
          </ac:graphicFrameMkLst>
        </pc:graphicFrameChg>
      </pc:sldChg>
      <pc:sldChg chg="modSp mod">
        <pc:chgData name="Anna Bolen -X (abolen - UNICON INC at Cisco)" userId="8fcf5b57-97b6-40ce-9683-275924855fa8" providerId="ADAL" clId="{4BCEB66D-BD7E-499F-BB18-72E5B2B2E67C}" dt="2022-10-31T18:32:42.073" v="59" actId="14100"/>
        <pc:sldMkLst>
          <pc:docMk/>
          <pc:sldMk cId="0" sldId="348"/>
        </pc:sldMkLst>
        <pc:spChg chg="mod">
          <ac:chgData name="Anna Bolen -X (abolen - UNICON INC at Cisco)" userId="8fcf5b57-97b6-40ce-9683-275924855fa8" providerId="ADAL" clId="{4BCEB66D-BD7E-499F-BB18-72E5B2B2E67C}" dt="2022-10-31T18:32:42.073" v="59" actId="14100"/>
          <ac:spMkLst>
            <pc:docMk/>
            <pc:sldMk cId="0" sldId="348"/>
            <ac:spMk id="5" creationId="{00000000-0000-0000-0000-000000000000}"/>
          </ac:spMkLst>
        </pc:spChg>
      </pc:sldChg>
      <pc:sldChg chg="mod modShow">
        <pc:chgData name="Anna Bolen -X (abolen - UNICON INC at Cisco)" userId="8fcf5b57-97b6-40ce-9683-275924855fa8" providerId="ADAL" clId="{4BCEB66D-BD7E-499F-BB18-72E5B2B2E67C}" dt="2022-11-07T17:39:20.656" v="83" actId="729"/>
        <pc:sldMkLst>
          <pc:docMk/>
          <pc:sldMk cId="2226954716" sldId="1072"/>
        </pc:sldMkLst>
      </pc:sldChg>
      <pc:sldChg chg="mod modShow">
        <pc:chgData name="Anna Bolen -X (abolen - UNICON INC at Cisco)" userId="8fcf5b57-97b6-40ce-9683-275924855fa8" providerId="ADAL" clId="{4BCEB66D-BD7E-499F-BB18-72E5B2B2E67C}" dt="2022-11-07T17:39:34.257" v="86" actId="729"/>
        <pc:sldMkLst>
          <pc:docMk/>
          <pc:sldMk cId="3094066351" sldId="1073"/>
        </pc:sldMkLst>
      </pc:sldChg>
      <pc:sldChg chg="modSp mod delCm modCm">
        <pc:chgData name="Anna Bolen -X (abolen - UNICON INC at Cisco)" userId="8fcf5b57-97b6-40ce-9683-275924855fa8" providerId="ADAL" clId="{4BCEB66D-BD7E-499F-BB18-72E5B2B2E67C}" dt="2022-10-31T18:30:58.929" v="55" actId="13244"/>
        <pc:sldMkLst>
          <pc:docMk/>
          <pc:sldMk cId="3365793542" sldId="1077"/>
        </pc:sldMkLst>
        <pc:graphicFrameChg chg="ord">
          <ac:chgData name="Anna Bolen -X (abolen - UNICON INC at Cisco)" userId="8fcf5b57-97b6-40ce-9683-275924855fa8" providerId="ADAL" clId="{4BCEB66D-BD7E-499F-BB18-72E5B2B2E67C}" dt="2022-10-31T18:30:58.929" v="55" actId="13244"/>
          <ac:graphicFrameMkLst>
            <pc:docMk/>
            <pc:sldMk cId="3365793542" sldId="1077"/>
            <ac:graphicFrameMk id="4" creationId="{F62E947E-804B-CEA8-92C1-EDD82B378492}"/>
          </ac:graphicFrameMkLst>
        </pc:graphicFrameChg>
      </pc:sldChg>
      <pc:sldChg chg="modSp mod modShow delCm">
        <pc:chgData name="Anna Bolen -X (abolen - UNICON INC at Cisco)" userId="8fcf5b57-97b6-40ce-9683-275924855fa8" providerId="ADAL" clId="{4BCEB66D-BD7E-499F-BB18-72E5B2B2E67C}" dt="2022-11-07T17:39:46.548" v="89" actId="729"/>
        <pc:sldMkLst>
          <pc:docMk/>
          <pc:sldMk cId="2669178660" sldId="1078"/>
        </pc:sldMkLst>
        <pc:spChg chg="mod">
          <ac:chgData name="Anna Bolen -X (abolen - UNICON INC at Cisco)" userId="8fcf5b57-97b6-40ce-9683-275924855fa8" providerId="ADAL" clId="{4BCEB66D-BD7E-499F-BB18-72E5B2B2E67C}" dt="2022-11-07T17:39:40.675" v="88" actId="5793"/>
          <ac:spMkLst>
            <pc:docMk/>
            <pc:sldMk cId="2669178660" sldId="1078"/>
            <ac:spMk id="3" creationId="{00000000-0000-0000-0000-000000000000}"/>
          </ac:spMkLst>
        </pc:spChg>
      </pc:sldChg>
      <pc:sldChg chg="modSp mod modShow delCm">
        <pc:chgData name="Anna Bolen -X (abolen - UNICON INC at Cisco)" userId="8fcf5b57-97b6-40ce-9683-275924855fa8" providerId="ADAL" clId="{4BCEB66D-BD7E-499F-BB18-72E5B2B2E67C}" dt="2022-11-07T17:39:51.859" v="90" actId="729"/>
        <pc:sldMkLst>
          <pc:docMk/>
          <pc:sldMk cId="4057206482" sldId="1079"/>
        </pc:sldMkLst>
        <pc:spChg chg="mod">
          <ac:chgData name="Anna Bolen -X (abolen - UNICON INC at Cisco)" userId="8fcf5b57-97b6-40ce-9683-275924855fa8" providerId="ADAL" clId="{4BCEB66D-BD7E-499F-BB18-72E5B2B2E67C}" dt="2022-11-01T17:54:41.331" v="62" actId="255"/>
          <ac:spMkLst>
            <pc:docMk/>
            <pc:sldMk cId="4057206482" sldId="1079"/>
            <ac:spMk id="3" creationId="{00000000-0000-0000-0000-000000000000}"/>
          </ac:spMkLst>
        </pc:spChg>
      </pc:sldChg>
      <pc:sldChg chg="modSp mod modShow delCm modCm">
        <pc:chgData name="Anna Bolen -X (abolen - UNICON INC at Cisco)" userId="8fcf5b57-97b6-40ce-9683-275924855fa8" providerId="ADAL" clId="{4BCEB66D-BD7E-499F-BB18-72E5B2B2E67C}" dt="2022-11-07T17:40:00.703" v="91" actId="729"/>
        <pc:sldMkLst>
          <pc:docMk/>
          <pc:sldMk cId="1332761462" sldId="1080"/>
        </pc:sldMkLst>
        <pc:spChg chg="mod">
          <ac:chgData name="Anna Bolen -X (abolen - UNICON INC at Cisco)" userId="8fcf5b57-97b6-40ce-9683-275924855fa8" providerId="ADAL" clId="{4BCEB66D-BD7E-499F-BB18-72E5B2B2E67C}" dt="2022-11-01T17:55:00.263" v="66" actId="20577"/>
          <ac:spMkLst>
            <pc:docMk/>
            <pc:sldMk cId="1332761462" sldId="1080"/>
            <ac:spMk id="3" creationId="{00000000-0000-0000-0000-000000000000}"/>
          </ac:spMkLst>
        </pc:spChg>
      </pc:sldChg>
      <pc:sldChg chg="modSp mod modShow delCm modCm">
        <pc:chgData name="Anna Bolen -X (abolen - UNICON INC at Cisco)" userId="8fcf5b57-97b6-40ce-9683-275924855fa8" providerId="ADAL" clId="{4BCEB66D-BD7E-499F-BB18-72E5B2B2E67C}" dt="2022-11-07T17:40:07.566" v="92" actId="729"/>
        <pc:sldMkLst>
          <pc:docMk/>
          <pc:sldMk cId="2497688516" sldId="1081"/>
        </pc:sldMkLst>
        <pc:spChg chg="mod">
          <ac:chgData name="Anna Bolen -X (abolen - UNICON INC at Cisco)" userId="8fcf5b57-97b6-40ce-9683-275924855fa8" providerId="ADAL" clId="{4BCEB66D-BD7E-499F-BB18-72E5B2B2E67C}" dt="2022-11-01T17:55:15.018" v="69" actId="20577"/>
          <ac:spMkLst>
            <pc:docMk/>
            <pc:sldMk cId="2497688516" sldId="1081"/>
            <ac:spMk id="3" creationId="{00000000-0000-0000-0000-000000000000}"/>
          </ac:spMkLst>
        </pc:spChg>
      </pc:sldChg>
    </pc:docChg>
  </pc:docChgLst>
  <pc:docChgLst>
    <pc:chgData name="Cláudia Naumann" userId="S::naumann_nce.ufrj.br#ext#@cisco.onmicrosoft.com::2c14c15b-0266-4182-83e5-84c7c06e2959" providerId="AD" clId="Web-{F8A3EED4-537B-3A07-0926-1EB10ED28BDE}"/>
    <pc:docChg chg="mod addSld modSld">
      <pc:chgData name="Cláudia Naumann" userId="S::naumann_nce.ufrj.br#ext#@cisco.onmicrosoft.com::2c14c15b-0266-4182-83e5-84c7c06e2959" providerId="AD" clId="Web-{F8A3EED4-537B-3A07-0926-1EB10ED28BDE}" dt="2022-10-27T18:14:20.357" v="1869"/>
      <pc:docMkLst>
        <pc:docMk/>
      </pc:docMkLst>
      <pc:sldChg chg="addSp modSp modCm">
        <pc:chgData name="Cláudia Naumann" userId="S::naumann_nce.ufrj.br#ext#@cisco.onmicrosoft.com::2c14c15b-0266-4182-83e5-84c7c06e2959" providerId="AD" clId="Web-{F8A3EED4-537B-3A07-0926-1EB10ED28BDE}" dt="2022-10-27T17:46:05.545" v="446"/>
        <pc:sldMkLst>
          <pc:docMk/>
          <pc:sldMk cId="0" sldId="306"/>
        </pc:sldMkLst>
        <pc:spChg chg="mod">
          <ac:chgData name="Cláudia Naumann" userId="S::naumann_nce.ufrj.br#ext#@cisco.onmicrosoft.com::2c14c15b-0266-4182-83e5-84c7c06e2959" providerId="AD" clId="Web-{F8A3EED4-537B-3A07-0926-1EB10ED28BDE}" dt="2022-10-27T17:45:19.808" v="441" actId="14100"/>
          <ac:spMkLst>
            <pc:docMk/>
            <pc:sldMk cId="0" sldId="306"/>
            <ac:spMk id="3" creationId="{00000000-0000-0000-0000-000000000000}"/>
          </ac:spMkLst>
        </pc:spChg>
        <pc:spChg chg="mod">
          <ac:chgData name="Cláudia Naumann" userId="S::naumann_nce.ufrj.br#ext#@cisco.onmicrosoft.com::2c14c15b-0266-4182-83e5-84c7c06e2959" providerId="AD" clId="Web-{F8A3EED4-537B-3A07-0926-1EB10ED28BDE}" dt="2022-10-27T17:45:23.714" v="442" actId="1076"/>
          <ac:spMkLst>
            <pc:docMk/>
            <pc:sldMk cId="0" sldId="306"/>
            <ac:spMk id="5" creationId="{00000000-0000-0000-0000-000000000000}"/>
          </ac:spMkLst>
        </pc:spChg>
        <pc:graphicFrameChg chg="add mod modGraphic">
          <ac:chgData name="Cláudia Naumann" userId="S::naumann_nce.ufrj.br#ext#@cisco.onmicrosoft.com::2c14c15b-0266-4182-83e5-84c7c06e2959" providerId="AD" clId="Web-{F8A3EED4-537B-3A07-0926-1EB10ED28BDE}" dt="2022-10-27T17:45:44.466" v="445"/>
          <ac:graphicFrameMkLst>
            <pc:docMk/>
            <pc:sldMk cId="0" sldId="306"/>
            <ac:graphicFrameMk id="4" creationId="{A2D1D426-BDA1-D470-1D58-A26B34CA3EA8}"/>
          </ac:graphicFrameMkLst>
        </pc:graphicFrameChg>
      </pc:sldChg>
      <pc:sldChg chg="modCm">
        <pc:chgData name="Cláudia Naumann" userId="S::naumann_nce.ufrj.br#ext#@cisco.onmicrosoft.com::2c14c15b-0266-4182-83e5-84c7c06e2959" providerId="AD" clId="Web-{F8A3EED4-537B-3A07-0926-1EB10ED28BDE}" dt="2022-10-27T17:35:47.802" v="1"/>
        <pc:sldMkLst>
          <pc:docMk/>
          <pc:sldMk cId="0" sldId="307"/>
        </pc:sldMkLst>
      </pc:sldChg>
      <pc:sldChg chg="modCm">
        <pc:chgData name="Cláudia Naumann" userId="S::naumann_nce.ufrj.br#ext#@cisco.onmicrosoft.com::2c14c15b-0266-4182-83e5-84c7c06e2959" providerId="AD" clId="Web-{F8A3EED4-537B-3A07-0926-1EB10ED28BDE}" dt="2022-10-27T17:46:37.985" v="447"/>
        <pc:sldMkLst>
          <pc:docMk/>
          <pc:sldMk cId="0" sldId="324"/>
        </pc:sldMkLst>
      </pc:sldChg>
      <pc:sldChg chg="addSp modSp modCm">
        <pc:chgData name="Cláudia Naumann" userId="S::naumann_nce.ufrj.br#ext#@cisco.onmicrosoft.com::2c14c15b-0266-4182-83e5-84c7c06e2959" providerId="AD" clId="Web-{F8A3EED4-537B-3A07-0926-1EB10ED28BDE}" dt="2022-10-27T17:54:32.781" v="825"/>
        <pc:sldMkLst>
          <pc:docMk/>
          <pc:sldMk cId="0" sldId="331"/>
        </pc:sldMkLst>
        <pc:spChg chg="mod">
          <ac:chgData name="Cláudia Naumann" userId="S::naumann_nce.ufrj.br#ext#@cisco.onmicrosoft.com::2c14c15b-0266-4182-83e5-84c7c06e2959" providerId="AD" clId="Web-{F8A3EED4-537B-3A07-0926-1EB10ED28BDE}" dt="2022-10-27T17:48:23.538" v="578" actId="14100"/>
          <ac:spMkLst>
            <pc:docMk/>
            <pc:sldMk cId="0" sldId="331"/>
            <ac:spMk id="5" creationId="{00000000-0000-0000-0000-000000000000}"/>
          </ac:spMkLst>
        </pc:spChg>
        <pc:graphicFrameChg chg="add mod modGraphic">
          <ac:chgData name="Cláudia Naumann" userId="S::naumann_nce.ufrj.br#ext#@cisco.onmicrosoft.com::2c14c15b-0266-4182-83e5-84c7c06e2959" providerId="AD" clId="Web-{F8A3EED4-537B-3A07-0926-1EB10ED28BDE}" dt="2022-10-27T17:54:22.171" v="824" actId="1076"/>
          <ac:graphicFrameMkLst>
            <pc:docMk/>
            <pc:sldMk cId="0" sldId="331"/>
            <ac:graphicFrameMk id="4" creationId="{A568003C-B199-B91B-BFE6-7658F8EE6858}"/>
          </ac:graphicFrameMkLst>
        </pc:graphicFrameChg>
      </pc:sldChg>
      <pc:sldChg chg="addSp modSp modCm">
        <pc:chgData name="Cláudia Naumann" userId="S::naumann_nce.ufrj.br#ext#@cisco.onmicrosoft.com::2c14c15b-0266-4182-83e5-84c7c06e2959" providerId="AD" clId="Web-{F8A3EED4-537B-3A07-0926-1EB10ED28BDE}" dt="2022-10-27T18:01:51.825" v="1193"/>
        <pc:sldMkLst>
          <pc:docMk/>
          <pc:sldMk cId="0" sldId="335"/>
        </pc:sldMkLst>
        <pc:spChg chg="mod">
          <ac:chgData name="Cláudia Naumann" userId="S::naumann_nce.ufrj.br#ext#@cisco.onmicrosoft.com::2c14c15b-0266-4182-83e5-84c7c06e2959" providerId="AD" clId="Web-{F8A3EED4-537B-3A07-0926-1EB10ED28BDE}" dt="2022-10-27T17:57:51.091" v="996" actId="14100"/>
          <ac:spMkLst>
            <pc:docMk/>
            <pc:sldMk cId="0" sldId="335"/>
            <ac:spMk id="3" creationId="{00000000-0000-0000-0000-000000000000}"/>
          </ac:spMkLst>
        </pc:spChg>
        <pc:spChg chg="mod">
          <ac:chgData name="Cláudia Naumann" userId="S::naumann_nce.ufrj.br#ext#@cisco.onmicrosoft.com::2c14c15b-0266-4182-83e5-84c7c06e2959" providerId="AD" clId="Web-{F8A3EED4-537B-3A07-0926-1EB10ED28BDE}" dt="2022-10-27T17:58:05.295" v="1000" actId="14100"/>
          <ac:spMkLst>
            <pc:docMk/>
            <pc:sldMk cId="0" sldId="335"/>
            <ac:spMk id="5" creationId="{00000000-0000-0000-0000-000000000000}"/>
          </ac:spMkLst>
        </pc:spChg>
        <pc:graphicFrameChg chg="add mod modGraphic">
          <ac:chgData name="Cláudia Naumann" userId="S::naumann_nce.ufrj.br#ext#@cisco.onmicrosoft.com::2c14c15b-0266-4182-83e5-84c7c06e2959" providerId="AD" clId="Web-{F8A3EED4-537B-3A07-0926-1EB10ED28BDE}" dt="2022-10-27T18:01:30.933" v="1192"/>
          <ac:graphicFrameMkLst>
            <pc:docMk/>
            <pc:sldMk cId="0" sldId="335"/>
            <ac:graphicFrameMk id="4" creationId="{460AF8B0-7442-166E-37B5-8D2F188719A4}"/>
          </ac:graphicFrameMkLst>
        </pc:graphicFrameChg>
      </pc:sldChg>
      <pc:sldChg chg="addSp modSp modCm">
        <pc:chgData name="Cláudia Naumann" userId="S::naumann_nce.ufrj.br#ext#@cisco.onmicrosoft.com::2c14c15b-0266-4182-83e5-84c7c06e2959" providerId="AD" clId="Web-{F8A3EED4-537B-3A07-0926-1EB10ED28BDE}" dt="2022-10-27T18:14:20.357" v="1869"/>
        <pc:sldMkLst>
          <pc:docMk/>
          <pc:sldMk cId="0" sldId="345"/>
        </pc:sldMkLst>
        <pc:spChg chg="mod">
          <ac:chgData name="Cláudia Naumann" userId="S::naumann_nce.ufrj.br#ext#@cisco.onmicrosoft.com::2c14c15b-0266-4182-83e5-84c7c06e2959" providerId="AD" clId="Web-{F8A3EED4-537B-3A07-0926-1EB10ED28BDE}" dt="2022-10-27T18:13:20.057" v="1863" actId="1076"/>
          <ac:spMkLst>
            <pc:docMk/>
            <pc:sldMk cId="0" sldId="345"/>
            <ac:spMk id="5" creationId="{00000000-0000-0000-0000-000000000000}"/>
          </ac:spMkLst>
        </pc:spChg>
        <pc:graphicFrameChg chg="add mod modGraphic">
          <ac:chgData name="Cláudia Naumann" userId="S::naumann_nce.ufrj.br#ext#@cisco.onmicrosoft.com::2c14c15b-0266-4182-83e5-84c7c06e2959" providerId="AD" clId="Web-{F8A3EED4-537B-3A07-0926-1EB10ED28BDE}" dt="2022-10-27T18:14:11.419" v="1868"/>
          <ac:graphicFrameMkLst>
            <pc:docMk/>
            <pc:sldMk cId="0" sldId="345"/>
            <ac:graphicFrameMk id="4" creationId="{630B8932-C97C-92F0-B030-438BD2F40694}"/>
          </ac:graphicFrameMkLst>
        </pc:graphicFrameChg>
      </pc:sldChg>
      <pc:sldChg chg="addSp delSp modSp add modCm modNotes">
        <pc:chgData name="Cláudia Naumann" userId="S::naumann_nce.ufrj.br#ext#@cisco.onmicrosoft.com::2c14c15b-0266-4182-83e5-84c7c06e2959" providerId="AD" clId="Web-{F8A3EED4-537B-3A07-0926-1EB10ED28BDE}" dt="2022-10-27T18:06:56.048" v="1492"/>
        <pc:sldMkLst>
          <pc:docMk/>
          <pc:sldMk cId="3365793542" sldId="1077"/>
        </pc:sldMkLst>
        <pc:spChg chg="mod">
          <ac:chgData name="Cláudia Naumann" userId="S::naumann_nce.ufrj.br#ext#@cisco.onmicrosoft.com::2c14c15b-0266-4182-83e5-84c7c06e2959" providerId="AD" clId="Web-{F8A3EED4-537B-3A07-0926-1EB10ED28BDE}" dt="2022-10-27T18:02:22.843" v="1202" actId="20577"/>
          <ac:spMkLst>
            <pc:docMk/>
            <pc:sldMk cId="3365793542" sldId="1077"/>
            <ac:spMk id="3" creationId="{00000000-0000-0000-0000-000000000000}"/>
          </ac:spMkLst>
        </pc:spChg>
        <pc:spChg chg="del mod">
          <ac:chgData name="Cláudia Naumann" userId="S::naumann_nce.ufrj.br#ext#@cisco.onmicrosoft.com::2c14c15b-0266-4182-83e5-84c7c06e2959" providerId="AD" clId="Web-{F8A3EED4-537B-3A07-0926-1EB10ED28BDE}" dt="2022-10-27T18:06:14.248" v="1488"/>
          <ac:spMkLst>
            <pc:docMk/>
            <pc:sldMk cId="3365793542" sldId="1077"/>
            <ac:spMk id="5" creationId="{00000000-0000-0000-0000-000000000000}"/>
          </ac:spMkLst>
        </pc:spChg>
        <pc:graphicFrameChg chg="add mod modGraphic">
          <ac:chgData name="Cláudia Naumann" userId="S::naumann_nce.ufrj.br#ext#@cisco.onmicrosoft.com::2c14c15b-0266-4182-83e5-84c7c06e2959" providerId="AD" clId="Web-{F8A3EED4-537B-3A07-0926-1EB10ED28BDE}" dt="2022-10-27T18:06:35.765" v="1491"/>
          <ac:graphicFrameMkLst>
            <pc:docMk/>
            <pc:sldMk cId="3365793542" sldId="1077"/>
            <ac:graphicFrameMk id="4" creationId="{F62E947E-804B-CEA8-92C1-EDD82B378492}"/>
          </ac:graphicFrameMkLst>
        </pc:graphicFrameChg>
      </pc:sldChg>
    </pc:docChg>
  </pc:docChgLst>
  <pc:docChgLst>
    <pc:chgData name="Anna Bolen -X (abolen - UNICON INC at Cisco)" userId="8fcf5b57-97b6-40ce-9683-275924855fa8" providerId="ADAL" clId="{16D83C60-8667-4C2D-A70B-E29A6C455F2C}"/>
    <pc:docChg chg="undo custSel modSld">
      <pc:chgData name="Anna Bolen -X (abolen - UNICON INC at Cisco)" userId="8fcf5b57-97b6-40ce-9683-275924855fa8" providerId="ADAL" clId="{16D83C60-8667-4C2D-A70B-E29A6C455F2C}" dt="2022-12-16T18:15:46.054" v="15" actId="729"/>
      <pc:docMkLst>
        <pc:docMk/>
      </pc:docMkLst>
      <pc:sldChg chg="mod modShow">
        <pc:chgData name="Anna Bolen -X (abolen - UNICON INC at Cisco)" userId="8fcf5b57-97b6-40ce-9683-275924855fa8" providerId="ADAL" clId="{16D83C60-8667-4C2D-A70B-E29A6C455F2C}" dt="2022-12-13T21:11:50.452" v="2" actId="729"/>
        <pc:sldMkLst>
          <pc:docMk/>
          <pc:sldMk cId="0" sldId="256"/>
        </pc:sldMkLst>
      </pc:sldChg>
      <pc:sldChg chg="modSp mod">
        <pc:chgData name="Anna Bolen -X (abolen - UNICON INC at Cisco)" userId="8fcf5b57-97b6-40ce-9683-275924855fa8" providerId="ADAL" clId="{16D83C60-8667-4C2D-A70B-E29A6C455F2C}" dt="2022-12-16T18:15:10.521" v="5" actId="20577"/>
        <pc:sldMkLst>
          <pc:docMk/>
          <pc:sldMk cId="0" sldId="257"/>
        </pc:sldMkLst>
        <pc:spChg chg="mod">
          <ac:chgData name="Anna Bolen -X (abolen - UNICON INC at Cisco)" userId="8fcf5b57-97b6-40ce-9683-275924855fa8" providerId="ADAL" clId="{16D83C60-8667-4C2D-A70B-E29A6C455F2C}" dt="2022-12-16T18:15:10.521" v="5" actId="20577"/>
          <ac:spMkLst>
            <pc:docMk/>
            <pc:sldMk cId="0" sldId="257"/>
            <ac:spMk id="3" creationId="{00000000-0000-0000-0000-000000000000}"/>
          </ac:spMkLst>
        </pc:spChg>
      </pc:sldChg>
      <pc:sldChg chg="modNotesTx">
        <pc:chgData name="Anna Bolen -X (abolen - UNICON INC at Cisco)" userId="8fcf5b57-97b6-40ce-9683-275924855fa8" providerId="ADAL" clId="{16D83C60-8667-4C2D-A70B-E29A6C455F2C}" dt="2022-12-01T17:49:37.074" v="1"/>
        <pc:sldMkLst>
          <pc:docMk/>
          <pc:sldMk cId="0" sldId="330"/>
        </pc:sldMkLst>
      </pc:sldChg>
      <pc:sldChg chg="modSp mod modShow">
        <pc:chgData name="Anna Bolen -X (abolen - UNICON INC at Cisco)" userId="8fcf5b57-97b6-40ce-9683-275924855fa8" providerId="ADAL" clId="{16D83C60-8667-4C2D-A70B-E29A6C455F2C}" dt="2022-12-16T18:15:46.054" v="15" actId="729"/>
        <pc:sldMkLst>
          <pc:docMk/>
          <pc:sldMk cId="0" sldId="348"/>
        </pc:sldMkLst>
        <pc:spChg chg="mod">
          <ac:chgData name="Anna Bolen -X (abolen - UNICON INC at Cisco)" userId="8fcf5b57-97b6-40ce-9683-275924855fa8" providerId="ADAL" clId="{16D83C60-8667-4C2D-A70B-E29A6C455F2C}" dt="2022-12-16T18:15:34.410" v="13" actId="20577"/>
          <ac:spMkLst>
            <pc:docMk/>
            <pc:sldMk cId="0" sldId="348"/>
            <ac:spMk id="2" creationId="{00000000-0000-0000-0000-000000000000}"/>
          </ac:spMkLst>
        </pc:spChg>
        <pc:spChg chg="mod">
          <ac:chgData name="Anna Bolen -X (abolen - UNICON INC at Cisco)" userId="8fcf5b57-97b6-40ce-9683-275924855fa8" providerId="ADAL" clId="{16D83C60-8667-4C2D-A70B-E29A6C455F2C}" dt="2022-12-16T18:15:40.912" v="14" actId="20577"/>
          <ac:spMkLst>
            <pc:docMk/>
            <pc:sldMk cId="0" sldId="348"/>
            <ac:spMk id="3" creationId="{00000000-0000-0000-0000-000000000000}"/>
          </ac:spMkLst>
        </pc:spChg>
      </pc:sldChg>
    </pc:docChg>
  </pc:docChgLst>
  <pc:docChgLst>
    <pc:chgData name="Cláudia Naumann" userId="S::naumann_nce.ufrj.br#ext#@cisco.onmicrosoft.com::2c14c15b-0266-4182-83e5-84c7c06e2959" providerId="AD" clId="Web-{43774B1B-2DCE-0E57-2B69-C87762CF3EE5}"/>
    <pc:docChg chg="addSld delSld modSld">
      <pc:chgData name="Cláudia Naumann" userId="S::naumann_nce.ufrj.br#ext#@cisco.onmicrosoft.com::2c14c15b-0266-4182-83e5-84c7c06e2959" providerId="AD" clId="Web-{43774B1B-2DCE-0E57-2B69-C87762CF3EE5}" dt="2022-11-01T17:17:38.121" v="1786" actId="20577"/>
      <pc:docMkLst>
        <pc:docMk/>
      </pc:docMkLst>
      <pc:sldChg chg="modSp">
        <pc:chgData name="Cláudia Naumann" userId="S::naumann_nce.ufrj.br#ext#@cisco.onmicrosoft.com::2c14c15b-0266-4182-83e5-84c7c06e2959" providerId="AD" clId="Web-{43774B1B-2DCE-0E57-2B69-C87762CF3EE5}" dt="2022-11-01T17:17:38.121" v="1786" actId="20577"/>
        <pc:sldMkLst>
          <pc:docMk/>
          <pc:sldMk cId="0" sldId="257"/>
        </pc:sldMkLst>
        <pc:spChg chg="mod">
          <ac:chgData name="Cláudia Naumann" userId="S::naumann_nce.ufrj.br#ext#@cisco.onmicrosoft.com::2c14c15b-0266-4182-83e5-84c7c06e2959" providerId="AD" clId="Web-{43774B1B-2DCE-0E57-2B69-C87762CF3EE5}" dt="2022-11-01T17:17:38.121" v="1786" actId="20577"/>
          <ac:spMkLst>
            <pc:docMk/>
            <pc:sldMk cId="0" sldId="257"/>
            <ac:spMk id="3" creationId="{00000000-0000-0000-0000-000000000000}"/>
          </ac:spMkLst>
        </pc:spChg>
      </pc:sldChg>
      <pc:sldChg chg="modSp del modCm">
        <pc:chgData name="Cláudia Naumann" userId="S::naumann_nce.ufrj.br#ext#@cisco.onmicrosoft.com::2c14c15b-0266-4182-83e5-84c7c06e2959" providerId="AD" clId="Web-{43774B1B-2DCE-0E57-2B69-C87762CF3EE5}" dt="2022-11-01T16:19:10.293" v="136"/>
        <pc:sldMkLst>
          <pc:docMk/>
          <pc:sldMk cId="0" sldId="261"/>
        </pc:sldMkLst>
        <pc:spChg chg="mod">
          <ac:chgData name="Cláudia Naumann" userId="S::naumann_nce.ufrj.br#ext#@cisco.onmicrosoft.com::2c14c15b-0266-4182-83e5-84c7c06e2959" providerId="AD" clId="Web-{43774B1B-2DCE-0E57-2B69-C87762CF3EE5}" dt="2022-11-01T16:12:01.096" v="62" actId="14100"/>
          <ac:spMkLst>
            <pc:docMk/>
            <pc:sldMk cId="0" sldId="261"/>
            <ac:spMk id="3" creationId="{00000000-0000-0000-0000-000000000000}"/>
          </ac:spMkLst>
        </pc:spChg>
      </pc:sldChg>
      <pc:sldChg chg="modSp add modCm">
        <pc:chgData name="Cláudia Naumann" userId="S::naumann_nce.ufrj.br#ext#@cisco.onmicrosoft.com::2c14c15b-0266-4182-83e5-84c7c06e2959" providerId="AD" clId="Web-{43774B1B-2DCE-0E57-2B69-C87762CF3EE5}" dt="2022-11-01T16:20:34.842" v="218" actId="20577"/>
        <pc:sldMkLst>
          <pc:docMk/>
          <pc:sldMk cId="2669178660" sldId="1078"/>
        </pc:sldMkLst>
        <pc:spChg chg="mod">
          <ac:chgData name="Cláudia Naumann" userId="S::naumann_nce.ufrj.br#ext#@cisco.onmicrosoft.com::2c14c15b-0266-4182-83e5-84c7c06e2959" providerId="AD" clId="Web-{43774B1B-2DCE-0E57-2B69-C87762CF3EE5}" dt="2022-11-01T16:12:59.831" v="69" actId="20577"/>
          <ac:spMkLst>
            <pc:docMk/>
            <pc:sldMk cId="2669178660" sldId="1078"/>
            <ac:spMk id="2" creationId="{00000000-0000-0000-0000-000000000000}"/>
          </ac:spMkLst>
        </pc:spChg>
        <pc:spChg chg="mod">
          <ac:chgData name="Cláudia Naumann" userId="S::naumann_nce.ufrj.br#ext#@cisco.onmicrosoft.com::2c14c15b-0266-4182-83e5-84c7c06e2959" providerId="AD" clId="Web-{43774B1B-2DCE-0E57-2B69-C87762CF3EE5}" dt="2022-11-01T16:20:34.842" v="218" actId="20577"/>
          <ac:spMkLst>
            <pc:docMk/>
            <pc:sldMk cId="2669178660" sldId="1078"/>
            <ac:spMk id="3" creationId="{00000000-0000-0000-0000-000000000000}"/>
          </ac:spMkLst>
        </pc:spChg>
      </pc:sldChg>
      <pc:sldChg chg="modSp add modCm">
        <pc:chgData name="Cláudia Naumann" userId="S::naumann_nce.ufrj.br#ext#@cisco.onmicrosoft.com::2c14c15b-0266-4182-83e5-84c7c06e2959" providerId="AD" clId="Web-{43774B1B-2DCE-0E57-2B69-C87762CF3EE5}" dt="2022-11-01T16:36:42.207" v="718" actId="20577"/>
        <pc:sldMkLst>
          <pc:docMk/>
          <pc:sldMk cId="4057206482" sldId="1079"/>
        </pc:sldMkLst>
        <pc:spChg chg="mod">
          <ac:chgData name="Cláudia Naumann" userId="S::naumann_nce.ufrj.br#ext#@cisco.onmicrosoft.com::2c14c15b-0266-4182-83e5-84c7c06e2959" providerId="AD" clId="Web-{43774B1B-2DCE-0E57-2B69-C87762CF3EE5}" dt="2022-11-01T16:36:42.207" v="718" actId="20577"/>
          <ac:spMkLst>
            <pc:docMk/>
            <pc:sldMk cId="4057206482" sldId="1079"/>
            <ac:spMk id="2" creationId="{00000000-0000-0000-0000-000000000000}"/>
          </ac:spMkLst>
        </pc:spChg>
        <pc:spChg chg="mod">
          <ac:chgData name="Cláudia Naumann" userId="S::naumann_nce.ufrj.br#ext#@cisco.onmicrosoft.com::2c14c15b-0266-4182-83e5-84c7c06e2959" providerId="AD" clId="Web-{43774B1B-2DCE-0E57-2B69-C87762CF3EE5}" dt="2022-11-01T16:36:09.597" v="710" actId="20577"/>
          <ac:spMkLst>
            <pc:docMk/>
            <pc:sldMk cId="4057206482" sldId="1079"/>
            <ac:spMk id="3" creationId="{00000000-0000-0000-0000-000000000000}"/>
          </ac:spMkLst>
        </pc:spChg>
      </pc:sldChg>
      <pc:sldChg chg="modSp add modCm">
        <pc:chgData name="Cláudia Naumann" userId="S::naumann_nce.ufrj.br#ext#@cisco.onmicrosoft.com::2c14c15b-0266-4182-83e5-84c7c06e2959" providerId="AD" clId="Web-{43774B1B-2DCE-0E57-2B69-C87762CF3EE5}" dt="2022-11-01T16:57:30.235" v="1522" actId="20577"/>
        <pc:sldMkLst>
          <pc:docMk/>
          <pc:sldMk cId="1332761462" sldId="1080"/>
        </pc:sldMkLst>
        <pc:spChg chg="mod">
          <ac:chgData name="Cláudia Naumann" userId="S::naumann_nce.ufrj.br#ext#@cisco.onmicrosoft.com::2c14c15b-0266-4182-83e5-84c7c06e2959" providerId="AD" clId="Web-{43774B1B-2DCE-0E57-2B69-C87762CF3EE5}" dt="2022-11-01T16:37:14.255" v="724" actId="20577"/>
          <ac:spMkLst>
            <pc:docMk/>
            <pc:sldMk cId="1332761462" sldId="1080"/>
            <ac:spMk id="2" creationId="{00000000-0000-0000-0000-000000000000}"/>
          </ac:spMkLst>
        </pc:spChg>
        <pc:spChg chg="mod">
          <ac:chgData name="Cláudia Naumann" userId="S::naumann_nce.ufrj.br#ext#@cisco.onmicrosoft.com::2c14c15b-0266-4182-83e5-84c7c06e2959" providerId="AD" clId="Web-{43774B1B-2DCE-0E57-2B69-C87762CF3EE5}" dt="2022-11-01T16:57:30.235" v="1522" actId="20577"/>
          <ac:spMkLst>
            <pc:docMk/>
            <pc:sldMk cId="1332761462" sldId="1080"/>
            <ac:spMk id="3" creationId="{00000000-0000-0000-0000-000000000000}"/>
          </ac:spMkLst>
        </pc:spChg>
      </pc:sldChg>
      <pc:sldChg chg="modSp add modCm">
        <pc:chgData name="Cláudia Naumann" userId="S::naumann_nce.ufrj.br#ext#@cisco.onmicrosoft.com::2c14c15b-0266-4182-83e5-84c7c06e2959" providerId="AD" clId="Web-{43774B1B-2DCE-0E57-2B69-C87762CF3EE5}" dt="2022-11-01T17:07:24.951" v="1784" actId="20577"/>
        <pc:sldMkLst>
          <pc:docMk/>
          <pc:sldMk cId="2497688516" sldId="1081"/>
        </pc:sldMkLst>
        <pc:spChg chg="mod">
          <ac:chgData name="Cláudia Naumann" userId="S::naumann_nce.ufrj.br#ext#@cisco.onmicrosoft.com::2c14c15b-0266-4182-83e5-84c7c06e2959" providerId="AD" clId="Web-{43774B1B-2DCE-0E57-2B69-C87762CF3EE5}" dt="2022-11-01T17:07:24.951" v="1784" actId="20577"/>
          <ac:spMkLst>
            <pc:docMk/>
            <pc:sldMk cId="2497688516" sldId="1081"/>
            <ac:spMk id="3" creationId="{00000000-0000-0000-0000-000000000000}"/>
          </ac:spMkLst>
        </pc:spChg>
      </pc:sldChg>
    </pc:docChg>
  </pc:docChgLst>
  <pc:docChgLst>
    <pc:chgData name="Cláudia Naumann" userId="S::naumann_nce.ufrj.br#ext#@cisco.onmicrosoft.com::2c14c15b-0266-4182-83e5-84c7c06e2959" providerId="AD" clId="Web-{ABF86EF7-560A-3976-D18F-BF1AA834F5FC}"/>
    <pc:docChg chg="modSld">
      <pc:chgData name="Cláudia Naumann" userId="S::naumann_nce.ufrj.br#ext#@cisco.onmicrosoft.com::2c14c15b-0266-4182-83e5-84c7c06e2959" providerId="AD" clId="Web-{ABF86EF7-560A-3976-D18F-BF1AA834F5FC}" dt="2022-11-01T01:39:33.496" v="36" actId="1076"/>
      <pc:docMkLst>
        <pc:docMk/>
      </pc:docMkLst>
      <pc:sldChg chg="modSp modCm">
        <pc:chgData name="Cláudia Naumann" userId="S::naumann_nce.ufrj.br#ext#@cisco.onmicrosoft.com::2c14c15b-0266-4182-83e5-84c7c06e2959" providerId="AD" clId="Web-{ABF86EF7-560A-3976-D18F-BF1AA834F5FC}" dt="2022-11-01T01:39:33.496" v="36" actId="1076"/>
        <pc:sldMkLst>
          <pc:docMk/>
          <pc:sldMk cId="0" sldId="261"/>
        </pc:sldMkLst>
        <pc:spChg chg="mod">
          <ac:chgData name="Cláudia Naumann" userId="S::naumann_nce.ufrj.br#ext#@cisco.onmicrosoft.com::2c14c15b-0266-4182-83e5-84c7c06e2959" providerId="AD" clId="Web-{ABF86EF7-560A-3976-D18F-BF1AA834F5FC}" dt="2022-11-01T01:39:33.496" v="36" actId="1076"/>
          <ac:spMkLst>
            <pc:docMk/>
            <pc:sldMk cId="0" sldId="261"/>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935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Cybersecurity Essentials 3.0</a:t>
            </a:r>
            <a:r>
              <a:rPr lang="en-US" dirty="0"/>
              <a:t>
Module 1: Cybersecurity Threats, Vulnerabilities, and Attacks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573109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549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Cybersecurity Essentials 3.0
Module 1: Cybersecurity Threats, Vulnerabilities, and Attacks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3482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1.1.1: Threat Domains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1.1.2: Types of Cyber Threats</a:t>
            </a:r>
          </a:p>
          <a:p>
            <a:r>
              <a:rPr lang="en-US"/>
              <a:t>1.1.3: Avatar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1.1.4: Internal vs External Threats</a:t>
            </a:r>
          </a:p>
          <a:p>
            <a:r>
              <a:rPr lang="en-US"/>
              <a:t>1.1.5: Avatar</a:t>
            </a:r>
            <a:endParaRPr lang="en-US">
              <a:cs typeface="Calibri"/>
            </a:endParaRPr>
          </a:p>
          <a:p>
            <a:r>
              <a:rPr lang="en-US"/>
              <a:t>1.1.6: Activity - Know the Difference</a:t>
            </a:r>
            <a:endParaRPr lang="en-US">
              <a:cs typeface="Calibri"/>
            </a:endParaRPr>
          </a:p>
          <a:p>
            <a:r>
              <a:rPr lang="en-US"/>
              <a:t>1.1.7: Avatar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1.1.8: User Threats and Vulnerabilities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1.1.9: Threats to Devices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1.1.10: Threats to the Local Area Network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1.1.11: Threats to the Private Cloud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1.1.12: Threats to the Public Cloud</a:t>
            </a:r>
            <a:endParaRPr lang="pt-BR"/>
          </a:p>
          <a:p>
            <a:r>
              <a:rPr lang="en-US"/>
              <a:t>1.1.13: Avatar</a:t>
            </a:r>
            <a:endParaRPr lang="en-US">
              <a:cs typeface="Calibri"/>
            </a:endParaRPr>
          </a:p>
          <a:p>
            <a:r>
              <a:rPr lang="en-US"/>
              <a:t>1.1.14: Activity – What Do You Think?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1.1.15: Threats to Applications
1.1.16: Activity - Domain Checker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1.1.17: Threat Complexity</a:t>
            </a:r>
            <a:endParaRPr lang="pt-BR"/>
          </a:p>
          <a:p>
            <a:r>
              <a:rPr lang="en-US"/>
              <a:t>1.1.18: Avatar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1.1.19: Backdoors and Rootkits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1.1: Common Threats
1.1.20: Threat Intelligence and Research Sources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1.2: Deception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1.2: Deception
1.2.1: Social Engineering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Cybersecurity Threats, Vulnerabilities, and Attacks
1.2: Deception
1.2.2: Social Engineering Tactics</a:t>
            </a:r>
            <a:endParaRPr lang="pt-BR" dirty="0"/>
          </a:p>
          <a:p>
            <a:r>
              <a:rPr lang="en-US" dirty="0"/>
              <a:t>1.2.3: Avatar</a:t>
            </a:r>
            <a:endParaRPr lang="en-US" dirty="0">
              <a:cs typeface="Calibri"/>
            </a:endParaRPr>
          </a:p>
          <a:p>
            <a:r>
              <a:rPr lang="en-US" dirty="0"/>
              <a:t>1.2.4: Activity - Watch Out!</a:t>
            </a:r>
            <a:endParaRPr lang="en-US" dirty="0">
              <a:cs typeface="Calibri"/>
            </a:endParaRPr>
          </a:p>
          <a:p>
            <a:r>
              <a:rPr lang="en-US" dirty="0"/>
              <a:t>1.2.5: Avatar
</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1.2: Deception
1.2.6: Shoulder Surfing and Dumpster Diving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1.2: Deception
1.2.7: Impersonation and Hoaxes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1.2: Deception
1.2.8: Piggybacking and Tailgating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1.2: Deception
1.2.9: Other Methods of Deception</a:t>
            </a:r>
            <a:endParaRPr lang="pt-BR"/>
          </a:p>
          <a:p>
            <a:r>
              <a:rPr lang="en-US"/>
              <a:t>1.2.10: Activity - Spot the Attack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1.2: Deception
1.2.11: Defending Against Deception</a:t>
            </a:r>
            <a:endParaRPr lang="pt-BR"/>
          </a:p>
          <a:p>
            <a:r>
              <a:rPr lang="en-US"/>
              <a:t>1.2.12: Lab Video - Explore Social Engineering Techniques</a:t>
            </a:r>
            <a:br>
              <a:rPr lang="en-US">
                <a:cs typeface="+mn-lt"/>
              </a:rPr>
            </a:br>
            <a:endParaRPr lang="en-US"/>
          </a:p>
          <a:p>
            <a:r>
              <a:rPr lang="en-US"/>
              <a:t>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1.2: Deception
1.2.13: Lab - Explore Social Engineering Techniques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1.3: Cyber Attacks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1.3: Cyber Attacks
1.3.1: What's the Difference?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1.3: Cyber Attacks
1.3.2: Logic Bombs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1.3: Cyber Attacks
1.3.3: Ransomware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1.3: Cyber Attacks
1.3.4: Denial of Service Attacks</a:t>
            </a:r>
            <a:endParaRPr lang="pt-BR"/>
          </a:p>
          <a:p>
            <a:r>
              <a:rPr lang="en-US"/>
              <a:t>1.3.5 Avatar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1.3: Cyber Attacks
1.3.6: Domain Name System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1.3: Cyber Attacks
1.3.7: Layer 2 Attacks</a:t>
            </a:r>
            <a:endParaRPr lang="pt-BR"/>
          </a:p>
          <a:p>
            <a:r>
              <a:rPr lang="en-US"/>
              <a:t>1.3.8: </a:t>
            </a:r>
            <a:r>
              <a:rPr lang="en-US" dirty="0"/>
              <a:t>Activity - </a:t>
            </a:r>
            <a:r>
              <a:rPr lang="en-US"/>
              <a:t>Spot the Attack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1.3: Cyber Attacks
1.3.9: Man-in-the-Middle and Man-in-the-Mobile Attacks</a:t>
            </a:r>
          </a:p>
          <a:p>
            <a:r>
              <a:rPr lang="en-US"/>
              <a:t>1.3.10: Avatar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1.3: Cyber Attacks
1.3.11: Zero-Day Attacks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1.3: Cyber Attacks
1.3.12: Keyboard Logging</a:t>
            </a:r>
            <a:endParaRPr lang="pt-BR"/>
          </a:p>
          <a:p>
            <a:r>
              <a:rPr lang="en-US"/>
              <a:t>1.3.13: Avatar
1.3.14: Activity – Confirm your Details</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1.3: Cyber Attacks
1.3.15: Defending Against Attacks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1.4: Wireless and Mobile Device Attacks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1.4: Wireless and Mobile Device Attacks</a:t>
            </a:r>
            <a:endParaRPr lang="pt-BR"/>
          </a:p>
          <a:p>
            <a:r>
              <a:rPr lang="en-US"/>
              <a:t>1.4.1: Avatar
1.4.2: Grayware and Smishing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1.4: Wireless and Mobile Device Attacks
1.4.3: Rogue Access Points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1.4: Wireless and Mobile Device Attacks
1.4.4: Radio Frequency Jamming</a:t>
            </a:r>
            <a:endParaRPr lang="pt-BR"/>
          </a:p>
          <a:p>
            <a:r>
              <a:rPr lang="en-US"/>
              <a:t>1.4.5: Avatar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1.4: Wireless and Mobile Device Attacks
1.4.6: Bluejacking and Bluesnarfing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1.4: Wireless and Mobile Device Attacks
1.4.7: Attacks Against Wi-Fi Protocols</a:t>
            </a:r>
            <a:endParaRPr lang="pt-BR"/>
          </a:p>
          <a:p>
            <a:r>
              <a:rPr lang="en-US"/>
              <a:t>1.4.8: </a:t>
            </a:r>
            <a:r>
              <a:rPr lang="en-US" dirty="0"/>
              <a:t>Activity - </a:t>
            </a:r>
            <a:r>
              <a:rPr lang="en-US"/>
              <a:t>Risky Business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1.4: Wireless and Mobile Device Attacks
1.4.9: Wi-Fi and Mobile Defense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Cybersecurity Threats, Vulnerabilities, and Attacks
1.5: Application Attacks</a:t>
            </a:r>
            <a:endParaRPr lang="pt-BR" dirty="0"/>
          </a:p>
          <a:p>
            <a:r>
              <a:rPr lang="en-US" dirty="0"/>
              <a:t>
</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Cybersecurity Threats, Vulnerabilities, and Attacks
1.5: Application Attacks</a:t>
            </a:r>
          </a:p>
          <a:p>
            <a:r>
              <a:rPr lang="en-US" dirty="0"/>
              <a:t>1.5.1: Avatar
1.5.2: Cross-Site Scripting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1.5: Application Attacks
1.5.3: Code Injection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1.5: Application Attacks
1.5.4: Buffer Overflow</a:t>
            </a:r>
            <a:endParaRPr lang="pt-BR"/>
          </a:p>
          <a:p>
            <a:r>
              <a:rPr lang="en-US"/>
              <a:t>1.5.5: Avatar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1.5: Application Attacks
1.5.6: Remote Code Executions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1.5: Application Attacks
1.5.7: Other Application Attacks</a:t>
            </a:r>
            <a:endParaRPr lang="pt-BR"/>
          </a:p>
          <a:p>
            <a:r>
              <a:rPr lang="en-US"/>
              <a:t>1.5.8: Activity - What do You Think?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Cybersecurity Threats, Vulnerabilities, and Attacks
1.5: Application Attacks
1.5.7: Other Application Attacks (Cont.)</a:t>
            </a:r>
            <a:endParaRPr lang="pt-BR" dirty="0"/>
          </a:p>
          <a:p>
            <a:r>
              <a:rPr lang="en-US" dirty="0"/>
              <a:t>1.5.8: Activity - What do You Think?
</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1.5: Application Attacks
1.5.9: Defending Against Application Attacks</a:t>
            </a:r>
            <a:endParaRPr lang="pt-BR"/>
          </a:p>
          <a:p>
            <a:r>
              <a:rPr lang="en-US"/>
              <a:t>1.5.10: Avatar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1.5: Application Attacks
1.5.11: Spam
</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1.5: Application Attacks
1.5.11: Spam(Cont.)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40609986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1.5: Application Attacks
1.5.12: Phishing
</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1.5: Application Attacks
1.5.13: Vishing, Pharming and Whaling</a:t>
            </a:r>
            <a:endParaRPr lang="pt-BR"/>
          </a:p>
          <a:p>
            <a:r>
              <a:rPr lang="en-US"/>
              <a:t>1.5.14: Activity – Gone Phishing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1.5: Application Attacks
1.5.15: Defending Against Email and Browser Attacks</a:t>
            </a:r>
            <a:endParaRPr lang="pt-BR"/>
          </a:p>
          <a:p>
            <a:r>
              <a:rPr lang="en-US"/>
              <a:t>1.5.16: Avatar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1.5: Application Attacks
1.5.17: There's More...
</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1.6: Cybersecurity Threats, Vulnerabilities, and Attacks Summary
</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1.6: Cybersecurity Threats, Vulnerabilities, and Attacks Summary
1.6.1: What Did I Learn in this Module?
</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Cybersecurity Threats, Vulnerabilities, and Attacks
1.6: Cybersecurity Threats, Vulnerabilities, and Attacks Summary
1.6.2: Cybersecurity Threats, Vulnerabilities, and Attacks Quiz
</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a:solidFill>
                  <a:srgbClr val="AFE8FB"/>
                </a:solidFill>
                <a:latin typeface="Arial" pitchFamily="34" charset="0"/>
                <a:ea typeface="Arial" pitchFamily="34" charset="-122"/>
                <a:cs typeface="Arial" pitchFamily="34" charset="-120"/>
              </a:rPr>
              <a:t>(custom placeholder text!)</a:t>
            </a:r>
            <a:endParaRPr lang="en-US" sz="36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a:solidFill>
                  <a:srgbClr val="AFE8FB"/>
                </a:solidFill>
                <a:latin typeface="Arial" pitchFamily="34" charset="0"/>
                <a:ea typeface="Arial" pitchFamily="34" charset="-122"/>
                <a:cs typeface="Arial" pitchFamily="34" charset="-120"/>
              </a:rPr>
              <a:t>(custom placeholder text!)</a:t>
            </a:r>
            <a:endParaRPr lang="en-US" sz="42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a:solidFill>
                  <a:srgbClr val="B1E8FA"/>
                </a:solidFill>
                <a:latin typeface="Arial" pitchFamily="34" charset="0"/>
                <a:ea typeface="Arial" pitchFamily="34" charset="-122"/>
                <a:cs typeface="Arial" pitchFamily="34" charset="-120"/>
              </a:rPr>
              <a:t>(custom placeholder text!)</a:t>
            </a:r>
            <a:endParaRPr lang="en-US" sz="4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C:/Users/ahungerf/git/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a:solidFill>
                  <a:srgbClr val="024C69"/>
                </a:solidFill>
                <a:latin typeface="Arial" pitchFamily="34" charset="0"/>
                <a:ea typeface="Arial" pitchFamily="34" charset="-122"/>
                <a:cs typeface="Arial" pitchFamily="34" charset="-120"/>
              </a:rPr>
              <a:t>(custom placeholder text!)</a:t>
            </a:r>
            <a:endParaRPr lang="en-US" sz="2200"/>
          </a:p>
        </p:txBody>
      </p:sp>
      <p:sp>
        <p:nvSpPr>
          <p:cNvPr id="3" name="Text 0"/>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4"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5"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nchor="t"/>
          <a:lstStyle/>
          <a:p>
            <a:pPr marL="0" indent="0">
              <a:buNone/>
            </a:pPr>
            <a:r>
              <a:rPr lang="en-US" sz="3600">
                <a:solidFill>
                  <a:srgbClr val="AFE8FB"/>
                </a:solidFill>
                <a:latin typeface="Arial" pitchFamily="34" charset="0"/>
                <a:ea typeface="Arial" pitchFamily="34" charset="-122"/>
                <a:cs typeface="Arial" pitchFamily="34" charset="-120"/>
              </a:rPr>
              <a:t>Module 1: Cybersecurity Threats, Vulnerabilities, and Attacks</a:t>
            </a:r>
            <a:endParaRPr lang="en-US" sz="3600"/>
          </a:p>
        </p:txBody>
      </p:sp>
      <p:sp>
        <p:nvSpPr>
          <p:cNvPr id="3" name="Text 1"/>
          <p:cNvSpPr/>
          <p:nvPr/>
        </p:nvSpPr>
        <p:spPr>
          <a:xfrm>
            <a:off x="457200" y="3343275"/>
            <a:ext cx="3657600" cy="914400"/>
          </a:xfrm>
          <a:prstGeom prst="rect">
            <a:avLst/>
          </a:prstGeom>
          <a:noFill/>
          <a:ln/>
        </p:spPr>
        <p:txBody>
          <a:bodyPr wrap="square" rtlCol="0" anchor="t"/>
          <a:lstStyle/>
          <a:p>
            <a:r>
              <a:rPr lang="en-US" sz="2000">
                <a:solidFill>
                  <a:srgbClr val="CEE8C3"/>
                </a:solidFill>
                <a:latin typeface="Arial" pitchFamily="34" charset="0"/>
                <a:ea typeface="Arial" pitchFamily="34" charset="-122"/>
                <a:cs typeface="Arial" pitchFamily="34" charset="-120"/>
              </a:rPr>
              <a:t>Instructor Materials</a:t>
            </a:r>
            <a:endParaRPr lang="en-US" sz="2000"/>
          </a:p>
        </p:txBody>
      </p:sp>
      <p:sp>
        <p:nvSpPr>
          <p:cNvPr id="4"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Cybersecurity Essentials 3.0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Instructor Materials – Module 1 Planning Guide</a:t>
            </a:r>
            <a:endParaRPr lang="en-US" sz="2200"/>
          </a:p>
        </p:txBody>
      </p:sp>
      <p:sp>
        <p:nvSpPr>
          <p:cNvPr id="3" name="Text 1"/>
          <p:cNvSpPr/>
          <p:nvPr/>
        </p:nvSpPr>
        <p:spPr>
          <a:xfrm>
            <a:off x="9625" y="476449"/>
            <a:ext cx="8229600" cy="4453359"/>
          </a:xfrm>
          <a:prstGeom prst="rect">
            <a:avLst/>
          </a:prstGeom>
          <a:noFill/>
          <a:ln/>
        </p:spPr>
        <p:txBody>
          <a:bodyPr wrap="square" lIns="91440" tIns="45720" rIns="91440" bIns="45720" rtlCol="0" anchor="t"/>
          <a:lstStyle/>
          <a:p>
            <a:pPr defTabSz="684213" fontAlgn="base">
              <a:spcBef>
                <a:spcPts val="600"/>
              </a:spcBef>
              <a:spcAft>
                <a:spcPts val="600"/>
              </a:spcAft>
              <a:buClr>
                <a:srgbClr val="58585B"/>
              </a:buClr>
              <a:buSzPct val="90000"/>
              <a:defRPr/>
            </a:pPr>
            <a:r>
              <a:rPr lang="en-CA" sz="1500" dirty="0">
                <a:solidFill>
                  <a:srgbClr val="000000"/>
                </a:solidFill>
                <a:latin typeface="Arial"/>
                <a:ea typeface="ＭＳ Ｐゴシック"/>
                <a:cs typeface="Arial"/>
              </a:rPr>
              <a:t>This PowerPoint deck has two parts:</a:t>
            </a:r>
          </a:p>
          <a:p>
            <a:pPr marL="169545" marR="0" lvl="0" indent="-169545"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lang="en-US" sz="1500" dirty="0">
                <a:solidFill>
                  <a:srgbClr val="000000"/>
                </a:solidFill>
                <a:latin typeface="Arial"/>
                <a:ea typeface="ＭＳ Ｐゴシック"/>
                <a:cs typeface="Arial"/>
              </a:rPr>
              <a:t>Instructor Planning Guide</a:t>
            </a:r>
            <a:endParaRPr lang="en-CA" sz="1500" dirty="0">
              <a:solidFill>
                <a:srgbClr val="000000"/>
              </a:solidFill>
              <a:latin typeface="Arial"/>
              <a:ea typeface="ＭＳ Ｐゴシック"/>
              <a:cs typeface="Arial"/>
            </a:endParaRPr>
          </a:p>
          <a:p>
            <a:pPr marL="358775" lvl="1" indent="-215900" defTabSz="684213" fontAlgn="base">
              <a:spcBef>
                <a:spcPts val="300"/>
              </a:spcBef>
              <a:spcAft>
                <a:spcPts val="300"/>
              </a:spcAft>
              <a:buClr>
                <a:srgbClr val="58585B"/>
              </a:buClr>
              <a:buFont typeface="Arial" charset="0"/>
              <a:buChar char="•"/>
              <a:defRPr/>
            </a:pPr>
            <a:r>
              <a:rPr lang="en-CA" sz="1400" dirty="0">
                <a:solidFill>
                  <a:srgbClr val="000000"/>
                </a:solidFill>
                <a:latin typeface="Arial"/>
                <a:ea typeface="ＭＳ Ｐゴシック"/>
                <a:cs typeface="Arial"/>
              </a:rPr>
              <a:t>Information to help become familiar with the module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CA" sz="1400" dirty="0">
                <a:solidFill>
                  <a:srgbClr val="000000"/>
                </a:solidFill>
                <a:latin typeface="Arial"/>
                <a:ea typeface="ＭＳ Ｐゴシック"/>
                <a:cs typeface="Arial"/>
              </a:rPr>
              <a:t>Teaching aids</a:t>
            </a:r>
          </a:p>
          <a:p>
            <a:pPr marL="169545" marR="0" lvl="0" indent="-169545"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lang="en-CA" sz="1500" dirty="0">
                <a:solidFill>
                  <a:srgbClr val="000000"/>
                </a:solidFill>
                <a:latin typeface="Arial"/>
                <a:ea typeface="ＭＳ Ｐゴシック"/>
                <a:cs typeface="Arial"/>
              </a:rPr>
              <a:t>Instructor Class Presentation</a:t>
            </a:r>
          </a:p>
          <a:p>
            <a:pPr marL="358775" lvl="1" indent="-215900" defTabSz="684213" fontAlgn="base">
              <a:spcBef>
                <a:spcPts val="300"/>
              </a:spcBef>
              <a:spcAft>
                <a:spcPts val="300"/>
              </a:spcAft>
              <a:buClr>
                <a:srgbClr val="58585B"/>
              </a:buClr>
              <a:buFont typeface="Arial" charset="0"/>
              <a:buChar char="•"/>
              <a:defRPr/>
            </a:pPr>
            <a:r>
              <a:rPr lang="en-CA" sz="1400" dirty="0">
                <a:solidFill>
                  <a:srgbClr val="000000"/>
                </a:solidFill>
                <a:latin typeface="Arial"/>
                <a:ea typeface="ＭＳ Ｐゴシック"/>
                <a:cs typeface="Arial"/>
              </a:rPr>
              <a:t>Optional slides to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CA" sz="1400" dirty="0">
                <a:solidFill>
                  <a:srgbClr val="000000"/>
                </a:solidFill>
                <a:latin typeface="Arial"/>
                <a:ea typeface="ＭＳ Ｐゴシック"/>
                <a:cs typeface="Arial"/>
              </a:rPr>
              <a:t>Begins on slide # 12</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endParaRPr lang="en-CA" sz="1600" b="1" dirty="0">
              <a:solidFill>
                <a:srgbClr val="000000"/>
              </a:solidFill>
              <a:latin typeface="Arial" pitchFamily="34" charset="0"/>
              <a:ea typeface="ＭＳ Ｐゴシック"/>
              <a:cs typeface="Arial" pitchFamily="34" charset="-120"/>
            </a:endParaRPr>
          </a:p>
          <a:p>
            <a:pPr marL="142875" lvl="1" algn="ctr" defTabSz="684213" fontAlgn="base">
              <a:spcBef>
                <a:spcPts val="300"/>
              </a:spcBef>
              <a:spcAft>
                <a:spcPts val="300"/>
              </a:spcAft>
              <a:buClr>
                <a:srgbClr val="58585B"/>
              </a:buClr>
              <a:defRPr/>
            </a:pPr>
            <a:r>
              <a:rPr lang="en-CA" sz="1600" b="1" dirty="0">
                <a:solidFill>
                  <a:srgbClr val="000000"/>
                </a:solidFill>
                <a:latin typeface="Arial"/>
                <a:ea typeface="ＭＳ Ｐゴシック"/>
                <a:cs typeface="Arial"/>
              </a:rPr>
              <a:t>Note</a:t>
            </a:r>
            <a:r>
              <a:rPr lang="en-CA" sz="1600" dirty="0">
                <a:solidFill>
                  <a:srgbClr val="000000"/>
                </a:solidFill>
                <a:latin typeface="Arial"/>
                <a:ea typeface="ＭＳ Ｐゴシック"/>
                <a:cs typeface="Arial"/>
              </a:rPr>
              <a:t>: Remove the Planning Guide from this presentation before sharing it with anyone.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lang="en-US" sz="1600" b="1" dirty="0">
              <a:solidFill>
                <a:schemeClr val="accent1">
                  <a:lumMod val="75000"/>
                </a:schemeClr>
              </a:solidFill>
              <a:highlight>
                <a:srgbClr val="FFFF00"/>
              </a:highlight>
              <a:latin typeface="Arial" pitchFamily="34" charset="0"/>
              <a:ea typeface="ＭＳ Ｐゴシック"/>
              <a:cs typeface="Arial" pitchFamily="34" charset="-12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35814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What to Expect in this Module</a:t>
            </a:r>
            <a:endParaRPr lang="en-US" sz="2200"/>
          </a:p>
        </p:txBody>
      </p:sp>
      <p:sp>
        <p:nvSpPr>
          <p:cNvPr id="3" name="Text 1"/>
          <p:cNvSpPr/>
          <p:nvPr/>
        </p:nvSpPr>
        <p:spPr>
          <a:xfrm>
            <a:off x="0" y="457200"/>
            <a:ext cx="8229600" cy="358140"/>
          </a:xfrm>
          <a:prstGeom prst="rect">
            <a:avLst/>
          </a:prstGeom>
          <a:noFill/>
          <a:ln/>
        </p:spPr>
        <p:txBody>
          <a:bodyPr wrap="square" rtlCol="0" anchor="t"/>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a:ln>
                  <a:noFill/>
                </a:ln>
                <a:solidFill>
                  <a:srgbClr val="000000"/>
                </a:solidFill>
                <a:effectLst/>
                <a:uLnTx/>
                <a:uFillTx/>
                <a:latin typeface="Arial"/>
                <a:ea typeface="ＭＳ Ｐゴシック" charset="0"/>
              </a:rPr>
              <a:t>To facilitate learning, the following features within the UI may be included in this module:</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p:txBody>
      </p:sp>
      <p:graphicFrame>
        <p:nvGraphicFramePr>
          <p:cNvPr id="6" name="Table 5">
            <a:extLst>
              <a:ext uri="{FF2B5EF4-FFF2-40B4-BE49-F238E27FC236}">
                <a16:creationId xmlns:a16="http://schemas.microsoft.com/office/drawing/2014/main" id="{CEA739AB-83E7-3356-BA00-BC3B68876B93}"/>
              </a:ext>
            </a:extLst>
          </p:cNvPr>
          <p:cNvGraphicFramePr>
            <a:graphicFrameLocks noGrp="1"/>
          </p:cNvGraphicFramePr>
          <p:nvPr>
            <p:extLst>
              <p:ext uri="{D42A27DB-BD31-4B8C-83A1-F6EECF244321}">
                <p14:modId xmlns:p14="http://schemas.microsoft.com/office/powerpoint/2010/main" val="3543683872"/>
              </p:ext>
            </p:extLst>
          </p:nvPr>
        </p:nvGraphicFramePr>
        <p:xfrm>
          <a:off x="301658" y="1145310"/>
          <a:ext cx="8557528" cy="3393207"/>
        </p:xfrm>
        <a:graphic>
          <a:graphicData uri="http://schemas.openxmlformats.org/drawingml/2006/table">
            <a:tbl>
              <a:tblPr firstRow="1" bandRow="1">
                <a:tableStyleId>{5C22544A-7EE6-4342-B048-85BDC9FD1C3A}</a:tableStyleId>
              </a:tblPr>
              <a:tblGrid>
                <a:gridCol w="2223828">
                  <a:extLst>
                    <a:ext uri="{9D8B030D-6E8A-4147-A177-3AD203B41FA5}">
                      <a16:colId xmlns:a16="http://schemas.microsoft.com/office/drawing/2014/main" val="200107645"/>
                    </a:ext>
                  </a:extLst>
                </a:gridCol>
                <a:gridCol w="6333700">
                  <a:extLst>
                    <a:ext uri="{9D8B030D-6E8A-4147-A177-3AD203B41FA5}">
                      <a16:colId xmlns:a16="http://schemas.microsoft.com/office/drawing/2014/main" val="2648404099"/>
                    </a:ext>
                  </a:extLst>
                </a:gridCol>
              </a:tblGrid>
              <a:tr h="265091">
                <a:tc>
                  <a:txBody>
                    <a:bodyPr/>
                    <a:lstStyle/>
                    <a:p>
                      <a:pPr marL="0" algn="l" defTabSz="914400" rtl="0" eaLnBrk="1" latinLnBrk="0" hangingPunct="1"/>
                      <a:r>
                        <a:rPr lang="en-US" sz="1400" b="1" kern="1200" dirty="0">
                          <a:solidFill>
                            <a:schemeClr val="lt1"/>
                          </a:solidFill>
                          <a:latin typeface="Arial" panose="020B0604020202020204" pitchFamily="34" charset="0"/>
                          <a:ea typeface="+mn-ea"/>
                          <a:cs typeface="Arial" panose="020B0604020202020204" pitchFamily="34" charset="0"/>
                        </a:rPr>
                        <a:t>Feature</a:t>
                      </a:r>
                    </a:p>
                  </a:txBody>
                  <a:tcPr/>
                </a:tc>
                <a:tc>
                  <a:txBody>
                    <a:bodyPr/>
                    <a:lstStyle/>
                    <a:p>
                      <a:pPr marL="0" algn="l" defTabSz="914400" rtl="0" eaLnBrk="1" latinLnBrk="0" hangingPunct="1"/>
                      <a:r>
                        <a:rPr lang="en-US" sz="1400" b="1" kern="1200" dirty="0">
                          <a:solidFill>
                            <a:schemeClr val="lt1"/>
                          </a:solidFill>
                          <a:latin typeface="Arial" panose="020B0604020202020204" pitchFamily="34" charset="0"/>
                          <a:ea typeface="+mn-ea"/>
                          <a:cs typeface="Arial" panose="020B0604020202020204" pitchFamily="34" charset="0"/>
                        </a:rPr>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Avatar</a:t>
                      </a:r>
                    </a:p>
                  </a:txBody>
                  <a:tcPr marL="9525" marR="9525" marT="9525" marB="0" anchor="ctr"/>
                </a:tc>
                <a:tc>
                  <a:txBody>
                    <a:bodyPr/>
                    <a:lstStyle/>
                    <a:p>
                      <a:pPr marL="0" marR="0" lvl="0" indent="0" algn="l">
                        <a:lnSpc>
                          <a:spcPct val="100000"/>
                        </a:lnSpc>
                        <a:spcBef>
                          <a:spcPts val="0"/>
                        </a:spcBef>
                        <a:spcAft>
                          <a:spcPts val="0"/>
                        </a:spcAft>
                        <a:buNone/>
                      </a:pPr>
                      <a:r>
                        <a:rPr lang="en-US" sz="1400" b="0" i="0" u="none" strike="noStrike" noProof="0" dirty="0">
                          <a:latin typeface="Arial" panose="020B0604020202020204" pitchFamily="34" charset="0"/>
                          <a:cs typeface="Arial" panose="020B0604020202020204" pitchFamily="34" charset="0"/>
                        </a:rPr>
                        <a:t>A virtual character representing a subject matter expert adds contextual information to the students' skills and helps them connect the dots by asking open-reflection questions. </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78002380"/>
                  </a:ext>
                </a:extLst>
              </a:tr>
              <a:tr h="331556">
                <a:tc>
                  <a:txBody>
                    <a:body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Animations</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cs typeface="Arial" panose="020B0604020202020204" pitchFamily="34" charset="0"/>
                        </a:rPr>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Videos</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cs typeface="Arial" panose="020B0604020202020204" pitchFamily="34" charset="0"/>
                        </a:rPr>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Check Your Understanding</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Interactive Activities</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Syntax Checker</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Small simulations that expose learners to the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PT Activity</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35814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What to Expect in this Module (Cont.)</a:t>
            </a:r>
            <a:endParaRPr lang="en-US" sz="2200"/>
          </a:p>
        </p:txBody>
      </p:sp>
      <p:sp>
        <p:nvSpPr>
          <p:cNvPr id="3" name="Text 1"/>
          <p:cNvSpPr/>
          <p:nvPr/>
        </p:nvSpPr>
        <p:spPr>
          <a:xfrm>
            <a:off x="0" y="457200"/>
            <a:ext cx="8229600" cy="358140"/>
          </a:xfrm>
          <a:prstGeom prst="rect">
            <a:avLst/>
          </a:prstGeom>
          <a:noFill/>
          <a:ln/>
        </p:spPr>
        <p:txBody>
          <a:bodyPr wrap="square" rtlCol="0" anchor="t"/>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a:ln>
                  <a:noFill/>
                </a:ln>
                <a:solidFill>
                  <a:srgbClr val="000000"/>
                </a:solidFill>
                <a:effectLst/>
                <a:uLnTx/>
                <a:uFillTx/>
                <a:latin typeface="Arial"/>
                <a:ea typeface="ＭＳ Ｐゴシック" charset="0"/>
              </a:rPr>
              <a:t>To facilitate learning, the following features within the UI may be included in this module:</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74BDC3A2-25BF-088E-7180-9A2D59018DFF}"/>
              </a:ext>
            </a:extLst>
          </p:cNvPr>
          <p:cNvGraphicFramePr>
            <a:graphicFrameLocks/>
          </p:cNvGraphicFramePr>
          <p:nvPr>
            <p:extLst>
              <p:ext uri="{D42A27DB-BD31-4B8C-83A1-F6EECF244321}">
                <p14:modId xmlns:p14="http://schemas.microsoft.com/office/powerpoint/2010/main" val="2074107958"/>
              </p:ext>
            </p:extLst>
          </p:nvPr>
        </p:nvGraphicFramePr>
        <p:xfrm>
          <a:off x="375270" y="1139190"/>
          <a:ext cx="8311530" cy="1432560"/>
        </p:xfrm>
        <a:graphic>
          <a:graphicData uri="http://schemas.openxmlformats.org/drawingml/2006/table">
            <a:tbl>
              <a:tblPr firstRow="1" bandRow="1">
                <a:tableStyleId>{5C22544A-7EE6-4342-B048-85BDC9FD1C3A}</a:tableStyleId>
              </a:tblPr>
              <a:tblGrid>
                <a:gridCol w="2106366">
                  <a:extLst>
                    <a:ext uri="{9D8B030D-6E8A-4147-A177-3AD203B41FA5}">
                      <a16:colId xmlns:a16="http://schemas.microsoft.com/office/drawing/2014/main" val="3215831619"/>
                    </a:ext>
                  </a:extLst>
                </a:gridCol>
                <a:gridCol w="6205164">
                  <a:extLst>
                    <a:ext uri="{9D8B030D-6E8A-4147-A177-3AD203B41FA5}">
                      <a16:colId xmlns:a16="http://schemas.microsoft.com/office/drawing/2014/main" val="276475465"/>
                    </a:ext>
                  </a:extLst>
                </a:gridCol>
              </a:tblGrid>
              <a:tr h="265091">
                <a:tc>
                  <a:txBody>
                    <a:bodyPr/>
                    <a:lstStyle/>
                    <a:p>
                      <a:pPr algn="l" fontAlgn="b"/>
                      <a:r>
                        <a:rPr lang="en-US" sz="1400" b="1" i="0" u="none" strike="noStrike">
                          <a:solidFill>
                            <a:schemeClr val="bg1"/>
                          </a:solidFill>
                          <a:effectLst/>
                          <a:latin typeface="Arial" panose="020B0604020202020204" pitchFamily="34" charset="0"/>
                          <a:cs typeface="Arial" panose="020B0604020202020204" pitchFamily="34" charset="0"/>
                        </a:rPr>
                        <a:t>Feature</a:t>
                      </a:r>
                    </a:p>
                  </a:txBody>
                  <a:tcPr marL="9525" marR="9525" marT="9525" marB="0" anchor="b"/>
                </a:tc>
                <a:tc>
                  <a:txBody>
                    <a:bodyPr/>
                    <a:lstStyle/>
                    <a:p>
                      <a:r>
                        <a:rPr lang="en-US" sz="1400">
                          <a:latin typeface="Arial" panose="020B0604020202020204" pitchFamily="34" charset="0"/>
                          <a:cs typeface="Arial" panose="020B0604020202020204" pitchFamily="34" charset="0"/>
                        </a:rPr>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Hands-On Labs</a:t>
                      </a:r>
                    </a:p>
                  </a:txBody>
                  <a:tcPr marL="9525" marR="9525" marT="9525" marB="0" anchor="ctr"/>
                </a:tc>
                <a:tc>
                  <a:txBody>
                    <a:bodyPr/>
                    <a:lstStyle/>
                    <a:p>
                      <a:r>
                        <a:rPr lang="en-US" sz="1400">
                          <a:latin typeface="Arial" panose="020B0604020202020204" pitchFamily="34" charset="0"/>
                          <a:cs typeface="Arial" panose="020B0604020202020204" pitchFamily="34" charset="0"/>
                        </a:rPr>
                        <a:t>Labs designed for working with physical equipment.</a:t>
                      </a:r>
                    </a:p>
                  </a:txBody>
                  <a:tcPr/>
                </a:tc>
                <a:extLst>
                  <a:ext uri="{0D108BD9-81ED-4DB2-BD59-A6C34878D82A}">
                    <a16:rowId xmlns:a16="http://schemas.microsoft.com/office/drawing/2014/main" val="2258594367"/>
                  </a:ext>
                </a:extLst>
              </a:tr>
              <a:tr h="265091">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Module Quizzes</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Module Summary</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Briefly recaps module content.</a:t>
                      </a:r>
                    </a:p>
                  </a:txBody>
                  <a:tcPr/>
                </a:tc>
                <a:extLst>
                  <a:ext uri="{0D108BD9-81ED-4DB2-BD59-A6C34878D82A}">
                    <a16:rowId xmlns:a16="http://schemas.microsoft.com/office/drawing/2014/main" val="2267046280"/>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a:t>
            </a:fld>
            <a:endParaRPr lang="en-US"/>
          </a:p>
        </p:txBody>
      </p:sp>
    </p:spTree>
    <p:extLst>
      <p:ext uri="{BB962C8B-B14F-4D97-AF65-F5344CB8AC3E}">
        <p14:creationId xmlns:p14="http://schemas.microsoft.com/office/powerpoint/2010/main" val="2226954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1"/>
            <a:ext cx="9144000" cy="37538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Check Your Understanding</a:t>
            </a:r>
            <a:endParaRPr lang="en-US" sz="2200"/>
          </a:p>
        </p:txBody>
      </p:sp>
      <p:sp>
        <p:nvSpPr>
          <p:cNvPr id="4" name="Rectangle 34">
            <a:extLst>
              <a:ext uri="{FF2B5EF4-FFF2-40B4-BE49-F238E27FC236}">
                <a16:creationId xmlns:a16="http://schemas.microsoft.com/office/drawing/2014/main" id="{31E8D1AB-6919-3FF9-F586-59A9DEAF6AD3}"/>
              </a:ext>
            </a:extLst>
          </p:cNvPr>
          <p:cNvSpPr txBox="1">
            <a:spLocks noChangeArrowheads="1"/>
          </p:cNvSpPr>
          <p:nvPr/>
        </p:nvSpPr>
        <p:spPr>
          <a:xfrm>
            <a:off x="145357" y="965201"/>
            <a:ext cx="8878570" cy="2851425"/>
          </a:xfrm>
          <a:prstGeom prst="rect">
            <a:avLst/>
          </a:prstGeom>
        </p:spPr>
        <p:txBody>
          <a:bodyPr lIns="91440" tIns="45720" rIns="91440" bIns="45720" anchor="t"/>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panose="020B0604020202020204" pitchFamily="34" charset="0"/>
                <a:ea typeface="+mn-lt"/>
                <a:cs typeface="Arial" panose="020B0604020202020204" pitchFamily="34" charset="0"/>
              </a:rPr>
              <a:t>Check Your Understanding activities let students quickly determine if they understand the content and can proceed or if they need to review. </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Check Your Understanding activities do not affect student grades. </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There are no separate slides for these activities in the PPT; they are listed in the notes area of the slide that appears before these activities. </a:t>
            </a:r>
            <a:endParaRPr lang="en-US" sz="1400" dirty="0">
              <a:latin typeface="Arial" panose="020B0604020202020204" pitchFamily="34" charset="0"/>
              <a:cs typeface="Arial" panose="020B0604020202020204" pitchFamily="34" charset="0"/>
            </a:endParaRPr>
          </a:p>
          <a:p>
            <a:pPr>
              <a:spcBef>
                <a:spcPct val="30000"/>
              </a:spcBef>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Module 1: Activities</a:t>
            </a:r>
            <a:endParaRPr lang="en-US" sz="2200"/>
          </a:p>
        </p:txBody>
      </p:sp>
      <p:sp>
        <p:nvSpPr>
          <p:cNvPr id="5" name="Rectangle 34">
            <a:extLst>
              <a:ext uri="{FF2B5EF4-FFF2-40B4-BE49-F238E27FC236}">
                <a16:creationId xmlns:a16="http://schemas.microsoft.com/office/drawing/2014/main" id="{7188AF34-F17D-65FE-91B6-733B90851DC8}"/>
              </a:ext>
            </a:extLst>
          </p:cNvPr>
          <p:cNvSpPr txBox="1">
            <a:spLocks noChangeArrowheads="1"/>
          </p:cNvSpPr>
          <p:nvPr/>
        </p:nvSpPr>
        <p:spPr>
          <a:xfrm>
            <a:off x="136631" y="435393"/>
            <a:ext cx="8695135" cy="25592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30000"/>
              </a:spcBef>
              <a:buFont typeface="Arial" pitchFamily="34" charset="0"/>
              <a:buNone/>
            </a:pPr>
            <a:r>
              <a:rPr lang="en-US" sz="1400">
                <a:latin typeface="Arial" panose="020B0604020202020204" pitchFamily="34" charset="0"/>
                <a:cs typeface="Arial" panose="020B0604020202020204" pitchFamily="34" charset="0"/>
              </a:rPr>
              <a:t>What activities are associated with this module?</a:t>
            </a:r>
          </a:p>
        </p:txBody>
      </p:sp>
      <p:graphicFrame>
        <p:nvGraphicFramePr>
          <p:cNvPr id="4" name="Table 4">
            <a:extLst>
              <a:ext uri="{FF2B5EF4-FFF2-40B4-BE49-F238E27FC236}">
                <a16:creationId xmlns:a16="http://schemas.microsoft.com/office/drawing/2014/main" id="{40064EF4-EE2B-342C-EA9E-699582F380FF}"/>
              </a:ext>
            </a:extLst>
          </p:cNvPr>
          <p:cNvGraphicFramePr>
            <a:graphicFrameLocks noGrp="1"/>
          </p:cNvGraphicFramePr>
          <p:nvPr>
            <p:extLst>
              <p:ext uri="{D42A27DB-BD31-4B8C-83A1-F6EECF244321}">
                <p14:modId xmlns:p14="http://schemas.microsoft.com/office/powerpoint/2010/main" val="3806663307"/>
              </p:ext>
            </p:extLst>
          </p:nvPr>
        </p:nvGraphicFramePr>
        <p:xfrm>
          <a:off x="332072" y="774917"/>
          <a:ext cx="8479856" cy="3770630"/>
        </p:xfrm>
        <a:graphic>
          <a:graphicData uri="http://schemas.openxmlformats.org/drawingml/2006/table">
            <a:tbl>
              <a:tblPr firstRow="1" bandRow="1">
                <a:tableStyleId>{5C22544A-7EE6-4342-B048-85BDC9FD1C3A}</a:tableStyleId>
              </a:tblPr>
              <a:tblGrid>
                <a:gridCol w="1046785">
                  <a:extLst>
                    <a:ext uri="{9D8B030D-6E8A-4147-A177-3AD203B41FA5}">
                      <a16:colId xmlns:a16="http://schemas.microsoft.com/office/drawing/2014/main" val="314965042"/>
                    </a:ext>
                  </a:extLst>
                </a:gridCol>
                <a:gridCol w="1576099">
                  <a:extLst>
                    <a:ext uri="{9D8B030D-6E8A-4147-A177-3AD203B41FA5}">
                      <a16:colId xmlns:a16="http://schemas.microsoft.com/office/drawing/2014/main" val="1540795028"/>
                    </a:ext>
                  </a:extLst>
                </a:gridCol>
                <a:gridCol w="4158113">
                  <a:extLst>
                    <a:ext uri="{9D8B030D-6E8A-4147-A177-3AD203B41FA5}">
                      <a16:colId xmlns:a16="http://schemas.microsoft.com/office/drawing/2014/main" val="2968452238"/>
                    </a:ext>
                  </a:extLst>
                </a:gridCol>
                <a:gridCol w="1698859">
                  <a:extLst>
                    <a:ext uri="{9D8B030D-6E8A-4147-A177-3AD203B41FA5}">
                      <a16:colId xmlns:a16="http://schemas.microsoft.com/office/drawing/2014/main" val="286226043"/>
                    </a:ext>
                  </a:extLst>
                </a:gridCol>
              </a:tblGrid>
              <a:tr h="370840">
                <a:tc>
                  <a:txBody>
                    <a:bodyPr/>
                    <a:lstStyle/>
                    <a:p>
                      <a:pPr algn="ctr"/>
                      <a:r>
                        <a:rPr lang="en-US" sz="1400">
                          <a:latin typeface="Arial"/>
                          <a:cs typeface="Arial"/>
                        </a:rPr>
                        <a:t>Page #</a:t>
                      </a:r>
                    </a:p>
                  </a:txBody>
                  <a:tcPr/>
                </a:tc>
                <a:tc>
                  <a:txBody>
                    <a:bodyPr/>
                    <a:lstStyle/>
                    <a:p>
                      <a:pPr algn="ctr"/>
                      <a:r>
                        <a:rPr lang="en-US" sz="1400">
                          <a:latin typeface="Arial"/>
                          <a:cs typeface="Arial"/>
                        </a:rPr>
                        <a:t>Activity</a:t>
                      </a:r>
                    </a:p>
                  </a:txBody>
                  <a:tcPr/>
                </a:tc>
                <a:tc>
                  <a:txBody>
                    <a:bodyPr/>
                    <a:lstStyle/>
                    <a:p>
                      <a:pPr algn="ctr"/>
                      <a:r>
                        <a:rPr lang="en-US" sz="1400">
                          <a:latin typeface="Arial"/>
                          <a:cs typeface="Arial"/>
                        </a:rPr>
                        <a:t>Activity Name</a:t>
                      </a:r>
                    </a:p>
                  </a:txBody>
                  <a:tcPr/>
                </a:tc>
                <a:tc>
                  <a:txBody>
                    <a:bodyPr/>
                    <a:lstStyle/>
                    <a:p>
                      <a:pPr algn="ctr"/>
                      <a:r>
                        <a:rPr lang="en-US" sz="1400">
                          <a:latin typeface="Arial"/>
                          <a:cs typeface="Arial"/>
                        </a:rPr>
                        <a:t>Optional?</a:t>
                      </a:r>
                    </a:p>
                  </a:txBody>
                  <a:tcPr/>
                </a:tc>
                <a:extLst>
                  <a:ext uri="{0D108BD9-81ED-4DB2-BD59-A6C34878D82A}">
                    <a16:rowId xmlns:a16="http://schemas.microsoft.com/office/drawing/2014/main" val="317262977"/>
                  </a:ext>
                </a:extLst>
              </a:tr>
              <a:tr h="370840">
                <a:tc>
                  <a:txBody>
                    <a:bodyPr/>
                    <a:lstStyle/>
                    <a:p>
                      <a:pPr algn="ctr" fontAlgn="t"/>
                      <a:r>
                        <a:rPr lang="en-US" sz="1400" b="0" i="0" u="none" strike="noStrike">
                          <a:solidFill>
                            <a:srgbClr val="000000"/>
                          </a:solidFill>
                          <a:effectLst/>
                          <a:latin typeface="Arial"/>
                        </a:rPr>
                        <a:t>1.0.1</a:t>
                      </a:r>
                    </a:p>
                  </a:txBody>
                  <a:tcPr marL="6350" marR="6350" marT="6350" marB="0" anchor="ctr"/>
                </a:tc>
                <a:tc>
                  <a:txBody>
                    <a:bodyPr/>
                    <a:lstStyle/>
                    <a:p>
                      <a:pPr algn="l" fontAlgn="t"/>
                      <a:r>
                        <a:rPr lang="en-US" sz="1400" b="0" i="0" u="none" strike="noStrike">
                          <a:solidFill>
                            <a:srgbClr val="000000"/>
                          </a:solidFill>
                          <a:effectLst/>
                          <a:latin typeface="Arial"/>
                        </a:rPr>
                        <a:t>Video</a:t>
                      </a:r>
                    </a:p>
                  </a:txBody>
                  <a:tcPr marL="6350" marR="6350" marT="6350" marB="0" anchor="ctr"/>
                </a:tc>
                <a:tc>
                  <a:txBody>
                    <a:bodyPr/>
                    <a:lstStyle/>
                    <a:p>
                      <a:pPr algn="l" fontAlgn="t"/>
                      <a:r>
                        <a:rPr lang="en-US" sz="1400" b="0" i="0" u="none" strike="noStrike">
                          <a:solidFill>
                            <a:srgbClr val="000000"/>
                          </a:solidFill>
                          <a:effectLst/>
                          <a:latin typeface="Arial"/>
                        </a:rPr>
                        <a:t>Video - The Need for Cybersecurity</a:t>
                      </a:r>
                    </a:p>
                  </a:txBody>
                  <a:tcPr marL="6350" marR="6350" marT="6350" marB="0" anchor="ctr"/>
                </a:tc>
                <a:tc>
                  <a:txBody>
                    <a:bodyPr/>
                    <a:lstStyle/>
                    <a:p>
                      <a:pPr algn="ctr"/>
                      <a:r>
                        <a:rPr lang="en-US" sz="1400">
                          <a:latin typeface="Arial"/>
                          <a:cs typeface="Arial"/>
                        </a:rPr>
                        <a:t>Recommended</a:t>
                      </a:r>
                    </a:p>
                  </a:txBody>
                  <a:tcPr anchor="ctr"/>
                </a:tc>
                <a:extLst>
                  <a:ext uri="{0D108BD9-81ED-4DB2-BD59-A6C34878D82A}">
                    <a16:rowId xmlns:a16="http://schemas.microsoft.com/office/drawing/2014/main" val="808838465"/>
                  </a:ext>
                </a:extLst>
              </a:tr>
              <a:tr h="370840">
                <a:tc>
                  <a:txBody>
                    <a:bodyPr/>
                    <a:lstStyle/>
                    <a:p>
                      <a:pPr algn="ctr" fontAlgn="t"/>
                      <a:r>
                        <a:rPr lang="en-US" sz="1400" b="0" i="0" u="none" strike="noStrike">
                          <a:solidFill>
                            <a:srgbClr val="000000"/>
                          </a:solidFill>
                          <a:effectLst/>
                          <a:latin typeface="Arial"/>
                        </a:rPr>
                        <a:t>1.0.6</a:t>
                      </a:r>
                    </a:p>
                  </a:txBody>
                  <a:tcPr marL="6350" marR="6350" marT="6350" marB="0" anchor="ctr"/>
                </a:tc>
                <a:tc>
                  <a:txBody>
                    <a:bodyPr/>
                    <a:lstStyle/>
                    <a:p>
                      <a:pPr algn="l" fontAlgn="t"/>
                      <a:r>
                        <a:rPr lang="en-US" sz="1400" b="0" i="0" u="none" strike="noStrike">
                          <a:solidFill>
                            <a:srgbClr val="000000"/>
                          </a:solidFill>
                          <a:effectLst/>
                          <a:latin typeface="Arial"/>
                        </a:rPr>
                        <a:t>Video</a:t>
                      </a:r>
                    </a:p>
                  </a:txBody>
                  <a:tcPr marL="6350" marR="6350" marT="6350" marB="0" anchor="ctr"/>
                </a:tc>
                <a:tc>
                  <a:txBody>
                    <a:bodyPr/>
                    <a:lstStyle/>
                    <a:p>
                      <a:pPr algn="l" fontAlgn="t"/>
                      <a:r>
                        <a:rPr lang="en-US" sz="1400" b="0" i="0" u="none" strike="noStrike">
                          <a:solidFill>
                            <a:srgbClr val="000000"/>
                          </a:solidFill>
                          <a:effectLst/>
                          <a:latin typeface="Arial"/>
                        </a:rPr>
                        <a:t>Video - Getting Started in Cisco Packet Tracer</a:t>
                      </a:r>
                    </a:p>
                  </a:txBody>
                  <a:tcPr marL="6350" marR="6350" marT="635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latin typeface="Arial"/>
                          <a:cs typeface="Arial"/>
                        </a:rPr>
                        <a:t>Recommended</a:t>
                      </a:r>
                    </a:p>
                  </a:txBody>
                  <a:tcPr anchor="ctr"/>
                </a:tc>
                <a:extLst>
                  <a:ext uri="{0D108BD9-81ED-4DB2-BD59-A6C34878D82A}">
                    <a16:rowId xmlns:a16="http://schemas.microsoft.com/office/drawing/2014/main" val="336137477"/>
                  </a:ext>
                </a:extLst>
              </a:tr>
              <a:tr h="370840">
                <a:tc>
                  <a:txBody>
                    <a:bodyPr/>
                    <a:lstStyle/>
                    <a:p>
                      <a:pPr algn="ctr" fontAlgn="t"/>
                      <a:r>
                        <a:rPr lang="en-US" sz="1400" b="0" i="0" u="none" strike="noStrike">
                          <a:solidFill>
                            <a:srgbClr val="000000"/>
                          </a:solidFill>
                          <a:effectLst/>
                          <a:latin typeface="Arial"/>
                        </a:rPr>
                        <a:t>1.0.7</a:t>
                      </a:r>
                    </a:p>
                  </a:txBody>
                  <a:tcPr marL="6350" marR="6350" marT="6350" marB="0" anchor="ctr"/>
                </a:tc>
                <a:tc>
                  <a:txBody>
                    <a:bodyPr/>
                    <a:lstStyle/>
                    <a:p>
                      <a:pPr algn="l" fontAlgn="t"/>
                      <a:r>
                        <a:rPr lang="en-US" sz="1400" b="0" i="0" u="none" strike="noStrike">
                          <a:solidFill>
                            <a:srgbClr val="000000"/>
                          </a:solidFill>
                          <a:effectLst/>
                          <a:latin typeface="Arial"/>
                        </a:rPr>
                        <a:t>Video</a:t>
                      </a:r>
                    </a:p>
                  </a:txBody>
                  <a:tcPr marL="6350" marR="6350" marT="6350" marB="0" anchor="ctr"/>
                </a:tc>
                <a:tc>
                  <a:txBody>
                    <a:bodyPr/>
                    <a:lstStyle/>
                    <a:p>
                      <a:pPr algn="l" fontAlgn="t"/>
                      <a:r>
                        <a:rPr lang="en-US" sz="1400" b="0" i="0" u="none" strike="noStrike">
                          <a:solidFill>
                            <a:srgbClr val="000000"/>
                          </a:solidFill>
                          <a:effectLst/>
                          <a:latin typeface="Arial"/>
                        </a:rPr>
                        <a:t>Video - Packet Tracer as an Adaptive Learning Tool</a:t>
                      </a:r>
                    </a:p>
                  </a:txBody>
                  <a:tcPr marL="6350" marR="6350" marT="6350" marB="0" anchor="ctr"/>
                </a:tc>
                <a:tc>
                  <a:txBody>
                    <a:bodyPr/>
                    <a:lstStyle/>
                    <a:p>
                      <a:pPr algn="ctr"/>
                      <a:r>
                        <a:rPr lang="en-US" sz="1400">
                          <a:latin typeface="Arial"/>
                          <a:cs typeface="Arial"/>
                        </a:rPr>
                        <a:t>Recommended</a:t>
                      </a:r>
                    </a:p>
                  </a:txBody>
                  <a:tcPr anchor="ctr"/>
                </a:tc>
                <a:extLst>
                  <a:ext uri="{0D108BD9-81ED-4DB2-BD59-A6C34878D82A}">
                    <a16:rowId xmlns:a16="http://schemas.microsoft.com/office/drawing/2014/main" val="3927996564"/>
                  </a:ext>
                </a:extLst>
              </a:tr>
              <a:tr h="370840">
                <a:tc>
                  <a:txBody>
                    <a:bodyPr/>
                    <a:lstStyle/>
                    <a:p>
                      <a:pPr algn="ctr" fontAlgn="t"/>
                      <a:r>
                        <a:rPr lang="en-US" sz="1400" b="0" i="0" u="none" strike="noStrike">
                          <a:solidFill>
                            <a:srgbClr val="000000"/>
                          </a:solidFill>
                          <a:effectLst/>
                          <a:latin typeface="Arial"/>
                        </a:rPr>
                        <a:t>1.0.8</a:t>
                      </a:r>
                    </a:p>
                  </a:txBody>
                  <a:tcPr marL="6350" marR="6350" marT="6350" marB="0" anchor="ctr"/>
                </a:tc>
                <a:tc>
                  <a:txBody>
                    <a:bodyPr/>
                    <a:lstStyle/>
                    <a:p>
                      <a:pPr algn="l" fontAlgn="t"/>
                      <a:r>
                        <a:rPr lang="en-US" sz="1400" b="0" i="0" u="none" strike="noStrike">
                          <a:solidFill>
                            <a:srgbClr val="000000"/>
                          </a:solidFill>
                          <a:effectLst/>
                          <a:latin typeface="Arial"/>
                        </a:rPr>
                        <a:t>PT Activity</a:t>
                      </a:r>
                    </a:p>
                  </a:txBody>
                  <a:tcPr marL="6350" marR="6350" marT="6350" marB="0" anchor="ctr"/>
                </a:tc>
                <a:tc>
                  <a:txBody>
                    <a:bodyPr/>
                    <a:lstStyle/>
                    <a:p>
                      <a:pPr algn="l" fontAlgn="t"/>
                      <a:r>
                        <a:rPr lang="en-US" sz="1400" b="0" i="0" u="none" strike="noStrike">
                          <a:solidFill>
                            <a:srgbClr val="000000"/>
                          </a:solidFill>
                          <a:effectLst/>
                          <a:latin typeface="Arial"/>
                        </a:rPr>
                        <a:t>Packet Tracer - Logical and Physical Mode Exploration</a:t>
                      </a:r>
                    </a:p>
                  </a:txBody>
                  <a:tcPr marL="6350" marR="6350" marT="6350" marB="0" anchor="ctr"/>
                </a:tc>
                <a:tc>
                  <a:txBody>
                    <a:bodyPr/>
                    <a:lstStyle/>
                    <a:p>
                      <a:pPr algn="ctr"/>
                      <a:r>
                        <a:rPr lang="en-US" sz="1400">
                          <a:latin typeface="Arial"/>
                          <a:cs typeface="Arial"/>
                        </a:rPr>
                        <a:t>Recommended</a:t>
                      </a:r>
                    </a:p>
                  </a:txBody>
                  <a:tcPr anchor="ctr"/>
                </a:tc>
                <a:extLst>
                  <a:ext uri="{0D108BD9-81ED-4DB2-BD59-A6C34878D82A}">
                    <a16:rowId xmlns:a16="http://schemas.microsoft.com/office/drawing/2014/main" val="3946910163"/>
                  </a:ext>
                </a:extLst>
              </a:tr>
              <a:tr h="370840">
                <a:tc>
                  <a:txBody>
                    <a:bodyPr/>
                    <a:lstStyle/>
                    <a:p>
                      <a:pPr algn="ctr" fontAlgn="t"/>
                      <a:r>
                        <a:rPr lang="en-US" sz="1400" b="0" i="0" u="none" strike="noStrike">
                          <a:solidFill>
                            <a:srgbClr val="000000"/>
                          </a:solidFill>
                          <a:effectLst/>
                          <a:latin typeface="Arial"/>
                        </a:rPr>
                        <a:t>1.1.6</a:t>
                      </a:r>
                    </a:p>
                  </a:txBody>
                  <a:tcPr marL="6350" marR="6350" marT="6350" marB="0" anchor="ctr"/>
                </a:tc>
                <a:tc>
                  <a:txBody>
                    <a:bodyPr/>
                    <a:lstStyle/>
                    <a:p>
                      <a:pPr algn="l" fontAlgn="t"/>
                      <a:r>
                        <a:rPr lang="en-US" sz="1400" b="0" i="0" u="none" strike="noStrike">
                          <a:solidFill>
                            <a:srgbClr val="000000"/>
                          </a:solidFill>
                          <a:effectLst/>
                          <a:latin typeface="Arial"/>
                        </a:rPr>
                        <a:t>Interactive Activity</a:t>
                      </a:r>
                    </a:p>
                  </a:txBody>
                  <a:tcPr marL="6350" marR="6350" marT="6350" marB="0" anchor="ctr"/>
                </a:tc>
                <a:tc>
                  <a:txBody>
                    <a:bodyPr/>
                    <a:lstStyle/>
                    <a:p>
                      <a:pPr algn="l" fontAlgn="t"/>
                      <a:r>
                        <a:rPr lang="en-US" sz="1400" b="0" i="0" u="none" strike="noStrike">
                          <a:solidFill>
                            <a:srgbClr val="000000"/>
                          </a:solidFill>
                          <a:effectLst/>
                          <a:latin typeface="Arial"/>
                        </a:rPr>
                        <a:t>Know the Difference</a:t>
                      </a:r>
                    </a:p>
                  </a:txBody>
                  <a:tcPr marL="6350" marR="6350" marT="6350" marB="0" anchor="ctr"/>
                </a:tc>
                <a:tc>
                  <a:txBody>
                    <a:bodyPr/>
                    <a:lstStyle/>
                    <a:p>
                      <a:pPr algn="ctr"/>
                      <a:r>
                        <a:rPr lang="en-US" sz="1400">
                          <a:latin typeface="Arial"/>
                          <a:cs typeface="Arial"/>
                        </a:rPr>
                        <a:t>Recommended</a:t>
                      </a:r>
                    </a:p>
                  </a:txBody>
                  <a:tcPr anchor="ctr"/>
                </a:tc>
                <a:extLst>
                  <a:ext uri="{0D108BD9-81ED-4DB2-BD59-A6C34878D82A}">
                    <a16:rowId xmlns:a16="http://schemas.microsoft.com/office/drawing/2014/main" val="2405848159"/>
                  </a:ext>
                </a:extLst>
              </a:tr>
              <a:tr h="370840">
                <a:tc>
                  <a:txBody>
                    <a:bodyPr/>
                    <a:lstStyle/>
                    <a:p>
                      <a:pPr algn="ctr" fontAlgn="t"/>
                      <a:r>
                        <a:rPr lang="en-US" sz="1400" b="0" i="0" u="none" strike="noStrike">
                          <a:solidFill>
                            <a:srgbClr val="000000"/>
                          </a:solidFill>
                          <a:effectLst/>
                          <a:latin typeface="Arial"/>
                        </a:rPr>
                        <a:t>1.1.16</a:t>
                      </a:r>
                    </a:p>
                  </a:txBody>
                  <a:tcPr marL="6350" marR="6350" marT="6350" marB="0" anchor="ct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rial"/>
                        </a:rPr>
                        <a:t>Interactive Activity</a:t>
                      </a:r>
                    </a:p>
                  </a:txBody>
                  <a:tcPr marL="6350" marR="6350" marT="6350" marB="0" anchor="ctr"/>
                </a:tc>
                <a:tc>
                  <a:txBody>
                    <a:bodyPr/>
                    <a:lstStyle/>
                    <a:p>
                      <a:pPr algn="l" fontAlgn="t"/>
                      <a:r>
                        <a:rPr lang="en-US" sz="1400" b="0" i="0" u="none" strike="noStrike">
                          <a:solidFill>
                            <a:srgbClr val="000000"/>
                          </a:solidFill>
                          <a:effectLst/>
                          <a:latin typeface="Arial"/>
                        </a:rPr>
                        <a:t>Domain Checker</a:t>
                      </a:r>
                    </a:p>
                  </a:txBody>
                  <a:tcPr marL="6350" marR="6350" marT="6350" marB="0" anchor="ctr"/>
                </a:tc>
                <a:tc>
                  <a:txBody>
                    <a:bodyPr/>
                    <a:lstStyle/>
                    <a:p>
                      <a:pPr algn="ctr"/>
                      <a:r>
                        <a:rPr lang="en-US" sz="1400">
                          <a:latin typeface="Arial"/>
                          <a:cs typeface="Arial"/>
                        </a:rPr>
                        <a:t>Recommended</a:t>
                      </a:r>
                    </a:p>
                  </a:txBody>
                  <a:tcPr anchor="ctr"/>
                </a:tc>
                <a:extLst>
                  <a:ext uri="{0D108BD9-81ED-4DB2-BD59-A6C34878D82A}">
                    <a16:rowId xmlns:a16="http://schemas.microsoft.com/office/drawing/2014/main" val="2945999785"/>
                  </a:ext>
                </a:extLst>
              </a:tr>
              <a:tr h="370840">
                <a:tc>
                  <a:txBody>
                    <a:bodyPr/>
                    <a:lstStyle/>
                    <a:p>
                      <a:pPr algn="ctr" fontAlgn="t"/>
                      <a:r>
                        <a:rPr lang="en-US" sz="1400" b="0" i="0" u="none" strike="noStrike">
                          <a:solidFill>
                            <a:srgbClr val="000000"/>
                          </a:solidFill>
                          <a:effectLst/>
                          <a:latin typeface="Arial"/>
                        </a:rPr>
                        <a:t>1.2.4</a:t>
                      </a:r>
                    </a:p>
                  </a:txBody>
                  <a:tcPr marL="6350" marR="6350" marT="6350" marB="0" anchor="ct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rial"/>
                        </a:rPr>
                        <a:t>Interactive Activity</a:t>
                      </a:r>
                    </a:p>
                  </a:txBody>
                  <a:tcPr marL="6350" marR="6350" marT="6350" marB="0" anchor="ctr"/>
                </a:tc>
                <a:tc>
                  <a:txBody>
                    <a:bodyPr/>
                    <a:lstStyle/>
                    <a:p>
                      <a:pPr algn="l" fontAlgn="t"/>
                      <a:r>
                        <a:rPr lang="en-US" sz="1400" b="0" i="0" u="none" strike="noStrike">
                          <a:solidFill>
                            <a:srgbClr val="000000"/>
                          </a:solidFill>
                          <a:effectLst/>
                          <a:latin typeface="Arial"/>
                        </a:rPr>
                        <a:t>Watch Out!</a:t>
                      </a:r>
                    </a:p>
                  </a:txBody>
                  <a:tcPr marL="6350" marR="6350" marT="6350" marB="0" anchor="ctr"/>
                </a:tc>
                <a:tc>
                  <a:txBody>
                    <a:bodyPr/>
                    <a:lstStyle/>
                    <a:p>
                      <a:pPr algn="ctr"/>
                      <a:r>
                        <a:rPr lang="en-US" sz="1400">
                          <a:latin typeface="Arial"/>
                          <a:cs typeface="Arial"/>
                        </a:rPr>
                        <a:t>Recommended</a:t>
                      </a:r>
                    </a:p>
                  </a:txBody>
                  <a:tcPr anchor="ctr"/>
                </a:tc>
                <a:extLst>
                  <a:ext uri="{0D108BD9-81ED-4DB2-BD59-A6C34878D82A}">
                    <a16:rowId xmlns:a16="http://schemas.microsoft.com/office/drawing/2014/main" val="1414221699"/>
                  </a:ext>
                </a:extLst>
              </a:tr>
              <a:tr h="370840">
                <a:tc>
                  <a:txBody>
                    <a:bodyPr/>
                    <a:lstStyle/>
                    <a:p>
                      <a:pPr algn="ctr" fontAlgn="t"/>
                      <a:r>
                        <a:rPr lang="en-US" sz="1400" b="0" i="0" u="none" strike="noStrike">
                          <a:solidFill>
                            <a:srgbClr val="000000"/>
                          </a:solidFill>
                          <a:effectLst/>
                          <a:latin typeface="Arial"/>
                        </a:rPr>
                        <a:t>1.2.10</a:t>
                      </a:r>
                    </a:p>
                  </a:txBody>
                  <a:tcPr marL="6350" marR="6350" marT="6350" marB="0" anchor="ct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rial"/>
                        </a:rPr>
                        <a:t>Interactive Activity</a:t>
                      </a:r>
                    </a:p>
                  </a:txBody>
                  <a:tcPr marL="6350" marR="6350" marT="6350" marB="0" anchor="ctr"/>
                </a:tc>
                <a:tc>
                  <a:txBody>
                    <a:bodyPr/>
                    <a:lstStyle/>
                    <a:p>
                      <a:pPr algn="l" fontAlgn="t"/>
                      <a:r>
                        <a:rPr lang="en-US" sz="1400" b="0" i="0" u="none" strike="noStrike">
                          <a:solidFill>
                            <a:srgbClr val="000000"/>
                          </a:solidFill>
                          <a:effectLst/>
                          <a:latin typeface="Arial"/>
                        </a:rPr>
                        <a:t>Spot the Attack</a:t>
                      </a:r>
                    </a:p>
                  </a:txBody>
                  <a:tcPr marL="6350" marR="6350" marT="6350" marB="0" anchor="ctr"/>
                </a:tc>
                <a:tc>
                  <a:txBody>
                    <a:bodyPr/>
                    <a:lstStyle/>
                    <a:p>
                      <a:pPr algn="ctr"/>
                      <a:r>
                        <a:rPr lang="en-US" sz="1400">
                          <a:latin typeface="Arial"/>
                          <a:cs typeface="Arial"/>
                        </a:rPr>
                        <a:t>Recommended</a:t>
                      </a:r>
                    </a:p>
                  </a:txBody>
                  <a:tcPr anchor="ctr"/>
                </a:tc>
                <a:extLst>
                  <a:ext uri="{0D108BD9-81ED-4DB2-BD59-A6C34878D82A}">
                    <a16:rowId xmlns:a16="http://schemas.microsoft.com/office/drawing/2014/main" val="2899878649"/>
                  </a:ext>
                </a:extLst>
              </a:tr>
              <a:tr h="370840">
                <a:tc>
                  <a:txBody>
                    <a:bodyPr/>
                    <a:lstStyle/>
                    <a:p>
                      <a:pPr algn="ctr" fontAlgn="t"/>
                      <a:r>
                        <a:rPr lang="en-US" sz="1400" b="0" i="0" u="none" strike="noStrike">
                          <a:solidFill>
                            <a:srgbClr val="000000"/>
                          </a:solidFill>
                          <a:effectLst/>
                          <a:latin typeface="Arial"/>
                        </a:rPr>
                        <a:t>1.2.12</a:t>
                      </a:r>
                    </a:p>
                  </a:txBody>
                  <a:tcPr marL="6350" marR="6350" marT="6350" marB="0" anchor="ctr"/>
                </a:tc>
                <a:tc>
                  <a:txBody>
                    <a:bodyPr/>
                    <a:lstStyle/>
                    <a:p>
                      <a:pPr marL="0" marR="0" lvl="0" indent="0" algn="l" defTabSz="914400">
                        <a:lnSpc>
                          <a:spcPct val="100000"/>
                        </a:lnSpc>
                        <a:spcBef>
                          <a:spcPts val="0"/>
                        </a:spcBef>
                        <a:spcAft>
                          <a:spcPts val="0"/>
                        </a:spcAft>
                        <a:buNone/>
                        <a:tabLst/>
                        <a:defRPr/>
                      </a:pPr>
                      <a:r>
                        <a:rPr lang="en-US" sz="1400" b="0" i="0" u="none" strike="noStrike">
                          <a:solidFill>
                            <a:srgbClr val="000000"/>
                          </a:solidFill>
                          <a:effectLst/>
                          <a:latin typeface="Arial"/>
                        </a:rPr>
                        <a:t>Video</a:t>
                      </a:r>
                    </a:p>
                  </a:txBody>
                  <a:tcPr marL="6350" marR="6350" marT="6350" marB="0" anchor="ctr"/>
                </a:tc>
                <a:tc>
                  <a:txBody>
                    <a:bodyPr/>
                    <a:lstStyle/>
                    <a:p>
                      <a:pPr algn="l" fontAlgn="t"/>
                      <a:r>
                        <a:rPr lang="en-US" sz="1400" b="0" i="0" u="none" strike="noStrike">
                          <a:solidFill>
                            <a:srgbClr val="000000"/>
                          </a:solidFill>
                          <a:effectLst/>
                          <a:latin typeface="Arial"/>
                        </a:rPr>
                        <a:t>Video - Explore Social Engineering Techniques</a:t>
                      </a:r>
                    </a:p>
                  </a:txBody>
                  <a:tcPr marL="6350" marR="6350" marT="6350" marB="0" anchor="ctr"/>
                </a:tc>
                <a:tc>
                  <a:txBody>
                    <a:bodyPr/>
                    <a:lstStyle/>
                    <a:p>
                      <a:pPr algn="ctr"/>
                      <a:r>
                        <a:rPr lang="en-US" sz="1400" dirty="0">
                          <a:latin typeface="Arial"/>
                          <a:cs typeface="Arial"/>
                        </a:rPr>
                        <a:t>Recommended</a:t>
                      </a:r>
                    </a:p>
                  </a:txBody>
                  <a:tcPr anchor="ctr"/>
                </a:tc>
                <a:extLst>
                  <a:ext uri="{0D108BD9-81ED-4DB2-BD59-A6C34878D82A}">
                    <a16:rowId xmlns:a16="http://schemas.microsoft.com/office/drawing/2014/main" val="3751151305"/>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Module 1: Activities</a:t>
            </a:r>
            <a:endParaRPr lang="en-US" sz="2200"/>
          </a:p>
        </p:txBody>
      </p:sp>
      <p:sp>
        <p:nvSpPr>
          <p:cNvPr id="5" name="Rectangle 34">
            <a:extLst>
              <a:ext uri="{FF2B5EF4-FFF2-40B4-BE49-F238E27FC236}">
                <a16:creationId xmlns:a16="http://schemas.microsoft.com/office/drawing/2014/main" id="{7188AF34-F17D-65FE-91B6-733B90851DC8}"/>
              </a:ext>
            </a:extLst>
          </p:cNvPr>
          <p:cNvSpPr txBox="1">
            <a:spLocks noChangeArrowheads="1"/>
          </p:cNvSpPr>
          <p:nvPr/>
        </p:nvSpPr>
        <p:spPr>
          <a:xfrm>
            <a:off x="116793" y="460408"/>
            <a:ext cx="8695135" cy="34841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30000"/>
              </a:spcBef>
              <a:buFont typeface="Arial" pitchFamily="34" charset="0"/>
              <a:buNone/>
            </a:pPr>
            <a:r>
              <a:rPr lang="en-US" sz="1400">
                <a:latin typeface="Arial" panose="020B0604020202020204" pitchFamily="34" charset="0"/>
                <a:cs typeface="Arial" panose="020B0604020202020204" pitchFamily="34" charset="0"/>
              </a:rPr>
              <a:t>What activities are associated with this module?</a:t>
            </a:r>
          </a:p>
        </p:txBody>
      </p:sp>
      <p:graphicFrame>
        <p:nvGraphicFramePr>
          <p:cNvPr id="4" name="Table 4">
            <a:extLst>
              <a:ext uri="{FF2B5EF4-FFF2-40B4-BE49-F238E27FC236}">
                <a16:creationId xmlns:a16="http://schemas.microsoft.com/office/drawing/2014/main" id="{40064EF4-EE2B-342C-EA9E-699582F380FF}"/>
              </a:ext>
            </a:extLst>
          </p:cNvPr>
          <p:cNvGraphicFramePr>
            <a:graphicFrameLocks noGrp="1"/>
          </p:cNvGraphicFramePr>
          <p:nvPr>
            <p:extLst>
              <p:ext uri="{D42A27DB-BD31-4B8C-83A1-F6EECF244321}">
                <p14:modId xmlns:p14="http://schemas.microsoft.com/office/powerpoint/2010/main" val="1751061760"/>
              </p:ext>
            </p:extLst>
          </p:nvPr>
        </p:nvGraphicFramePr>
        <p:xfrm>
          <a:off x="224432" y="1245235"/>
          <a:ext cx="8479856" cy="2595880"/>
        </p:xfrm>
        <a:graphic>
          <a:graphicData uri="http://schemas.openxmlformats.org/drawingml/2006/table">
            <a:tbl>
              <a:tblPr firstRow="1" bandRow="1">
                <a:tableStyleId>{5C22544A-7EE6-4342-B048-85BDC9FD1C3A}</a:tableStyleId>
              </a:tblPr>
              <a:tblGrid>
                <a:gridCol w="1083071">
                  <a:extLst>
                    <a:ext uri="{9D8B030D-6E8A-4147-A177-3AD203B41FA5}">
                      <a16:colId xmlns:a16="http://schemas.microsoft.com/office/drawing/2014/main" val="314965042"/>
                    </a:ext>
                  </a:extLst>
                </a:gridCol>
                <a:gridCol w="1539813">
                  <a:extLst>
                    <a:ext uri="{9D8B030D-6E8A-4147-A177-3AD203B41FA5}">
                      <a16:colId xmlns:a16="http://schemas.microsoft.com/office/drawing/2014/main" val="1540795028"/>
                    </a:ext>
                  </a:extLst>
                </a:gridCol>
                <a:gridCol w="3737008">
                  <a:extLst>
                    <a:ext uri="{9D8B030D-6E8A-4147-A177-3AD203B41FA5}">
                      <a16:colId xmlns:a16="http://schemas.microsoft.com/office/drawing/2014/main" val="2968452238"/>
                    </a:ext>
                  </a:extLst>
                </a:gridCol>
                <a:gridCol w="2119964">
                  <a:extLst>
                    <a:ext uri="{9D8B030D-6E8A-4147-A177-3AD203B41FA5}">
                      <a16:colId xmlns:a16="http://schemas.microsoft.com/office/drawing/2014/main" val="286226043"/>
                    </a:ext>
                  </a:extLst>
                </a:gridCol>
              </a:tblGrid>
              <a:tr h="370840">
                <a:tc>
                  <a:txBody>
                    <a:bodyPr/>
                    <a:lstStyle/>
                    <a:p>
                      <a:pPr algn="ctr"/>
                      <a:r>
                        <a:rPr lang="en-US" sz="1400">
                          <a:latin typeface="Arial" panose="020B0604020202020204" pitchFamily="34" charset="0"/>
                          <a:cs typeface="Arial" panose="020B0604020202020204" pitchFamily="34" charset="0"/>
                        </a:rPr>
                        <a:t>Page #</a:t>
                      </a:r>
                    </a:p>
                  </a:txBody>
                  <a:tcPr/>
                </a:tc>
                <a:tc>
                  <a:txBody>
                    <a:bodyPr/>
                    <a:lstStyle/>
                    <a:p>
                      <a:pPr algn="l"/>
                      <a:r>
                        <a:rPr lang="en-US" sz="1400">
                          <a:latin typeface="Arial" panose="020B0604020202020204" pitchFamily="34" charset="0"/>
                          <a:cs typeface="Arial" panose="020B0604020202020204" pitchFamily="34" charset="0"/>
                        </a:rPr>
                        <a:t>Activity</a:t>
                      </a:r>
                    </a:p>
                  </a:txBody>
                  <a:tcPr/>
                </a:tc>
                <a:tc>
                  <a:txBody>
                    <a:bodyPr/>
                    <a:lstStyle/>
                    <a:p>
                      <a:pPr algn="ctr"/>
                      <a:r>
                        <a:rPr lang="en-US" sz="1400">
                          <a:latin typeface="Arial" panose="020B0604020202020204" pitchFamily="34" charset="0"/>
                          <a:cs typeface="Arial" panose="020B0604020202020204" pitchFamily="34" charset="0"/>
                        </a:rPr>
                        <a:t>Activity Name</a:t>
                      </a:r>
                    </a:p>
                  </a:txBody>
                  <a:tcPr/>
                </a:tc>
                <a:tc>
                  <a:txBody>
                    <a:bodyPr/>
                    <a:lstStyle/>
                    <a:p>
                      <a:pPr algn="ctr"/>
                      <a:r>
                        <a:rPr lang="en-US" sz="1400">
                          <a:latin typeface="Arial" panose="020B0604020202020204" pitchFamily="34" charset="0"/>
                          <a:cs typeface="Arial" panose="020B0604020202020204" pitchFamily="34" charset="0"/>
                        </a:rPr>
                        <a:t>Optional?</a:t>
                      </a:r>
                    </a:p>
                  </a:txBody>
                  <a:tcPr/>
                </a:tc>
                <a:extLst>
                  <a:ext uri="{0D108BD9-81ED-4DB2-BD59-A6C34878D82A}">
                    <a16:rowId xmlns:a16="http://schemas.microsoft.com/office/drawing/2014/main" val="317262977"/>
                  </a:ext>
                </a:extLst>
              </a:tr>
              <a:tr h="370840">
                <a:tc>
                  <a:txBody>
                    <a:bodyPr/>
                    <a:lstStyle/>
                    <a:p>
                      <a:pPr algn="ctr" fontAlgn="t"/>
                      <a:r>
                        <a:rPr lang="en-US" sz="1400" b="0" i="0" u="none" strike="noStrike">
                          <a:solidFill>
                            <a:srgbClr val="000000"/>
                          </a:solidFill>
                          <a:effectLst/>
                          <a:latin typeface="Arial" panose="020B0604020202020204" pitchFamily="34" charset="0"/>
                        </a:rPr>
                        <a:t>1.2.13</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Lab</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Lab - Explore Social Engineering Techniques</a:t>
                      </a:r>
                    </a:p>
                  </a:txBody>
                  <a:tcPr marL="6350" marR="6350" marT="6350" marB="0" anchor="ctr"/>
                </a:tc>
                <a:tc>
                  <a:txBody>
                    <a:bodyPr/>
                    <a:lstStyle/>
                    <a:p>
                      <a:pPr algn="ctr"/>
                      <a:r>
                        <a:rPr lang="en-US" sz="1400">
                          <a:latin typeface="Arial" panose="020B0604020202020204" pitchFamily="34" charset="0"/>
                          <a:cs typeface="Arial" panose="020B0604020202020204" pitchFamily="34" charset="0"/>
                        </a:rPr>
                        <a:t>Recommended</a:t>
                      </a:r>
                    </a:p>
                  </a:txBody>
                  <a:tcPr anchor="ctr"/>
                </a:tc>
                <a:extLst>
                  <a:ext uri="{0D108BD9-81ED-4DB2-BD59-A6C34878D82A}">
                    <a16:rowId xmlns:a16="http://schemas.microsoft.com/office/drawing/2014/main" val="2377890904"/>
                  </a:ext>
                </a:extLst>
              </a:tr>
              <a:tr h="370840">
                <a:tc>
                  <a:txBody>
                    <a:bodyPr/>
                    <a:lstStyle/>
                    <a:p>
                      <a:pPr algn="ctr" fontAlgn="t"/>
                      <a:r>
                        <a:rPr lang="en-US" sz="1400" b="0" i="0" u="none" strike="noStrike">
                          <a:solidFill>
                            <a:srgbClr val="000000"/>
                          </a:solidFill>
                          <a:effectLst/>
                          <a:latin typeface="Arial" panose="020B0604020202020204" pitchFamily="34" charset="0"/>
                        </a:rPr>
                        <a:t>1.3.8</a:t>
                      </a:r>
                    </a:p>
                  </a:txBody>
                  <a:tcPr marL="6350" marR="6350" marT="6350" marB="0" anchor="ct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rial" panose="020B0604020202020204" pitchFamily="34" charset="0"/>
                        </a:rPr>
                        <a:t>Interactive Activity</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Spot the Attack</a:t>
                      </a:r>
                    </a:p>
                  </a:txBody>
                  <a:tcPr marL="6350" marR="6350" marT="6350" marB="0" anchor="ctr"/>
                </a:tc>
                <a:tc>
                  <a:txBody>
                    <a:bodyPr/>
                    <a:lstStyle/>
                    <a:p>
                      <a:pPr algn="ctr"/>
                      <a:r>
                        <a:rPr lang="en-US" sz="1400">
                          <a:latin typeface="Arial" panose="020B0604020202020204" pitchFamily="34" charset="0"/>
                          <a:cs typeface="Arial" panose="020B0604020202020204" pitchFamily="34" charset="0"/>
                        </a:rPr>
                        <a:t>Recommended</a:t>
                      </a:r>
                    </a:p>
                  </a:txBody>
                  <a:tcPr anchor="ctr"/>
                </a:tc>
                <a:extLst>
                  <a:ext uri="{0D108BD9-81ED-4DB2-BD59-A6C34878D82A}">
                    <a16:rowId xmlns:a16="http://schemas.microsoft.com/office/drawing/2014/main" val="2281025351"/>
                  </a:ext>
                </a:extLst>
              </a:tr>
              <a:tr h="370840">
                <a:tc>
                  <a:txBody>
                    <a:bodyPr/>
                    <a:lstStyle/>
                    <a:p>
                      <a:pPr algn="ctr" fontAlgn="t"/>
                      <a:r>
                        <a:rPr lang="en-US" sz="1400" b="0" i="0" u="none" strike="noStrike">
                          <a:solidFill>
                            <a:srgbClr val="000000"/>
                          </a:solidFill>
                          <a:effectLst/>
                          <a:latin typeface="Arial" panose="020B0604020202020204" pitchFamily="34" charset="0"/>
                        </a:rPr>
                        <a:t>1.3.14</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Interactive Activity</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Confirm Your Details</a:t>
                      </a:r>
                    </a:p>
                  </a:txBody>
                  <a:tcPr marL="6350" marR="6350" marT="6350" marB="0" anchor="ctr"/>
                </a:tc>
                <a:tc>
                  <a:txBody>
                    <a:bodyPr/>
                    <a:lstStyle/>
                    <a:p>
                      <a:pPr algn="ctr"/>
                      <a:r>
                        <a:rPr lang="en-US" sz="1400">
                          <a:latin typeface="Arial" panose="020B0604020202020204" pitchFamily="34" charset="0"/>
                          <a:cs typeface="Arial" panose="020B0604020202020204" pitchFamily="34" charset="0"/>
                        </a:rPr>
                        <a:t>Recommended</a:t>
                      </a:r>
                    </a:p>
                  </a:txBody>
                  <a:tcPr anchor="ctr"/>
                </a:tc>
                <a:extLst>
                  <a:ext uri="{0D108BD9-81ED-4DB2-BD59-A6C34878D82A}">
                    <a16:rowId xmlns:a16="http://schemas.microsoft.com/office/drawing/2014/main" val="2217849980"/>
                  </a:ext>
                </a:extLst>
              </a:tr>
              <a:tr h="370840">
                <a:tc>
                  <a:txBody>
                    <a:bodyPr/>
                    <a:lstStyle/>
                    <a:p>
                      <a:pPr algn="ctr" fontAlgn="t"/>
                      <a:r>
                        <a:rPr lang="en-US" sz="1400" b="0" i="0" u="none" strike="noStrike">
                          <a:solidFill>
                            <a:srgbClr val="000000"/>
                          </a:solidFill>
                          <a:effectLst/>
                          <a:latin typeface="Arial" panose="020B0604020202020204" pitchFamily="34" charset="0"/>
                        </a:rPr>
                        <a:t>1.4.8</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Interactive Activity</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Risky Business</a:t>
                      </a:r>
                    </a:p>
                  </a:txBody>
                  <a:tcPr marL="6350" marR="6350" marT="6350" marB="0" anchor="ctr"/>
                </a:tc>
                <a:tc>
                  <a:txBody>
                    <a:bodyPr/>
                    <a:lstStyle/>
                    <a:p>
                      <a:pPr algn="ctr"/>
                      <a:r>
                        <a:rPr lang="en-US" sz="1400">
                          <a:latin typeface="Arial" panose="020B0604020202020204" pitchFamily="34" charset="0"/>
                          <a:cs typeface="Arial" panose="020B0604020202020204" pitchFamily="34" charset="0"/>
                        </a:rPr>
                        <a:t>Recommended</a:t>
                      </a:r>
                    </a:p>
                  </a:txBody>
                  <a:tcPr anchor="ctr"/>
                </a:tc>
                <a:extLst>
                  <a:ext uri="{0D108BD9-81ED-4DB2-BD59-A6C34878D82A}">
                    <a16:rowId xmlns:a16="http://schemas.microsoft.com/office/drawing/2014/main" val="2496010669"/>
                  </a:ext>
                </a:extLst>
              </a:tr>
              <a:tr h="370840">
                <a:tc>
                  <a:txBody>
                    <a:bodyPr/>
                    <a:lstStyle/>
                    <a:p>
                      <a:pPr algn="ctr" fontAlgn="t"/>
                      <a:r>
                        <a:rPr lang="en-US" sz="1400" b="0" i="0" u="none" strike="noStrike">
                          <a:solidFill>
                            <a:srgbClr val="000000"/>
                          </a:solidFill>
                          <a:effectLst/>
                          <a:latin typeface="Arial" panose="020B0604020202020204" pitchFamily="34" charset="0"/>
                        </a:rPr>
                        <a:t>1.5.8</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Interactive Activity</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What Do You Think?</a:t>
                      </a:r>
                    </a:p>
                  </a:txBody>
                  <a:tcPr marL="6350" marR="6350" marT="6350" marB="0" anchor="ctr"/>
                </a:tc>
                <a:tc>
                  <a:txBody>
                    <a:bodyPr/>
                    <a:lstStyle/>
                    <a:p>
                      <a:pPr algn="ctr"/>
                      <a:r>
                        <a:rPr lang="en-US" sz="1400">
                          <a:latin typeface="Arial" panose="020B0604020202020204" pitchFamily="34" charset="0"/>
                          <a:cs typeface="Arial" panose="020B0604020202020204" pitchFamily="34" charset="0"/>
                        </a:rPr>
                        <a:t>Recommended</a:t>
                      </a:r>
                    </a:p>
                  </a:txBody>
                  <a:tcPr anchor="ctr"/>
                </a:tc>
                <a:extLst>
                  <a:ext uri="{0D108BD9-81ED-4DB2-BD59-A6C34878D82A}">
                    <a16:rowId xmlns:a16="http://schemas.microsoft.com/office/drawing/2014/main" val="1415166879"/>
                  </a:ext>
                </a:extLst>
              </a:tr>
              <a:tr h="370840">
                <a:tc>
                  <a:txBody>
                    <a:bodyPr/>
                    <a:lstStyle/>
                    <a:p>
                      <a:pPr algn="ctr" fontAlgn="t"/>
                      <a:r>
                        <a:rPr lang="en-US" sz="1400" b="0" i="0" u="none" strike="noStrike">
                          <a:solidFill>
                            <a:srgbClr val="000000"/>
                          </a:solidFill>
                          <a:effectLst/>
                          <a:latin typeface="Arial" panose="020B0604020202020204" pitchFamily="34" charset="0"/>
                        </a:rPr>
                        <a:t>1.5.14</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Interactive Activity</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Gone Phishing... </a:t>
                      </a:r>
                    </a:p>
                  </a:txBody>
                  <a:tcPr marL="6350" marR="6350" marT="6350" marB="0" anchor="ctr"/>
                </a:tc>
                <a:tc>
                  <a:txBody>
                    <a:bodyPr/>
                    <a:lstStyle/>
                    <a:p>
                      <a:pPr algn="ctr"/>
                      <a:r>
                        <a:rPr lang="en-US" sz="1400">
                          <a:latin typeface="Arial" panose="020B0604020202020204" pitchFamily="34" charset="0"/>
                          <a:cs typeface="Arial" panose="020B0604020202020204" pitchFamily="34" charset="0"/>
                        </a:rPr>
                        <a:t>Recommended</a:t>
                      </a:r>
                    </a:p>
                  </a:txBody>
                  <a:tcPr anchor="ctr"/>
                </a:tc>
                <a:extLst>
                  <a:ext uri="{0D108BD9-81ED-4DB2-BD59-A6C34878D82A}">
                    <a16:rowId xmlns:a16="http://schemas.microsoft.com/office/drawing/2014/main" val="1420027971"/>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7</a:t>
            </a:fld>
            <a:endParaRPr lang="en-US"/>
          </a:p>
        </p:txBody>
      </p:sp>
      <p:sp>
        <p:nvSpPr>
          <p:cNvPr id="3" name="TextBox 2">
            <a:extLst>
              <a:ext uri="{FF2B5EF4-FFF2-40B4-BE49-F238E27FC236}">
                <a16:creationId xmlns:a16="http://schemas.microsoft.com/office/drawing/2014/main" id="{E6E0A81B-EE8C-FFE3-0F20-0A36957EC39D}"/>
              </a:ext>
            </a:extLst>
          </p:cNvPr>
          <p:cNvSpPr txBox="1"/>
          <p:nvPr/>
        </p:nvSpPr>
        <p:spPr>
          <a:xfrm>
            <a:off x="2000250" y="4220936"/>
            <a:ext cx="3722914" cy="307777"/>
          </a:xfrm>
          <a:prstGeom prst="rect">
            <a:avLst/>
          </a:prstGeom>
          <a:noFill/>
        </p:spPr>
        <p:txBody>
          <a:bodyPr wrap="square" rtlCol="0">
            <a:spAutoFit/>
          </a:bodyPr>
          <a:lstStyle/>
          <a:p>
            <a:r>
              <a:rPr lang="en-US" sz="1400" dirty="0">
                <a:solidFill>
                  <a:srgbClr val="FF0000"/>
                </a:solidFill>
                <a:latin typeface="Arial" panose="020B0604020202020204" pitchFamily="34" charset="0"/>
                <a:cs typeface="Arial" panose="020B0604020202020204" pitchFamily="34" charset="0"/>
              </a:rPr>
              <a:t>Activity Wizard Password: PT_csp11</a:t>
            </a:r>
          </a:p>
        </p:txBody>
      </p:sp>
    </p:spTree>
    <p:extLst>
      <p:ext uri="{BB962C8B-B14F-4D97-AF65-F5344CB8AC3E}">
        <p14:creationId xmlns:p14="http://schemas.microsoft.com/office/powerpoint/2010/main" val="3094066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lIns="91440" tIns="45720" rIns="91440" bIns="45720" rtlCol="0" anchor="t"/>
          <a:lstStyle/>
          <a:p>
            <a:r>
              <a:rPr lang="en-US" sz="1600">
                <a:solidFill>
                  <a:srgbClr val="024C69"/>
                </a:solidFill>
                <a:latin typeface="Arial"/>
                <a:cs typeface="Arial"/>
              </a:rPr>
              <a:t>Module 1: Best Practices</a:t>
            </a:r>
            <a:r>
              <a:rPr lang="en-US">
                <a:latin typeface="Arial"/>
                <a:cs typeface="Arial"/>
              </a:rPr>
              <a:t> (Cont.)</a:t>
            </a:r>
            <a:endParaRPr lang="en-US" sz="1600"/>
          </a:p>
        </p:txBody>
      </p:sp>
      <p:sp>
        <p:nvSpPr>
          <p:cNvPr id="3" name="Text 1"/>
          <p:cNvSpPr/>
          <p:nvPr/>
        </p:nvSpPr>
        <p:spPr>
          <a:xfrm>
            <a:off x="64698" y="349370"/>
            <a:ext cx="8704052" cy="4639230"/>
          </a:xfrm>
          <a:prstGeom prst="rect">
            <a:avLst/>
          </a:prstGeom>
          <a:noFill/>
          <a:ln/>
        </p:spPr>
        <p:txBody>
          <a:bodyPr wrap="square" lIns="91440" tIns="45720" rIns="91440" bIns="45720"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rPr>
              <a:t>Prior to teaching Module 1, the instructor should:</a:t>
            </a:r>
            <a:endParaRPr 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endParaRPr>
          </a:p>
          <a:p>
            <a:pPr marL="169545" marR="0" lvl="0" indent="-169545" algn="l" defTabSz="684213" rtl="0" eaLnBrk="1" fontAlgn="base" latinLnBrk="0" hangingPunct="1">
              <a:lnSpc>
                <a:spcPct val="85000"/>
              </a:lnSpc>
              <a:spcBef>
                <a:spcPct val="30000"/>
              </a:spcBef>
              <a:spcAft>
                <a:spcPts val="600"/>
              </a:spcAft>
              <a:buClr>
                <a:srgbClr val="58585B"/>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rPr>
              <a:t>Review the activities and assessments for this module.</a:t>
            </a:r>
            <a:endParaRPr 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endParaRPr>
          </a:p>
          <a:p>
            <a:pPr marL="169545" indent="-169545" defTabSz="684213" fontAlgn="base">
              <a:lnSpc>
                <a:spcPct val="85000"/>
              </a:lnSpc>
              <a:spcBef>
                <a:spcPct val="30000"/>
              </a:spcBef>
              <a:spcAft>
                <a:spcPts val="600"/>
              </a:spcAft>
              <a:buClr>
                <a:srgbClr val="58585B"/>
              </a:buClr>
              <a:buSzPct val="90000"/>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rPr>
              <a:t>Try to include as many questions as possible to keep students engaged during</a:t>
            </a:r>
            <a:r>
              <a:rPr lang="en-US" sz="1400" dirty="0">
                <a:solidFill>
                  <a:srgbClr val="000000"/>
                </a:solidFill>
                <a:latin typeface="Arial" panose="020B0604020202020204" pitchFamily="34" charset="0"/>
                <a:ea typeface="ＭＳ Ｐゴシック"/>
                <a:cs typeface="Arial" panose="020B0604020202020204" pitchFamily="34" charset="0"/>
              </a:rPr>
              <a:t> a </a:t>
            </a: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rPr>
              <a:t>classroom presentation.</a:t>
            </a:r>
          </a:p>
          <a:p>
            <a:pPr defTabSz="684213" fontAlgn="base">
              <a:lnSpc>
                <a:spcPct val="85000"/>
              </a:lnSpc>
              <a:spcBef>
                <a:spcPct val="30000"/>
              </a:spcBef>
              <a:spcAft>
                <a:spcPts val="600"/>
              </a:spcAft>
              <a:buClr>
                <a:srgbClr val="58585B"/>
              </a:buClr>
              <a:buSzPct val="90000"/>
              <a:defRPr/>
            </a:pPr>
            <a:endParaRPr 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endParaRPr>
          </a:p>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r>
              <a:rPr lang="en-US" sz="1400" dirty="0">
                <a:latin typeface="Arial" panose="020B0604020202020204" pitchFamily="34" charset="0"/>
                <a:ea typeface="+mn-lt"/>
                <a:cs typeface="Arial" panose="020B0604020202020204" pitchFamily="34" charset="0"/>
              </a:rPr>
              <a:t>Topic 1.1</a:t>
            </a:r>
          </a:p>
          <a:p>
            <a:pPr marL="285750" indent="-285750" defTabSz="684213">
              <a:buFont typeface="Arial"/>
              <a:buChar char="•"/>
              <a:defRPr/>
            </a:pPr>
            <a:r>
              <a:rPr lang="en-US" sz="1400" dirty="0">
                <a:latin typeface="Arial" panose="020B0604020202020204" pitchFamily="34" charset="0"/>
                <a:ea typeface="+mn-lt"/>
                <a:cs typeface="Arial" panose="020B0604020202020204" pitchFamily="34" charset="0"/>
              </a:rPr>
              <a:t>Ask the class what are the ways that attackers can uncover vulnerabilities and exploit systems within a domain.</a:t>
            </a:r>
          </a:p>
          <a:p>
            <a:pPr marL="285750" indent="-285750" defTabSz="684213">
              <a:buFont typeface="Arial"/>
              <a:buChar char="•"/>
              <a:defRPr/>
            </a:pPr>
            <a:r>
              <a:rPr lang="en-US" sz="1400" dirty="0">
                <a:latin typeface="Arial" panose="020B0604020202020204" pitchFamily="34" charset="0"/>
                <a:ea typeface="+mn-lt"/>
                <a:cs typeface="Arial" panose="020B0604020202020204" pitchFamily="34" charset="0"/>
              </a:rPr>
              <a:t>Ask the students to cite some examples of cyber threats.</a:t>
            </a:r>
            <a:endParaRPr lang="en-US" sz="1400" dirty="0">
              <a:latin typeface="Arial" panose="020B0604020202020204" pitchFamily="34" charset="0"/>
              <a:cs typeface="Arial" panose="020B0604020202020204" pitchFamily="34" charset="0"/>
            </a:endParaRPr>
          </a:p>
          <a:p>
            <a:pPr marL="285750" indent="-285750" defTabSz="684213">
              <a:buFont typeface="Arial"/>
              <a:buChar char="•"/>
              <a:defRPr/>
            </a:pPr>
            <a:r>
              <a:rPr lang="en-US" sz="1400" dirty="0">
                <a:latin typeface="Arial" panose="020B0604020202020204" pitchFamily="34" charset="0"/>
                <a:ea typeface="+mn-lt"/>
                <a:cs typeface="Arial" panose="020B0604020202020204" pitchFamily="34" charset="0"/>
              </a:rPr>
              <a:t>Discuss the differences between internal threats and external threats with  your students.</a:t>
            </a:r>
            <a:endParaRPr lang="en-US" sz="1400" dirty="0">
              <a:latin typeface="Arial" panose="020B0604020202020204" pitchFamily="34" charset="0"/>
              <a:cs typeface="Arial" panose="020B0604020202020204" pitchFamily="34" charset="0"/>
            </a:endParaRPr>
          </a:p>
          <a:p>
            <a:pPr marL="285750" indent="-285750" defTabSz="684213">
              <a:buFont typeface="Arial"/>
              <a:buChar char="•"/>
              <a:defRPr/>
            </a:pPr>
            <a:r>
              <a:rPr lang="en-US" sz="1400" dirty="0">
                <a:latin typeface="Arial" panose="020B0604020202020204" pitchFamily="34" charset="0"/>
                <a:ea typeface="+mn-lt"/>
                <a:cs typeface="Arial" panose="020B0604020202020204" pitchFamily="34" charset="0"/>
              </a:rPr>
              <a:t>Ask the students what are the ways that threats can be spread.</a:t>
            </a:r>
          </a:p>
          <a:p>
            <a:pPr marL="285750" indent="-285750" defTabSz="684213">
              <a:buFont typeface="Arial"/>
              <a:buChar char="•"/>
              <a:defRPr/>
            </a:pPr>
            <a:r>
              <a:rPr lang="en-US" sz="1400" dirty="0">
                <a:latin typeface="Arial" panose="020B0604020202020204" pitchFamily="34" charset="0"/>
                <a:ea typeface="+mn-lt"/>
                <a:cs typeface="Arial" panose="020B0604020202020204" pitchFamily="34" charset="0"/>
              </a:rPr>
              <a:t>Remind them that there are no technical solutions, controls or countermeasures that will make information systems any more secure than the behaviors and processes of the people who use these systems.</a:t>
            </a:r>
            <a:endParaRPr lang="en-US" sz="1400" dirty="0">
              <a:latin typeface="Arial" panose="020B0604020202020204" pitchFamily="34" charset="0"/>
              <a:cs typeface="Arial" panose="020B0604020202020204" pitchFamily="34" charset="0"/>
            </a:endParaRPr>
          </a:p>
          <a:p>
            <a:pPr marL="285750" indent="-285750" defTabSz="684213">
              <a:buFont typeface="Arial"/>
              <a:buChar char="•"/>
              <a:defRPr/>
            </a:pPr>
            <a:r>
              <a:rPr lang="en-US" sz="1400" dirty="0">
                <a:latin typeface="Arial" panose="020B0604020202020204" pitchFamily="34" charset="0"/>
                <a:ea typeface="+mn-lt"/>
                <a:cs typeface="Arial" panose="020B0604020202020204" pitchFamily="34" charset="0"/>
              </a:rPr>
              <a:t>Discuss different types of threats (to devices, to the LAN, to the private cloud, to the public cloud, to applications) with the students. </a:t>
            </a:r>
            <a:endParaRPr lang="en-US" sz="1400" dirty="0">
              <a:latin typeface="Arial" panose="020B0604020202020204" pitchFamily="34" charset="0"/>
              <a:cs typeface="Arial" panose="020B0604020202020204" pitchFamily="34" charset="0"/>
            </a:endParaRPr>
          </a:p>
          <a:p>
            <a:pPr marL="285750" indent="-285750" defTabSz="684213">
              <a:buFont typeface="Arial"/>
              <a:buChar char="•"/>
              <a:defRPr/>
            </a:pPr>
            <a:r>
              <a:rPr lang="en-US" sz="1400" dirty="0">
                <a:latin typeface="Arial" panose="020B0604020202020204" pitchFamily="34" charset="0"/>
                <a:ea typeface="+mn-lt"/>
                <a:cs typeface="Arial" panose="020B0604020202020204" pitchFamily="34" charset="0"/>
              </a:rPr>
              <a:t>Ask the students to think about potential physical threats to @Apollo’s offices and write down a few examples.</a:t>
            </a: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2669178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lIns="91440" tIns="45720" rIns="91440" bIns="45720" rtlCol="0" anchor="t"/>
          <a:lstStyle/>
          <a:p>
            <a:r>
              <a:rPr lang="en-US" sz="1600" dirty="0">
                <a:solidFill>
                  <a:srgbClr val="024C69"/>
                </a:solidFill>
                <a:latin typeface="Arial"/>
                <a:cs typeface="Arial"/>
              </a:rPr>
              <a:t>Module 1: Best Practices</a:t>
            </a:r>
            <a:r>
              <a:rPr lang="en-US">
                <a:latin typeface="Arial"/>
                <a:cs typeface="Arial"/>
              </a:rPr>
              <a:t> (Cont.)</a:t>
            </a:r>
            <a:endParaRPr lang="en-US" sz="1600"/>
          </a:p>
        </p:txBody>
      </p:sp>
      <p:sp>
        <p:nvSpPr>
          <p:cNvPr id="3" name="Text 1"/>
          <p:cNvSpPr/>
          <p:nvPr/>
        </p:nvSpPr>
        <p:spPr>
          <a:xfrm>
            <a:off x="64698" y="467983"/>
            <a:ext cx="8704052" cy="4585315"/>
          </a:xfrm>
          <a:prstGeom prst="rect">
            <a:avLst/>
          </a:prstGeom>
          <a:noFill/>
          <a:ln/>
        </p:spPr>
        <p:txBody>
          <a:bodyPr wrap="square" lIns="91440" tIns="45720" rIns="91440" bIns="45720"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r>
              <a:rPr lang="en-US" sz="1400" dirty="0">
                <a:latin typeface="Arial"/>
                <a:ea typeface="+mn-lt"/>
                <a:cs typeface="+mn-lt"/>
              </a:rPr>
              <a:t>Topic 1.2</a:t>
            </a:r>
            <a:endParaRPr lang="pt-BR" sz="1400" dirty="0">
              <a:latin typeface="Arial"/>
              <a:cs typeface="Arial"/>
            </a:endParaRPr>
          </a:p>
          <a:p>
            <a:pPr marL="358775" lvl="1" indent="-215900" defTabSz="684213" fontAlgn="base">
              <a:spcBef>
                <a:spcPts val="300"/>
              </a:spcBef>
              <a:spcAft>
                <a:spcPts val="300"/>
              </a:spcAft>
              <a:buClr>
                <a:srgbClr val="58585B"/>
              </a:buClr>
              <a:buFont typeface="Arial" charset="0"/>
              <a:buChar char="•"/>
              <a:defRPr/>
            </a:pPr>
            <a:r>
              <a:rPr lang="en-US" altLang="ja-JP" sz="1400" dirty="0">
                <a:latin typeface="Arial"/>
                <a:ea typeface="+mn-lt"/>
                <a:cs typeface="+mn-lt"/>
              </a:rPr>
              <a:t>Important to explain what social engineering is and present the common types of this type of attack.</a:t>
            </a:r>
          </a:p>
          <a:p>
            <a:pPr marL="358775" lvl="1" indent="-215900" defTabSz="684213">
              <a:spcBef>
                <a:spcPts val="300"/>
              </a:spcBef>
              <a:spcAft>
                <a:spcPts val="300"/>
              </a:spcAft>
              <a:buClr>
                <a:srgbClr val="58585B"/>
              </a:buClr>
              <a:buFont typeface="Arial" charset="0"/>
              <a:buChar char="•"/>
              <a:defRPr/>
            </a:pPr>
            <a:r>
              <a:rPr lang="en-US" altLang="ja-JP" sz="1400" dirty="0">
                <a:latin typeface="Arial"/>
                <a:ea typeface="游ゴシック"/>
                <a:cs typeface="Calibri"/>
              </a:rPr>
              <a:t>Ask the students to identify some social engineering tactics.</a:t>
            </a:r>
            <a:endParaRPr lang="en-US" altLang="ja-JP" sz="1400" dirty="0">
              <a:latin typeface="Arial"/>
              <a:cs typeface="Calibri"/>
            </a:endParaRPr>
          </a:p>
          <a:p>
            <a:pPr marL="358775" lvl="1" indent="-215900" defTabSz="684213">
              <a:spcBef>
                <a:spcPts val="300"/>
              </a:spcBef>
              <a:spcAft>
                <a:spcPts val="300"/>
              </a:spcAft>
              <a:buClr>
                <a:srgbClr val="58585B"/>
              </a:buClr>
              <a:buFont typeface="Arial" charset="0"/>
              <a:buChar char="•"/>
              <a:defRPr/>
            </a:pPr>
            <a:r>
              <a:rPr lang="en-US" sz="1400" dirty="0">
                <a:latin typeface="Arial"/>
                <a:ea typeface="游ゴシック"/>
                <a:cs typeface="Calibri"/>
              </a:rPr>
              <a:t>Most cyber attacks involve some form of deception. Discuss each type of deception with your class.</a:t>
            </a:r>
            <a:endParaRPr lang="en-US" altLang="ja-JP" sz="1400" dirty="0">
              <a:latin typeface="Arial"/>
              <a:ea typeface="游ゴシック"/>
              <a:cs typeface="Calibri"/>
            </a:endParaRPr>
          </a:p>
          <a:p>
            <a:pPr marL="358775" lvl="1" indent="-215900" defTabSz="684213">
              <a:spcBef>
                <a:spcPts val="300"/>
              </a:spcBef>
              <a:spcAft>
                <a:spcPts val="300"/>
              </a:spcAft>
              <a:buClr>
                <a:srgbClr val="58585B"/>
              </a:buClr>
              <a:buFont typeface="Arial" charset="0"/>
              <a:buChar char="•"/>
              <a:defRPr/>
            </a:pPr>
            <a:r>
              <a:rPr lang="en-US" sz="1400" dirty="0">
                <a:latin typeface="Arial"/>
                <a:ea typeface="游ゴシック"/>
                <a:cs typeface="Calibri"/>
              </a:rPr>
              <a:t>Let the students analyze some incidents that happened at @Apollo and be able to identify what kind of attack is related to each of them.</a:t>
            </a:r>
          </a:p>
          <a:p>
            <a:pPr marL="358775" lvl="1" indent="-215900" defTabSz="684213">
              <a:spcBef>
                <a:spcPts val="300"/>
              </a:spcBef>
              <a:spcAft>
                <a:spcPts val="300"/>
              </a:spcAft>
              <a:buClr>
                <a:srgbClr val="58585B"/>
              </a:buClr>
              <a:buFont typeface="Arial" charset="0"/>
              <a:buChar char="•"/>
              <a:defRPr/>
            </a:pPr>
            <a:r>
              <a:rPr lang="en-US" sz="1400" dirty="0">
                <a:latin typeface="Arial"/>
                <a:ea typeface="游ゴシック"/>
                <a:cs typeface="Calibri"/>
              </a:rPr>
              <a:t>Introduce students to some important tips to promote awareness of social engineering tactics and properly educate a company's employees about prevention measures.</a:t>
            </a:r>
          </a:p>
          <a:p>
            <a:pPr marL="358775" lvl="1" indent="-215900" defTabSz="684213">
              <a:spcBef>
                <a:spcPts val="300"/>
              </a:spcBef>
              <a:spcAft>
                <a:spcPts val="300"/>
              </a:spcAft>
              <a:buClr>
                <a:srgbClr val="58585B"/>
              </a:buClr>
              <a:buFont typeface="Arial" charset="0"/>
              <a:buChar char="•"/>
              <a:defRPr/>
            </a:pPr>
            <a:r>
              <a:rPr lang="en-US" sz="1400" dirty="0">
                <a:latin typeface="Arial"/>
                <a:ea typeface="游ゴシック"/>
                <a:cs typeface="Calibri"/>
              </a:rPr>
              <a:t>Ask the students to watch the 1.2.12 Video about Social Engineering and complete the 1.2.13 Lab.</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9</a:t>
            </a:fld>
            <a:endParaRPr lang="en-US"/>
          </a:p>
        </p:txBody>
      </p:sp>
    </p:spTree>
    <p:extLst>
      <p:ext uri="{BB962C8B-B14F-4D97-AF65-F5344CB8AC3E}">
        <p14:creationId xmlns:p14="http://schemas.microsoft.com/office/powerpoint/2010/main" val="4057206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lIns="91440" tIns="45720" rIns="91440" bIns="45720" rtlCol="0" anchor="t"/>
          <a:lstStyle/>
          <a:p>
            <a:r>
              <a:rPr lang="en-US" sz="1600" dirty="0">
                <a:solidFill>
                  <a:srgbClr val="024C69"/>
                </a:solidFill>
                <a:latin typeface="Arial"/>
                <a:cs typeface="Arial"/>
              </a:rPr>
              <a:t>Module 1: Best Practices</a:t>
            </a:r>
            <a:r>
              <a:rPr lang="en-US">
                <a:latin typeface="Arial"/>
                <a:cs typeface="Arial"/>
              </a:rPr>
              <a:t> (Cont.)</a:t>
            </a:r>
            <a:endParaRPr lang="en-US" sz="1600"/>
          </a:p>
        </p:txBody>
      </p:sp>
      <p:sp>
        <p:nvSpPr>
          <p:cNvPr id="3" name="Text 1"/>
          <p:cNvSpPr/>
          <p:nvPr/>
        </p:nvSpPr>
        <p:spPr>
          <a:xfrm>
            <a:off x="64698" y="467983"/>
            <a:ext cx="8704052" cy="4660796"/>
          </a:xfrm>
          <a:prstGeom prst="rect">
            <a:avLst/>
          </a:prstGeom>
          <a:noFill/>
          <a:ln/>
        </p:spPr>
        <p:txBody>
          <a:bodyPr wrap="square" lIns="91440" tIns="45720" rIns="91440" bIns="45720"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r>
              <a:rPr lang="en-US" sz="1400" dirty="0">
                <a:latin typeface="Arial" panose="020B0604020202020204" pitchFamily="34" charset="0"/>
                <a:ea typeface="+mn-lt"/>
                <a:cs typeface="Arial" panose="020B0604020202020204" pitchFamily="34" charset="0"/>
              </a:rPr>
              <a:t>Topic 1.3</a:t>
            </a:r>
            <a:endParaRPr lang="pt-BR" sz="1400" dirty="0">
              <a:latin typeface="Arial" panose="020B0604020202020204" pitchFamily="34" charset="0"/>
              <a:cs typeface="Arial" panose="020B0604020202020204" pitchFamily="34" charset="0"/>
            </a:endParaRPr>
          </a:p>
          <a:p>
            <a:pPr marL="358775" lvl="1" indent="-215900" defTabSz="684213">
              <a:spcBef>
                <a:spcPts val="300"/>
              </a:spcBef>
              <a:spcAft>
                <a:spcPts val="300"/>
              </a:spcAft>
              <a:buClr>
                <a:srgbClr val="58585B"/>
              </a:buClr>
              <a:buFont typeface="Arial" charset="0"/>
              <a:buChar char="•"/>
              <a:defRPr/>
            </a:pPr>
            <a:r>
              <a:rPr lang="en-US" altLang="ja-JP" sz="1400" dirty="0">
                <a:latin typeface="Arial" panose="020B0604020202020204" pitchFamily="34" charset="0"/>
                <a:ea typeface="游ゴシック"/>
                <a:cs typeface="Arial" panose="020B0604020202020204" pitchFamily="34" charset="0"/>
              </a:rPr>
              <a:t>Ask the students what are the three of the most common types of malware.</a:t>
            </a:r>
          </a:p>
          <a:p>
            <a:pPr marL="358775" lvl="1" indent="-215900" defTabSz="684213">
              <a:spcBef>
                <a:spcPts val="300"/>
              </a:spcBef>
              <a:spcAft>
                <a:spcPts val="300"/>
              </a:spcAft>
              <a:buClr>
                <a:srgbClr val="58585B"/>
              </a:buClr>
              <a:buFont typeface="Arial" charset="0"/>
              <a:buChar char="•"/>
              <a:defRPr/>
            </a:pPr>
            <a:r>
              <a:rPr lang="en-US" altLang="ja-JP" sz="1400" dirty="0">
                <a:latin typeface="Arial" panose="020B0604020202020204" pitchFamily="34" charset="0"/>
                <a:ea typeface="游ゴシック"/>
                <a:cs typeface="Arial" panose="020B0604020202020204" pitchFamily="34" charset="0"/>
              </a:rPr>
              <a:t>Ask the students if they know the difference between DoS and DDoS attacks.</a:t>
            </a:r>
          </a:p>
          <a:p>
            <a:pPr marL="358775" lvl="1" indent="-215900" defTabSz="684213">
              <a:spcBef>
                <a:spcPts val="300"/>
              </a:spcBef>
              <a:spcAft>
                <a:spcPts val="300"/>
              </a:spcAft>
              <a:buClr>
                <a:srgbClr val="58585B"/>
              </a:buClr>
              <a:buFont typeface="Arial" charset="0"/>
              <a:buChar char="•"/>
              <a:defRPr/>
            </a:pPr>
            <a:r>
              <a:rPr lang="en-US" altLang="ja-JP" sz="1400" dirty="0">
                <a:latin typeface="Arial" panose="020B0604020202020204" pitchFamily="34" charset="0"/>
                <a:ea typeface="游ゴシック"/>
                <a:cs typeface="Arial" panose="020B0604020202020204" pitchFamily="34" charset="0"/>
              </a:rPr>
              <a:t>Introduce to the students</a:t>
            </a:r>
          </a:p>
          <a:p>
            <a:pPr marL="358775" lvl="1" indent="-215900" defTabSz="684213">
              <a:spcBef>
                <a:spcPts val="300"/>
              </a:spcBef>
              <a:spcAft>
                <a:spcPts val="300"/>
              </a:spcAft>
              <a:buClr>
                <a:srgbClr val="58585B"/>
              </a:buClr>
              <a:buFont typeface="Arial" charset="0"/>
              <a:buChar char="•"/>
              <a:defRPr/>
            </a:pPr>
            <a:r>
              <a:rPr lang="en-US" sz="1400" dirty="0">
                <a:latin typeface="Arial" panose="020B0604020202020204" pitchFamily="34" charset="0"/>
                <a:cs typeface="Arial" panose="020B0604020202020204" pitchFamily="34" charset="0"/>
              </a:rPr>
              <a:t>Explain the different types of attacks (DNS, Layer 2, MitM, </a:t>
            </a:r>
            <a:r>
              <a:rPr lang="en-US" sz="1400" dirty="0" err="1">
                <a:latin typeface="Arial" panose="020B0604020202020204" pitchFamily="34" charset="0"/>
                <a:cs typeface="Arial" panose="020B0604020202020204" pitchFamily="34" charset="0"/>
              </a:rPr>
              <a:t>MitMo</a:t>
            </a:r>
            <a:r>
              <a:rPr lang="en-US" sz="1400" dirty="0">
                <a:latin typeface="Arial" panose="020B0604020202020204" pitchFamily="34" charset="0"/>
                <a:cs typeface="Arial" panose="020B0604020202020204" pitchFamily="34" charset="0"/>
              </a:rPr>
              <a:t>, Zero-Day) and ask the students to identify these attacks in different scenarios.</a:t>
            </a:r>
          </a:p>
          <a:p>
            <a:pPr marL="358775" lvl="1" indent="-215900" defTabSz="684213">
              <a:spcBef>
                <a:spcPts val="300"/>
              </a:spcBef>
              <a:spcAft>
                <a:spcPts val="300"/>
              </a:spcAft>
              <a:buClr>
                <a:srgbClr val="58585B"/>
              </a:buClr>
              <a:buFont typeface="Arial" charset="0"/>
              <a:buChar char="•"/>
              <a:defRPr/>
            </a:pPr>
            <a:r>
              <a:rPr lang="en-US" sz="1400" dirty="0">
                <a:latin typeface="Arial" panose="020B0604020202020204" pitchFamily="34" charset="0"/>
                <a:ea typeface="游ゴシック"/>
                <a:cs typeface="Arial" panose="020B0604020202020204" pitchFamily="34" charset="0"/>
              </a:rPr>
              <a:t>Organizations can take several steps to defend against various attacks. Ask the students for some examples of actions to protect organization networks.</a:t>
            </a:r>
          </a:p>
          <a:p>
            <a:pPr marL="142875" lvl="1" defTabSz="684213">
              <a:spcBef>
                <a:spcPts val="300"/>
              </a:spcBef>
              <a:spcAft>
                <a:spcPts val="300"/>
              </a:spcAft>
              <a:defRPr/>
            </a:pPr>
            <a:r>
              <a:rPr lang="en-US" sz="1400" dirty="0">
                <a:latin typeface="Arial" panose="020B0604020202020204" pitchFamily="34" charset="0"/>
                <a:ea typeface="游ゴシック"/>
                <a:cs typeface="Arial" panose="020B0604020202020204" pitchFamily="34" charset="0"/>
              </a:rPr>
              <a:t>Topic 1.4</a:t>
            </a:r>
            <a:endParaRPr lang="en-US" sz="1400" dirty="0">
              <a:latin typeface="Arial" panose="020B0604020202020204" pitchFamily="34" charset="0"/>
              <a:cs typeface="Arial" panose="020B0604020202020204" pitchFamily="34" charset="0"/>
            </a:endParaRPr>
          </a:p>
          <a:p>
            <a:pPr marL="428625" lvl="1" indent="-285750" defTabSz="684213">
              <a:spcBef>
                <a:spcPts val="300"/>
              </a:spcBef>
              <a:spcAft>
                <a:spcPts val="300"/>
              </a:spcAft>
              <a:buFont typeface="Arial"/>
              <a:buChar char="•"/>
              <a:defRPr/>
            </a:pPr>
            <a:r>
              <a:rPr lang="en-US" sz="1400" dirty="0">
                <a:latin typeface="Arial" panose="020B0604020202020204" pitchFamily="34" charset="0"/>
                <a:ea typeface="游ゴシック"/>
                <a:cs typeface="Arial" panose="020B0604020202020204" pitchFamily="34" charset="0"/>
              </a:rPr>
              <a:t>Ask the students if they know any kind of mobile device attacks.</a:t>
            </a:r>
          </a:p>
          <a:p>
            <a:pPr marL="428625" lvl="1" indent="-285750" defTabSz="684213">
              <a:spcBef>
                <a:spcPts val="300"/>
              </a:spcBef>
              <a:spcAft>
                <a:spcPts val="300"/>
              </a:spcAft>
              <a:buFont typeface="Arial"/>
              <a:buChar char="•"/>
              <a:defRPr/>
            </a:pPr>
            <a:r>
              <a:rPr lang="en-US" sz="1400" dirty="0">
                <a:latin typeface="Arial" panose="020B0604020202020204" pitchFamily="34" charset="0"/>
                <a:ea typeface="游ゴシック"/>
                <a:cs typeface="Arial" panose="020B0604020202020204" pitchFamily="34" charset="0"/>
              </a:rPr>
              <a:t>Ask the students if they know what Bluetooth is exactly and how it works.</a:t>
            </a:r>
          </a:p>
          <a:p>
            <a:pPr marL="428625" lvl="1" indent="-285750" defTabSz="684213">
              <a:spcBef>
                <a:spcPts val="300"/>
              </a:spcBef>
              <a:spcAft>
                <a:spcPts val="300"/>
              </a:spcAft>
              <a:buFont typeface="Arial"/>
              <a:buChar char="•"/>
              <a:defRPr/>
            </a:pPr>
            <a:r>
              <a:rPr lang="en-US" sz="1400" dirty="0">
                <a:latin typeface="Arial" panose="020B0604020202020204" pitchFamily="34" charset="0"/>
                <a:ea typeface="游ゴシック"/>
                <a:cs typeface="Arial" panose="020B0604020202020204" pitchFamily="34" charset="0"/>
              </a:rPr>
              <a:t>Try to present different scenarios with mobile device attacks and associate them with the types of attacks described.</a:t>
            </a:r>
          </a:p>
          <a:p>
            <a:pPr marL="428625" lvl="1" indent="-285750" defTabSz="684213">
              <a:spcBef>
                <a:spcPts val="300"/>
              </a:spcBef>
              <a:spcAft>
                <a:spcPts val="300"/>
              </a:spcAft>
              <a:buFont typeface="Arial"/>
              <a:buChar char="•"/>
              <a:defRPr/>
            </a:pPr>
            <a:r>
              <a:rPr lang="en-US" sz="1400" dirty="0">
                <a:latin typeface="Arial" panose="020B0604020202020204" pitchFamily="34" charset="0"/>
                <a:ea typeface="游ゴシック"/>
                <a:cs typeface="Arial" panose="020B0604020202020204" pitchFamily="34" charset="0"/>
              </a:rPr>
              <a:t>There are several steps that organizations and users need to take to defend against wireless and mobile device attacks. Explain each of them to your class.</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1332761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lIns="91440" tIns="45720" rIns="91440" bIns="45720" rtlCol="0" anchor="t"/>
          <a:lstStyle/>
          <a:p>
            <a:r>
              <a:rPr lang="en-US" sz="1600" dirty="0">
                <a:solidFill>
                  <a:srgbClr val="024C69"/>
                </a:solidFill>
                <a:latin typeface="Arial"/>
                <a:cs typeface="Arial"/>
              </a:rPr>
              <a:t>Module 1: Best Practices</a:t>
            </a:r>
            <a:r>
              <a:rPr lang="en-US">
                <a:latin typeface="Arial"/>
                <a:cs typeface="Arial"/>
              </a:rPr>
              <a:t> (Cont.)</a:t>
            </a:r>
            <a:endParaRPr lang="en-US" sz="1600"/>
          </a:p>
        </p:txBody>
      </p:sp>
      <p:sp>
        <p:nvSpPr>
          <p:cNvPr id="3" name="Text 1"/>
          <p:cNvSpPr/>
          <p:nvPr/>
        </p:nvSpPr>
        <p:spPr>
          <a:xfrm>
            <a:off x="64698" y="467983"/>
            <a:ext cx="8704052" cy="1932693"/>
          </a:xfrm>
          <a:prstGeom prst="rect">
            <a:avLst/>
          </a:prstGeom>
          <a:noFill/>
          <a:ln/>
        </p:spPr>
        <p:txBody>
          <a:bodyPr wrap="square" lIns="91440" tIns="45720" rIns="91440" bIns="45720"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r>
              <a:rPr lang="en-US" sz="1400" dirty="0">
                <a:latin typeface="Arial"/>
                <a:ea typeface="+mn-lt"/>
                <a:cs typeface="+mn-lt"/>
              </a:rPr>
              <a:t>Topic 1.5</a:t>
            </a:r>
          </a:p>
          <a:p>
            <a:pPr marL="285750" indent="-285750" defTabSz="684213">
              <a:lnSpc>
                <a:spcPct val="85000"/>
              </a:lnSpc>
              <a:spcBef>
                <a:spcPct val="30000"/>
              </a:spcBef>
              <a:spcAft>
                <a:spcPts val="600"/>
              </a:spcAft>
              <a:buFont typeface="Arial"/>
              <a:buChar char="•"/>
              <a:defRPr/>
            </a:pPr>
            <a:r>
              <a:rPr lang="en-US" sz="1400" dirty="0">
                <a:latin typeface="Arial"/>
                <a:ea typeface="游ゴシック"/>
                <a:cs typeface="Calibri"/>
              </a:rPr>
              <a:t>Explain different types of applications attacks comparing them with real scenarios.</a:t>
            </a:r>
          </a:p>
          <a:p>
            <a:pPr marL="285750" indent="-285750" defTabSz="684213">
              <a:lnSpc>
                <a:spcPct val="85000"/>
              </a:lnSpc>
              <a:spcBef>
                <a:spcPct val="30000"/>
              </a:spcBef>
              <a:spcAft>
                <a:spcPts val="600"/>
              </a:spcAft>
              <a:buFont typeface="Arial"/>
              <a:buChar char="•"/>
              <a:defRPr/>
            </a:pPr>
            <a:r>
              <a:rPr lang="en-US" sz="1400" dirty="0">
                <a:latin typeface="Arial"/>
                <a:ea typeface="游ゴシック"/>
                <a:cs typeface="Calibri"/>
              </a:rPr>
              <a:t>Present attack scenarios and ask the students to identify the type of attack and propose some kind of defense against this attack. </a:t>
            </a:r>
          </a:p>
          <a:p>
            <a:pPr marL="285750" indent="-285750" defTabSz="684213">
              <a:lnSpc>
                <a:spcPct val="85000"/>
              </a:lnSpc>
              <a:spcBef>
                <a:spcPct val="30000"/>
              </a:spcBef>
              <a:spcAft>
                <a:spcPts val="600"/>
              </a:spcAft>
              <a:buFont typeface="Arial"/>
              <a:buChar char="•"/>
              <a:defRPr/>
            </a:pPr>
            <a:r>
              <a:rPr lang="en-US" sz="1400" dirty="0">
                <a:latin typeface="Arial"/>
                <a:ea typeface="游ゴシック"/>
                <a:cs typeface="Calibri"/>
              </a:rPr>
              <a:t>Ask the students to report some experience about email and browser attacks.</a:t>
            </a:r>
          </a:p>
          <a:p>
            <a:pPr marL="285750" indent="-285750" defTabSz="684213">
              <a:lnSpc>
                <a:spcPct val="85000"/>
              </a:lnSpc>
              <a:spcBef>
                <a:spcPct val="30000"/>
              </a:spcBef>
              <a:spcAft>
                <a:spcPts val="600"/>
              </a:spcAft>
              <a:buFont typeface="Arial"/>
              <a:buChar char="•"/>
              <a:defRPr/>
            </a:pPr>
            <a:r>
              <a:rPr lang="en-US" sz="1400" dirty="0">
                <a:latin typeface="Arial"/>
                <a:ea typeface="游ゴシック"/>
                <a:cs typeface="Calibri"/>
              </a:rPr>
              <a:t>Introduce to them some actions to defend against email and browser attacks.</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11</a:t>
            </a:fld>
            <a:endParaRPr lang="en-US"/>
          </a:p>
        </p:txBody>
      </p:sp>
    </p:spTree>
    <p:extLst>
      <p:ext uri="{BB962C8B-B14F-4D97-AF65-F5344CB8AC3E}">
        <p14:creationId xmlns:p14="http://schemas.microsoft.com/office/powerpoint/2010/main" val="2497688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nchor="ctr"/>
          <a:lstStyle/>
          <a:p>
            <a:pPr marL="0" indent="0">
              <a:buNone/>
            </a:pPr>
            <a:r>
              <a:rPr lang="en-US" sz="4200">
                <a:solidFill>
                  <a:srgbClr val="AFE8FB"/>
                </a:solidFill>
                <a:latin typeface="Arial" pitchFamily="34" charset="0"/>
                <a:ea typeface="Arial" pitchFamily="34" charset="-122"/>
                <a:cs typeface="Arial" pitchFamily="34" charset="-120"/>
              </a:rPr>
              <a:t>Module 1: Cybersecurity Threats, Vulnerabilities, and Attacks</a:t>
            </a:r>
            <a:endParaRPr lang="en-US" sz="42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Cybersecurity Essentials 3.0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Module Objectives</a:t>
            </a:r>
            <a:endParaRPr lang="en-US" sz="2200"/>
          </a:p>
        </p:txBody>
      </p:sp>
      <p:sp>
        <p:nvSpPr>
          <p:cNvPr id="5" name="Rectangle 34">
            <a:extLst>
              <a:ext uri="{FF2B5EF4-FFF2-40B4-BE49-F238E27FC236}">
                <a16:creationId xmlns:a16="http://schemas.microsoft.com/office/drawing/2014/main" id="{7188AF34-F17D-65FE-91B6-733B90851DC8}"/>
              </a:ext>
            </a:extLst>
          </p:cNvPr>
          <p:cNvSpPr txBox="1">
            <a:spLocks noChangeArrowheads="1"/>
          </p:cNvSpPr>
          <p:nvPr/>
        </p:nvSpPr>
        <p:spPr>
          <a:xfrm>
            <a:off x="116793" y="460408"/>
            <a:ext cx="8695135" cy="5833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30000"/>
              </a:spcBef>
              <a:buFont typeface="Arial" pitchFamily="34" charset="0"/>
              <a:buNone/>
            </a:pPr>
            <a:r>
              <a:rPr lang="en-US" sz="1400" b="1">
                <a:latin typeface="Arial" panose="020B0604020202020204" pitchFamily="34" charset="0"/>
                <a:cs typeface="Arial" panose="020B0604020202020204" pitchFamily="34" charset="0"/>
              </a:rPr>
              <a:t>Module Title:</a:t>
            </a:r>
            <a:r>
              <a:rPr lang="en-US" sz="1400">
                <a:latin typeface="Arial" panose="020B0604020202020204" pitchFamily="34" charset="0"/>
                <a:cs typeface="Arial" panose="020B0604020202020204" pitchFamily="34" charset="0"/>
              </a:rPr>
              <a:t> Cybersecurity Threats, Vulnerabilities, and Attacks</a:t>
            </a:r>
          </a:p>
          <a:p>
            <a:pPr marL="0" indent="0">
              <a:spcBef>
                <a:spcPct val="30000"/>
              </a:spcBef>
              <a:buFont typeface="Arial" pitchFamily="34" charset="0"/>
              <a:buNone/>
            </a:pPr>
            <a:r>
              <a:rPr lang="en-US" sz="1400" b="1">
                <a:latin typeface="Arial" panose="020B0604020202020204" pitchFamily="34" charset="0"/>
                <a:cs typeface="Arial" panose="020B0604020202020204" pitchFamily="34" charset="0"/>
              </a:rPr>
              <a:t>Module Objective:</a:t>
            </a:r>
            <a:r>
              <a:rPr lang="en-US" sz="1400">
                <a:latin typeface="Arial" panose="020B0604020202020204" pitchFamily="34" charset="0"/>
                <a:cs typeface="Arial" panose="020B0604020202020204" pitchFamily="34" charset="0"/>
              </a:rPr>
              <a:t> Explain how threat actors execute some of the most common types of cyber attacks.</a:t>
            </a:r>
          </a:p>
        </p:txBody>
      </p:sp>
      <p:graphicFrame>
        <p:nvGraphicFramePr>
          <p:cNvPr id="4" name="Table 4">
            <a:extLst>
              <a:ext uri="{FF2B5EF4-FFF2-40B4-BE49-F238E27FC236}">
                <a16:creationId xmlns:a16="http://schemas.microsoft.com/office/drawing/2014/main" id="{40064EF4-EE2B-342C-EA9E-699582F380FF}"/>
              </a:ext>
            </a:extLst>
          </p:cNvPr>
          <p:cNvGraphicFramePr>
            <a:graphicFrameLocks noGrp="1"/>
          </p:cNvGraphicFramePr>
          <p:nvPr>
            <p:extLst>
              <p:ext uri="{D42A27DB-BD31-4B8C-83A1-F6EECF244321}">
                <p14:modId xmlns:p14="http://schemas.microsoft.com/office/powerpoint/2010/main" val="7608624"/>
              </p:ext>
            </p:extLst>
          </p:nvPr>
        </p:nvGraphicFramePr>
        <p:xfrm>
          <a:off x="332072" y="1295963"/>
          <a:ext cx="8354728" cy="2667000"/>
        </p:xfrm>
        <a:graphic>
          <a:graphicData uri="http://schemas.openxmlformats.org/drawingml/2006/table">
            <a:tbl>
              <a:tblPr firstRow="1" bandRow="1">
                <a:tableStyleId>{5C22544A-7EE6-4342-B048-85BDC9FD1C3A}</a:tableStyleId>
              </a:tblPr>
              <a:tblGrid>
                <a:gridCol w="2437968">
                  <a:extLst>
                    <a:ext uri="{9D8B030D-6E8A-4147-A177-3AD203B41FA5}">
                      <a16:colId xmlns:a16="http://schemas.microsoft.com/office/drawing/2014/main" val="1540795028"/>
                    </a:ext>
                  </a:extLst>
                </a:gridCol>
                <a:gridCol w="5916760">
                  <a:extLst>
                    <a:ext uri="{9D8B030D-6E8A-4147-A177-3AD203B41FA5}">
                      <a16:colId xmlns:a16="http://schemas.microsoft.com/office/drawing/2014/main" val="2968452238"/>
                    </a:ext>
                  </a:extLst>
                </a:gridCol>
              </a:tblGrid>
              <a:tr h="370840">
                <a:tc>
                  <a:txBody>
                    <a:bodyPr/>
                    <a:lstStyle/>
                    <a:p>
                      <a:pPr algn="l"/>
                      <a:r>
                        <a:rPr lang="en-US" sz="1400">
                          <a:latin typeface="Arial" panose="020B0604020202020204" pitchFamily="34" charset="0"/>
                          <a:cs typeface="Arial" panose="020B0604020202020204" pitchFamily="34" charset="0"/>
                        </a:rPr>
                        <a:t>Topic Title</a:t>
                      </a:r>
                    </a:p>
                  </a:txBody>
                  <a:tcPr/>
                </a:tc>
                <a:tc>
                  <a:txBody>
                    <a:bodyPr/>
                    <a:lstStyle/>
                    <a:p>
                      <a:pPr algn="l"/>
                      <a:r>
                        <a:rPr lang="en-US" sz="1400">
                          <a:latin typeface="Arial" panose="020B0604020202020204" pitchFamily="34" charset="0"/>
                          <a:cs typeface="Arial" panose="020B0604020202020204" pitchFamily="34" charset="0"/>
                        </a:rPr>
                        <a:t>Topic Objective</a:t>
                      </a:r>
                    </a:p>
                  </a:txBody>
                  <a:tcPr/>
                </a:tc>
                <a:extLst>
                  <a:ext uri="{0D108BD9-81ED-4DB2-BD59-A6C34878D82A}">
                    <a16:rowId xmlns:a16="http://schemas.microsoft.com/office/drawing/2014/main" val="317262977"/>
                  </a:ext>
                </a:extLst>
              </a:tr>
              <a:tr h="370840">
                <a:tc>
                  <a:txBody>
                    <a:bodyPr/>
                    <a:lstStyle/>
                    <a:p>
                      <a:r>
                        <a:rPr lang="en-US" sz="1400" b="1">
                          <a:latin typeface="Arial" panose="020B0604020202020204" pitchFamily="34" charset="0"/>
                          <a:cs typeface="Arial" panose="020B0604020202020204" pitchFamily="34" charset="0"/>
                        </a:rPr>
                        <a:t>Common Threats</a:t>
                      </a:r>
                      <a:endParaRPr lang="en-US" sz="1400">
                        <a:latin typeface="Arial" panose="020B0604020202020204" pitchFamily="34" charset="0"/>
                        <a:cs typeface="Arial" panose="020B0604020202020204" pitchFamily="34" charset="0"/>
                      </a:endParaRPr>
                    </a:p>
                  </a:txBody>
                  <a:tcPr anchor="ctr"/>
                </a:tc>
                <a:tc>
                  <a:txBody>
                    <a:bodyPr/>
                    <a:lstStyle/>
                    <a:p>
                      <a:r>
                        <a:rPr lang="en-US" sz="1400">
                          <a:latin typeface="Arial" panose="020B0604020202020204" pitchFamily="34" charset="0"/>
                          <a:cs typeface="Arial" panose="020B0604020202020204" pitchFamily="34" charset="0"/>
                        </a:rPr>
                        <a:t>Explain the threats, vulnerabilities, and attacks that occur in the various domains.</a:t>
                      </a:r>
                    </a:p>
                  </a:txBody>
                  <a:tcPr anchor="ctr"/>
                </a:tc>
                <a:extLst>
                  <a:ext uri="{0D108BD9-81ED-4DB2-BD59-A6C34878D82A}">
                    <a16:rowId xmlns:a16="http://schemas.microsoft.com/office/drawing/2014/main" val="2377890904"/>
                  </a:ext>
                </a:extLst>
              </a:tr>
              <a:tr h="370840">
                <a:tc>
                  <a:txBody>
                    <a:bodyPr/>
                    <a:lstStyle/>
                    <a:p>
                      <a:r>
                        <a:rPr lang="en-US" sz="1400" b="1">
                          <a:latin typeface="Arial" panose="020B0604020202020204" pitchFamily="34" charset="0"/>
                          <a:cs typeface="Arial" panose="020B0604020202020204" pitchFamily="34" charset="0"/>
                        </a:rPr>
                        <a:t>Deception</a:t>
                      </a:r>
                      <a:endParaRPr lang="en-US" sz="1400">
                        <a:latin typeface="Arial" panose="020B0604020202020204" pitchFamily="34" charset="0"/>
                        <a:cs typeface="Arial" panose="020B0604020202020204" pitchFamily="34" charset="0"/>
                      </a:endParaRPr>
                    </a:p>
                  </a:txBody>
                  <a:tcPr anchor="ctr"/>
                </a:tc>
                <a:tc>
                  <a:txBody>
                    <a:bodyPr/>
                    <a:lstStyle/>
                    <a:p>
                      <a:r>
                        <a:rPr lang="en-US" sz="1400">
                          <a:latin typeface="Arial" panose="020B0604020202020204" pitchFamily="34" charset="0"/>
                          <a:cs typeface="Arial" panose="020B0604020202020204" pitchFamily="34" charset="0"/>
                        </a:rPr>
                        <a:t>Identify the different deception methods used by attackers to deceive their victims.</a:t>
                      </a:r>
                    </a:p>
                  </a:txBody>
                  <a:tcPr anchor="ctr"/>
                </a:tc>
                <a:extLst>
                  <a:ext uri="{0D108BD9-81ED-4DB2-BD59-A6C34878D82A}">
                    <a16:rowId xmlns:a16="http://schemas.microsoft.com/office/drawing/2014/main" val="2281025351"/>
                  </a:ext>
                </a:extLst>
              </a:tr>
              <a:tr h="370840">
                <a:tc>
                  <a:txBody>
                    <a:bodyPr/>
                    <a:lstStyle/>
                    <a:p>
                      <a:r>
                        <a:rPr lang="en-US" sz="1400" b="1">
                          <a:latin typeface="Arial" panose="020B0604020202020204" pitchFamily="34" charset="0"/>
                          <a:cs typeface="Arial" panose="020B0604020202020204" pitchFamily="34" charset="0"/>
                        </a:rPr>
                        <a:t>Cyber Attacks</a:t>
                      </a:r>
                      <a:endParaRPr lang="en-US" sz="1400">
                        <a:latin typeface="Arial" panose="020B0604020202020204" pitchFamily="34" charset="0"/>
                        <a:cs typeface="Arial" panose="020B0604020202020204" pitchFamily="34" charset="0"/>
                      </a:endParaRPr>
                    </a:p>
                  </a:txBody>
                  <a:tcPr anchor="ctr"/>
                </a:tc>
                <a:tc>
                  <a:txBody>
                    <a:bodyPr/>
                    <a:lstStyle/>
                    <a:p>
                      <a:r>
                        <a:rPr lang="en-US" sz="1400">
                          <a:latin typeface="Arial" panose="020B0604020202020204" pitchFamily="34" charset="0"/>
                          <a:cs typeface="Arial" panose="020B0604020202020204" pitchFamily="34" charset="0"/>
                        </a:rPr>
                        <a:t>Describe some common types of network attacks.</a:t>
                      </a:r>
                    </a:p>
                  </a:txBody>
                  <a:tcPr anchor="ctr"/>
                </a:tc>
                <a:extLst>
                  <a:ext uri="{0D108BD9-81ED-4DB2-BD59-A6C34878D82A}">
                    <a16:rowId xmlns:a16="http://schemas.microsoft.com/office/drawing/2014/main" val="2217849980"/>
                  </a:ext>
                </a:extLst>
              </a:tr>
              <a:tr h="370840">
                <a:tc>
                  <a:txBody>
                    <a:bodyPr/>
                    <a:lstStyle/>
                    <a:p>
                      <a:r>
                        <a:rPr lang="en-US" sz="1400" b="1">
                          <a:latin typeface="Arial" panose="020B0604020202020204" pitchFamily="34" charset="0"/>
                          <a:cs typeface="Arial" panose="020B0604020202020204" pitchFamily="34" charset="0"/>
                        </a:rPr>
                        <a:t>Wireless and Mobile Device Attacks</a:t>
                      </a:r>
                      <a:endParaRPr lang="en-US" sz="1400">
                        <a:latin typeface="Arial" panose="020B0604020202020204" pitchFamily="34" charset="0"/>
                        <a:cs typeface="Arial" panose="020B0604020202020204" pitchFamily="34" charset="0"/>
                      </a:endParaRPr>
                    </a:p>
                  </a:txBody>
                  <a:tcPr anchor="ctr"/>
                </a:tc>
                <a:tc>
                  <a:txBody>
                    <a:bodyPr/>
                    <a:lstStyle/>
                    <a:p>
                      <a:r>
                        <a:rPr lang="en-US" sz="1400">
                          <a:latin typeface="Arial" panose="020B0604020202020204" pitchFamily="34" charset="0"/>
                          <a:cs typeface="Arial" panose="020B0604020202020204" pitchFamily="34" charset="0"/>
                        </a:rPr>
                        <a:t>Describe common types of wireless and mobile device attacks.</a:t>
                      </a:r>
                    </a:p>
                  </a:txBody>
                  <a:tcPr anchor="ctr"/>
                </a:tc>
                <a:extLst>
                  <a:ext uri="{0D108BD9-81ED-4DB2-BD59-A6C34878D82A}">
                    <a16:rowId xmlns:a16="http://schemas.microsoft.com/office/drawing/2014/main" val="2496010669"/>
                  </a:ext>
                </a:extLst>
              </a:tr>
              <a:tr h="370840">
                <a:tc>
                  <a:txBody>
                    <a:bodyPr/>
                    <a:lstStyle/>
                    <a:p>
                      <a:r>
                        <a:rPr lang="en-US" sz="1400" b="1">
                          <a:latin typeface="Arial" panose="020B0604020202020204" pitchFamily="34" charset="0"/>
                          <a:cs typeface="Arial" panose="020B0604020202020204" pitchFamily="34" charset="0"/>
                        </a:rPr>
                        <a:t>Application Attacks</a:t>
                      </a:r>
                      <a:endParaRPr lang="en-US" sz="1400">
                        <a:latin typeface="Arial" panose="020B0604020202020204" pitchFamily="34" charset="0"/>
                        <a:cs typeface="Arial" panose="020B0604020202020204" pitchFamily="34" charset="0"/>
                      </a:endParaRPr>
                    </a:p>
                  </a:txBody>
                  <a:tcPr anchor="ctr"/>
                </a:tc>
                <a:tc>
                  <a:txBody>
                    <a:bodyPr/>
                    <a:lstStyle/>
                    <a:p>
                      <a:r>
                        <a:rPr lang="en-US" sz="1400" dirty="0">
                          <a:latin typeface="Arial" panose="020B0604020202020204" pitchFamily="34" charset="0"/>
                          <a:cs typeface="Arial" panose="020B0604020202020204" pitchFamily="34" charset="0"/>
                        </a:rPr>
                        <a:t>Describe types of application attacks.</a:t>
                      </a:r>
                    </a:p>
                  </a:txBody>
                  <a:tcPr anchor="ctr"/>
                </a:tc>
                <a:extLst>
                  <a:ext uri="{0D108BD9-81ED-4DB2-BD59-A6C34878D82A}">
                    <a16:rowId xmlns:a16="http://schemas.microsoft.com/office/drawing/2014/main" val="1415166879"/>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13</a:t>
            </a:fld>
            <a:endParaRPr lang="en-US"/>
          </a:p>
        </p:txBody>
      </p:sp>
    </p:spTree>
    <p:extLst>
      <p:ext uri="{BB962C8B-B14F-4D97-AF65-F5344CB8AC3E}">
        <p14:creationId xmlns:p14="http://schemas.microsoft.com/office/powerpoint/2010/main" val="152567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a:solidFill>
                  <a:srgbClr val="B1E8FA"/>
                </a:solidFill>
                <a:latin typeface="Arial" pitchFamily="34" charset="0"/>
                <a:ea typeface="Arial" pitchFamily="34" charset="-122"/>
                <a:cs typeface="Arial" pitchFamily="34" charset="-120"/>
              </a:rPr>
              <a:t>1.1 Common Threats</a:t>
            </a:r>
            <a:endParaRPr lang="en-US" sz="460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Common Threats</a:t>
            </a:r>
            <a:endParaRPr lang="en-US" sz="1600" dirty="0"/>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Threat Domains</a:t>
            </a:r>
            <a:endParaRPr lang="en-US" sz="2200" dirty="0"/>
          </a:p>
        </p:txBody>
      </p:sp>
      <p:sp>
        <p:nvSpPr>
          <p:cNvPr id="5" name="Text 2"/>
          <p:cNvSpPr/>
          <p:nvPr/>
        </p:nvSpPr>
        <p:spPr>
          <a:xfrm>
            <a:off x="97797" y="903078"/>
            <a:ext cx="8229600" cy="3337343"/>
          </a:xfrm>
          <a:prstGeom prst="rect">
            <a:avLst/>
          </a:prstGeom>
          <a:noFill/>
          <a:ln/>
        </p:spPr>
        <p:txBody>
          <a:bodyPr wrap="square" lIns="91440" tIns="45720" rIns="91440" bIns="45720" rtlCol="0" anchor="t"/>
          <a:lstStyle/>
          <a:p>
            <a:r>
              <a:rPr lang="en-US" sz="1400" dirty="0">
                <a:latin typeface="Arial" panose="020B0604020202020204" pitchFamily="34" charset="0"/>
                <a:ea typeface="+mn-lt"/>
                <a:cs typeface="Arial" panose="020B0604020202020204" pitchFamily="34" charset="0"/>
              </a:rPr>
              <a:t>A ‘threat domain’ is considered an area of control, authority, or protection that attackers can exploit to gain access to a system.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1400" b="0" i="0" dirty="0">
                <a:effectLst/>
                <a:latin typeface="Arial" panose="020B0604020202020204" pitchFamily="34" charset="0"/>
                <a:ea typeface="+mn-lt"/>
                <a:cs typeface="Arial" panose="020B0604020202020204" pitchFamily="34" charset="0"/>
              </a:rPr>
              <a:t>Attackers can exploit systems within a domain through:</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Direct, physical access to systems and networks.</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Wireless networking extends beyond an organization’s boundaries.</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Bluetooth</a:t>
            </a:r>
            <a:r>
              <a:rPr lang="en-US" sz="1400" dirty="0">
                <a:latin typeface="Arial" panose="020B0604020202020204" pitchFamily="34" charset="0"/>
                <a:ea typeface="+mn-lt"/>
                <a:cs typeface="Arial" panose="020B0604020202020204" pitchFamily="34" charset="0"/>
              </a:rPr>
              <a:t> </a:t>
            </a:r>
            <a:r>
              <a:rPr lang="en-US" sz="1400" b="0" i="0" dirty="0">
                <a:effectLst/>
                <a:latin typeface="Arial" panose="020B0604020202020204" pitchFamily="34" charset="0"/>
                <a:ea typeface="+mn-lt"/>
                <a:cs typeface="Arial" panose="020B0604020202020204" pitchFamily="34" charset="0"/>
              </a:rPr>
              <a:t>or near-field communication (NFC) devices.</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Malicious email attachments.</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Less secure elements within an organization’s supply chain.</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An organization’s social media accounts.</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Removable media such as flash drives.</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Cloud-based applications.</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endParaRPr lang="en-US" sz="1400" b="0" i="0" dirty="0">
              <a:effectLst/>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Common Threats</a:t>
            </a:r>
            <a:endParaRPr lang="en-US" sz="1600"/>
          </a:p>
        </p:txBody>
      </p:sp>
      <p:sp>
        <p:nvSpPr>
          <p:cNvPr id="3" name="Text 0"/>
          <p:cNvSpPr>
            <a:spLocks noGrp="1"/>
          </p:cNvSpPr>
          <p:nvPr>
            <p:ph type="body" idx="100" hasCustomPrompt="1"/>
          </p:nvPr>
        </p:nvSpPr>
        <p:spPr>
          <a:xfrm>
            <a:off x="0" y="274320"/>
            <a:ext cx="9144000" cy="365766"/>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Types of Cyber Threats</a:t>
            </a:r>
            <a:endParaRPr lang="en-US" sz="2200"/>
          </a:p>
        </p:txBody>
      </p:sp>
      <p:graphicFrame>
        <p:nvGraphicFramePr>
          <p:cNvPr id="7" name="Table 7">
            <a:extLst>
              <a:ext uri="{FF2B5EF4-FFF2-40B4-BE49-F238E27FC236}">
                <a16:creationId xmlns:a16="http://schemas.microsoft.com/office/drawing/2014/main" id="{24171400-4125-02DE-A275-574BCA66E4B5}"/>
              </a:ext>
            </a:extLst>
          </p:cNvPr>
          <p:cNvGraphicFramePr>
            <a:graphicFrameLocks noGrp="1"/>
          </p:cNvGraphicFramePr>
          <p:nvPr>
            <p:extLst>
              <p:ext uri="{D42A27DB-BD31-4B8C-83A1-F6EECF244321}">
                <p14:modId xmlns:p14="http://schemas.microsoft.com/office/powerpoint/2010/main" val="4197033057"/>
              </p:ext>
            </p:extLst>
          </p:nvPr>
        </p:nvGraphicFramePr>
        <p:xfrm>
          <a:off x="301925" y="676755"/>
          <a:ext cx="8660920" cy="4417013"/>
        </p:xfrm>
        <a:graphic>
          <a:graphicData uri="http://schemas.openxmlformats.org/drawingml/2006/table">
            <a:tbl>
              <a:tblPr firstRow="1" bandRow="1">
                <a:tableStyleId>{5C22544A-7EE6-4342-B048-85BDC9FD1C3A}</a:tableStyleId>
              </a:tblPr>
              <a:tblGrid>
                <a:gridCol w="2197913">
                  <a:extLst>
                    <a:ext uri="{9D8B030D-6E8A-4147-A177-3AD203B41FA5}">
                      <a16:colId xmlns:a16="http://schemas.microsoft.com/office/drawing/2014/main" val="2696861426"/>
                    </a:ext>
                  </a:extLst>
                </a:gridCol>
                <a:gridCol w="6463007">
                  <a:extLst>
                    <a:ext uri="{9D8B030D-6E8A-4147-A177-3AD203B41FA5}">
                      <a16:colId xmlns:a16="http://schemas.microsoft.com/office/drawing/2014/main" val="898974973"/>
                    </a:ext>
                  </a:extLst>
                </a:gridCol>
              </a:tblGrid>
              <a:tr h="241541">
                <a:tc>
                  <a:txBody>
                    <a:bodyPr/>
                    <a:lstStyle/>
                    <a:p>
                      <a:r>
                        <a:rPr lang="en-US" sz="1300">
                          <a:latin typeface="Arial" panose="020B0604020202020204" pitchFamily="34" charset="0"/>
                          <a:cs typeface="Arial" panose="020B0604020202020204" pitchFamily="34" charset="0"/>
                        </a:rPr>
                        <a:t>Category</a:t>
                      </a:r>
                    </a:p>
                  </a:txBody>
                  <a:tcPr/>
                </a:tc>
                <a:tc>
                  <a:txBody>
                    <a:bodyPr/>
                    <a:lstStyle/>
                    <a:p>
                      <a:r>
                        <a:rPr lang="en-US" sz="1300">
                          <a:latin typeface="Arial" panose="020B0604020202020204" pitchFamily="34" charset="0"/>
                          <a:cs typeface="Arial" panose="020B0604020202020204" pitchFamily="34" charset="0"/>
                        </a:rPr>
                        <a:t>Types of Cyber Threats</a:t>
                      </a:r>
                    </a:p>
                  </a:txBody>
                  <a:tcPr/>
                </a:tc>
                <a:extLst>
                  <a:ext uri="{0D108BD9-81ED-4DB2-BD59-A6C34878D82A}">
                    <a16:rowId xmlns:a16="http://schemas.microsoft.com/office/drawing/2014/main" val="65444359"/>
                  </a:ext>
                </a:extLst>
              </a:tr>
              <a:tr h="423773">
                <a:tc>
                  <a:txBody>
                    <a:bodyPr/>
                    <a:lstStyle/>
                    <a:p>
                      <a:r>
                        <a:rPr lang="en-US" sz="1300">
                          <a:latin typeface="Arial" panose="020B0604020202020204" pitchFamily="34" charset="0"/>
                          <a:cs typeface="Arial" panose="020B0604020202020204" pitchFamily="34" charset="0"/>
                        </a:rPr>
                        <a:t>Software Attacks</a:t>
                      </a:r>
                    </a:p>
                  </a:txBody>
                  <a:tcPr/>
                </a:tc>
                <a:tc>
                  <a:txBody>
                    <a:bodyPr/>
                    <a:lstStyle/>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A successful denial-of-service (DoS attack).</a:t>
                      </a:r>
                    </a:p>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A computer virus.</a:t>
                      </a:r>
                    </a:p>
                  </a:txBody>
                  <a:tcPr/>
                </a:tc>
                <a:extLst>
                  <a:ext uri="{0D108BD9-81ED-4DB2-BD59-A6C34878D82A}">
                    <a16:rowId xmlns:a16="http://schemas.microsoft.com/office/drawing/2014/main" val="268281481"/>
                  </a:ext>
                </a:extLst>
              </a:tr>
              <a:tr h="423773">
                <a:tc>
                  <a:txBody>
                    <a:bodyPr/>
                    <a:lstStyle/>
                    <a:p>
                      <a:r>
                        <a:rPr lang="en-US" sz="1300">
                          <a:latin typeface="Arial" panose="020B0604020202020204" pitchFamily="34" charset="0"/>
                          <a:cs typeface="Arial" panose="020B0604020202020204" pitchFamily="34" charset="0"/>
                        </a:rPr>
                        <a:t>Software Errors</a:t>
                      </a:r>
                    </a:p>
                  </a:txBody>
                  <a:tcPr/>
                </a:tc>
                <a:tc>
                  <a:txBody>
                    <a:bodyPr/>
                    <a:lstStyle/>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A software bug.</a:t>
                      </a:r>
                    </a:p>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An application going offline.</a:t>
                      </a:r>
                    </a:p>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A cross-site script or illegal file server share.</a:t>
                      </a:r>
                    </a:p>
                  </a:txBody>
                  <a:tcPr/>
                </a:tc>
                <a:extLst>
                  <a:ext uri="{0D108BD9-81ED-4DB2-BD59-A6C34878D82A}">
                    <a16:rowId xmlns:a16="http://schemas.microsoft.com/office/drawing/2014/main" val="4019590664"/>
                  </a:ext>
                </a:extLst>
              </a:tr>
              <a:tr h="423773">
                <a:tc>
                  <a:txBody>
                    <a:bodyPr/>
                    <a:lstStyle/>
                    <a:p>
                      <a:r>
                        <a:rPr lang="en-US" sz="1300">
                          <a:latin typeface="Arial" panose="020B0604020202020204" pitchFamily="34" charset="0"/>
                          <a:cs typeface="Arial" panose="020B0604020202020204" pitchFamily="34" charset="0"/>
                        </a:rPr>
                        <a:t>Sabotage</a:t>
                      </a:r>
                    </a:p>
                  </a:txBody>
                  <a:tcPr/>
                </a:tc>
                <a:tc>
                  <a:txBody>
                    <a:bodyPr/>
                    <a:lstStyle/>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An authorized user compromising an organization’s primary database.</a:t>
                      </a:r>
                    </a:p>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The defacement of an organization’s website.</a:t>
                      </a:r>
                    </a:p>
                  </a:txBody>
                  <a:tcPr/>
                </a:tc>
                <a:extLst>
                  <a:ext uri="{0D108BD9-81ED-4DB2-BD59-A6C34878D82A}">
                    <a16:rowId xmlns:a16="http://schemas.microsoft.com/office/drawing/2014/main" val="3907103025"/>
                  </a:ext>
                </a:extLst>
              </a:tr>
              <a:tr h="423773">
                <a:tc>
                  <a:txBody>
                    <a:bodyPr/>
                    <a:lstStyle/>
                    <a:p>
                      <a:r>
                        <a:rPr lang="en-US" sz="1300">
                          <a:latin typeface="Arial" panose="020B0604020202020204" pitchFamily="34" charset="0"/>
                          <a:cs typeface="Arial" panose="020B0604020202020204" pitchFamily="34" charset="0"/>
                        </a:rPr>
                        <a:t>Human Error</a:t>
                      </a:r>
                    </a:p>
                  </a:txBody>
                  <a:tcPr/>
                </a:tc>
                <a:tc>
                  <a:txBody>
                    <a:bodyPr/>
                    <a:lstStyle/>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Inadvertent data entry errors.</a:t>
                      </a:r>
                    </a:p>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A firewall misconfiguration.</a:t>
                      </a:r>
                    </a:p>
                  </a:txBody>
                  <a:tcPr/>
                </a:tc>
                <a:extLst>
                  <a:ext uri="{0D108BD9-81ED-4DB2-BD59-A6C34878D82A}">
                    <a16:rowId xmlns:a16="http://schemas.microsoft.com/office/drawing/2014/main" val="2117811689"/>
                  </a:ext>
                </a:extLst>
              </a:tr>
              <a:tr h="313715">
                <a:tc>
                  <a:txBody>
                    <a:bodyPr/>
                    <a:lstStyle/>
                    <a:p>
                      <a:r>
                        <a:rPr lang="en-US" sz="1300">
                          <a:latin typeface="Arial" panose="020B0604020202020204" pitchFamily="34" charset="0"/>
                          <a:cs typeface="Arial" panose="020B0604020202020204" pitchFamily="34" charset="0"/>
                        </a:rPr>
                        <a:t>Theft</a:t>
                      </a:r>
                    </a:p>
                  </a:txBody>
                  <a:tcPr/>
                </a:tc>
                <a:tc>
                  <a:txBody>
                    <a:bodyPr/>
                    <a:lstStyle/>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Laptops or equipment being stolen from an unlocked room.</a:t>
                      </a:r>
                    </a:p>
                  </a:txBody>
                  <a:tcPr/>
                </a:tc>
                <a:extLst>
                  <a:ext uri="{0D108BD9-81ED-4DB2-BD59-A6C34878D82A}">
                    <a16:rowId xmlns:a16="http://schemas.microsoft.com/office/drawing/2014/main" val="4247073244"/>
                  </a:ext>
                </a:extLst>
              </a:tr>
              <a:tr h="293298">
                <a:tc>
                  <a:txBody>
                    <a:bodyPr/>
                    <a:lstStyle/>
                    <a:p>
                      <a:r>
                        <a:rPr lang="en-US" sz="1300">
                          <a:latin typeface="Arial" panose="020B0604020202020204" pitchFamily="34" charset="0"/>
                          <a:cs typeface="Arial" panose="020B0604020202020204" pitchFamily="34" charset="0"/>
                        </a:rPr>
                        <a:t>Hardware Failures</a:t>
                      </a:r>
                    </a:p>
                  </a:txBody>
                  <a:tcPr/>
                </a:tc>
                <a:tc>
                  <a:txBody>
                    <a:bodyPr/>
                    <a:lstStyle/>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Hard drive crashes</a:t>
                      </a:r>
                    </a:p>
                  </a:txBody>
                  <a:tcPr/>
                </a:tc>
                <a:extLst>
                  <a:ext uri="{0D108BD9-81ED-4DB2-BD59-A6C34878D82A}">
                    <a16:rowId xmlns:a16="http://schemas.microsoft.com/office/drawing/2014/main" val="2845526064"/>
                  </a:ext>
                </a:extLst>
              </a:tr>
              <a:tr h="423773">
                <a:tc>
                  <a:txBody>
                    <a:bodyPr/>
                    <a:lstStyle/>
                    <a:p>
                      <a:r>
                        <a:rPr lang="en-US" sz="1300">
                          <a:latin typeface="Arial" panose="020B0604020202020204" pitchFamily="34" charset="0"/>
                          <a:cs typeface="Arial" panose="020B0604020202020204" pitchFamily="34" charset="0"/>
                        </a:rPr>
                        <a:t>Utility Interruption</a:t>
                      </a:r>
                    </a:p>
                  </a:txBody>
                  <a:tcPr/>
                </a:tc>
                <a:tc>
                  <a:txBody>
                    <a:bodyPr/>
                    <a:lstStyle/>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Electrical power outages.</a:t>
                      </a:r>
                    </a:p>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Water damage resulting from sprinkler failure.</a:t>
                      </a:r>
                    </a:p>
                  </a:txBody>
                  <a:tcPr/>
                </a:tc>
                <a:extLst>
                  <a:ext uri="{0D108BD9-81ED-4DB2-BD59-A6C34878D82A}">
                    <a16:rowId xmlns:a16="http://schemas.microsoft.com/office/drawing/2014/main" val="2775153364"/>
                  </a:ext>
                </a:extLst>
              </a:tr>
              <a:tr h="423773">
                <a:tc>
                  <a:txBody>
                    <a:bodyPr/>
                    <a:lstStyle/>
                    <a:p>
                      <a:r>
                        <a:rPr lang="en-US" sz="1300">
                          <a:latin typeface="Arial" panose="020B0604020202020204" pitchFamily="34" charset="0"/>
                          <a:cs typeface="Arial" panose="020B0604020202020204" pitchFamily="34" charset="0"/>
                        </a:rPr>
                        <a:t>Natural Disasters</a:t>
                      </a:r>
                    </a:p>
                  </a:txBody>
                  <a:tcPr/>
                </a:tc>
                <a:tc>
                  <a:txBody>
                    <a:bodyPr/>
                    <a:lstStyle/>
                    <a:p>
                      <a:pPr marL="285750"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Severe storms such as hurricanes or tornados.</a:t>
                      </a:r>
                    </a:p>
                    <a:p>
                      <a:pPr marL="285750"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Earthquakes.</a:t>
                      </a:r>
                    </a:p>
                    <a:p>
                      <a:pPr marL="285750"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Floods.</a:t>
                      </a:r>
                    </a:p>
                    <a:p>
                      <a:pPr marL="285750"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Fires.</a:t>
                      </a:r>
                    </a:p>
                  </a:txBody>
                  <a:tcPr/>
                </a:tc>
                <a:extLst>
                  <a:ext uri="{0D108BD9-81ED-4DB2-BD59-A6C34878D82A}">
                    <a16:rowId xmlns:a16="http://schemas.microsoft.com/office/drawing/2014/main" val="488391351"/>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Common Threats</a:t>
            </a:r>
            <a:endParaRPr lang="en-US" sz="1600"/>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Internal vs External Threats</a:t>
            </a:r>
            <a:endParaRPr lang="en-US" sz="2200"/>
          </a:p>
        </p:txBody>
      </p:sp>
      <p:sp>
        <p:nvSpPr>
          <p:cNvPr id="5" name="Text 2"/>
          <p:cNvSpPr/>
          <p:nvPr/>
        </p:nvSpPr>
        <p:spPr>
          <a:xfrm>
            <a:off x="280358" y="882051"/>
            <a:ext cx="4666889" cy="3531438"/>
          </a:xfrm>
          <a:prstGeom prst="rect">
            <a:avLst/>
          </a:prstGeom>
          <a:noFill/>
          <a:ln/>
        </p:spPr>
        <p:txBody>
          <a:bodyPr wrap="square" lIns="91440" tIns="45720" rIns="91440" bIns="45720" rtlCol="0" anchor="t"/>
          <a:lstStyle/>
          <a:p>
            <a:r>
              <a:rPr lang="en-US" sz="1400" dirty="0">
                <a:latin typeface="Arial" panose="020B0604020202020204" pitchFamily="34" charset="0"/>
                <a:ea typeface="+mn-lt"/>
                <a:cs typeface="Arial" panose="020B0604020202020204" pitchFamily="34" charset="0"/>
              </a:rPr>
              <a:t>Valuable, sensitive information is personnel records, intellectual property, and financial data. </a:t>
            </a:r>
            <a:endParaRPr lang="en-US"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Internal threats</a:t>
            </a:r>
          </a:p>
          <a:p>
            <a:pPr marL="285750" indent="-285750">
              <a:lnSpc>
                <a:spcPts val="2000"/>
              </a:lnSpc>
              <a:buFont typeface="Arial"/>
              <a:buChar char="•"/>
            </a:pPr>
            <a:r>
              <a:rPr lang="en-US" sz="1400" dirty="0">
                <a:latin typeface="Arial" panose="020B0604020202020204" pitchFamily="34" charset="0"/>
                <a:cs typeface="Arial" panose="020B0604020202020204" pitchFamily="34" charset="0"/>
              </a:rPr>
              <a:t>Accidentally or intentionally carried out by current or former employees and other contract partners.</a:t>
            </a:r>
            <a:endParaRPr lang="en-US" dirty="0">
              <a:latin typeface="Arial" panose="020B0604020202020204" pitchFamily="34" charset="0"/>
              <a:cs typeface="Arial" panose="020B0604020202020204" pitchFamily="34" charset="0"/>
            </a:endParaRPr>
          </a:p>
          <a:p>
            <a:pPr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Operation of servers or network infrastructure</a:t>
            </a:r>
          </a:p>
          <a:p>
            <a:pPr>
              <a:lnSpc>
                <a:spcPts val="2000"/>
              </a:lnSpc>
            </a:pPr>
            <a:r>
              <a:rPr lang="en-US" sz="1400" dirty="0">
                <a:latin typeface="Arial" panose="020B0604020202020204" pitchFamily="34" charset="0"/>
                <a:cs typeface="Arial" panose="020B0604020202020204" pitchFamily="34" charset="0"/>
              </a:rPr>
              <a:t>      devices are compromised by connecting infected </a:t>
            </a:r>
          </a:p>
          <a:p>
            <a:pPr>
              <a:lnSpc>
                <a:spcPts val="2000"/>
              </a:lnSpc>
            </a:pPr>
            <a:r>
              <a:rPr lang="en-US" sz="1400" dirty="0">
                <a:latin typeface="Arial" panose="020B0604020202020204" pitchFamily="34" charset="0"/>
                <a:cs typeface="Arial" panose="020B0604020202020204" pitchFamily="34" charset="0"/>
              </a:rPr>
              <a:t>      media or by accessing malicious emails or websites.</a:t>
            </a:r>
          </a:p>
          <a:p>
            <a:pPr>
              <a:lnSpc>
                <a:spcPts val="2000"/>
              </a:lnSpc>
            </a:pPr>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External threats</a:t>
            </a:r>
          </a:p>
          <a:p>
            <a:pPr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It usually comes from amateur or skilled attackers.</a:t>
            </a:r>
          </a:p>
          <a:p>
            <a:pPr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Attacks can exploit vulnerabilities in networked</a:t>
            </a:r>
          </a:p>
          <a:p>
            <a:pPr>
              <a:lnSpc>
                <a:spcPts val="2000"/>
              </a:lnSpc>
            </a:pPr>
            <a:r>
              <a:rPr lang="en-US" sz="1400" dirty="0">
                <a:latin typeface="Arial" panose="020B0604020202020204" pitchFamily="34" charset="0"/>
                <a:cs typeface="Arial" panose="020B0604020202020204" pitchFamily="34" charset="0"/>
              </a:rPr>
              <a:t>      devices or can use social engineering techniques.</a:t>
            </a:r>
            <a:endParaRPr lang="en-US"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95EFC57-D9AD-B4C4-4F4A-8FF681416CA2}"/>
              </a:ext>
            </a:extLst>
          </p:cNvPr>
          <p:cNvPicPr>
            <a:picLocks noChangeAspect="1"/>
          </p:cNvPicPr>
          <p:nvPr/>
        </p:nvPicPr>
        <p:blipFill>
          <a:blip r:embed="rId3"/>
          <a:stretch>
            <a:fillRect/>
          </a:stretch>
        </p:blipFill>
        <p:spPr>
          <a:xfrm>
            <a:off x="5055078" y="871268"/>
            <a:ext cx="3742267" cy="3529013"/>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a:extLst>
              <a:ext uri="{C183D7F6-B498-43B3-948B-1728B52AA6E4}">
                <adec:decorative xmlns:adec="http://schemas.microsoft.com/office/drawing/2017/decorative" val="1"/>
              </a:ext>
            </a:extLst>
          </p:cNvPr>
          <p:cNvSpPr>
            <a:spLocks noGrp="1"/>
          </p:cNvSpPr>
          <p:nvPr>
            <p:ph type="body" idx="101" hasCustomPrompt="1"/>
          </p:nvPr>
        </p:nvSpPr>
        <p:spPr>
          <a:xfrm>
            <a:off x="0" y="0"/>
            <a:ext cx="9041313"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Common Threats</a:t>
            </a:r>
            <a:endParaRPr lang="en-US" sz="1600"/>
          </a:p>
        </p:txBody>
      </p:sp>
      <p:sp>
        <p:nvSpPr>
          <p:cNvPr id="3" name="Text 0"/>
          <p:cNvSpPr>
            <a:spLocks noGrp="1"/>
          </p:cNvSpPr>
          <p:nvPr>
            <p:ph type="body" idx="100" hasCustomPrompt="1"/>
          </p:nvPr>
        </p:nvSpPr>
        <p:spPr>
          <a:xfrm>
            <a:off x="0" y="274320"/>
            <a:ext cx="9144000" cy="53848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User Threats and Vulnerabilities</a:t>
            </a:r>
            <a:endParaRPr lang="en-US" sz="2200"/>
          </a:p>
        </p:txBody>
      </p:sp>
      <p:sp>
        <p:nvSpPr>
          <p:cNvPr id="5" name="Text 2"/>
          <p:cNvSpPr/>
          <p:nvPr/>
        </p:nvSpPr>
        <p:spPr>
          <a:xfrm>
            <a:off x="390434" y="758126"/>
            <a:ext cx="8277798" cy="1190585"/>
          </a:xfrm>
          <a:prstGeom prst="rect">
            <a:avLst/>
          </a:prstGeom>
          <a:noFill/>
          <a:ln/>
        </p:spPr>
        <p:txBody>
          <a:bodyPr wrap="square" lIns="91440" tIns="45720" rIns="91440" bIns="45720" rtlCol="0" anchor="t"/>
          <a:lstStyle/>
          <a:p>
            <a:pPr>
              <a:lnSpc>
                <a:spcPts val="2000"/>
              </a:lnSpc>
            </a:pPr>
            <a:r>
              <a:rPr lang="en-US" sz="1400" dirty="0">
                <a:latin typeface="Arial" panose="020B0604020202020204" pitchFamily="34" charset="0"/>
                <a:ea typeface="+mn-lt"/>
                <a:cs typeface="Arial" panose="020B0604020202020204" pitchFamily="34" charset="0"/>
              </a:rPr>
              <a:t>A user domain includes anyone accessing an organization’s information system, including employees, customers, and contract partners. </a:t>
            </a:r>
            <a:r>
              <a:rPr lang="en-US" sz="1400" b="0" i="0" dirty="0">
                <a:effectLst/>
                <a:latin typeface="Arial" panose="020B0604020202020204" pitchFamily="34" charset="0"/>
                <a:ea typeface="+mn-lt"/>
                <a:cs typeface="Arial" panose="020B0604020202020204" pitchFamily="34" charset="0"/>
              </a:rPr>
              <a:t>Users are the weakest link in information security systems, posing a significant threat to the confidentiality, integrity</a:t>
            </a:r>
            <a:r>
              <a:rPr lang="en-US" sz="1400" dirty="0">
                <a:latin typeface="Arial" panose="020B0604020202020204" pitchFamily="34" charset="0"/>
                <a:ea typeface="+mn-lt"/>
                <a:cs typeface="Arial" panose="020B0604020202020204" pitchFamily="34" charset="0"/>
              </a:rPr>
              <a:t>,</a:t>
            </a:r>
            <a:r>
              <a:rPr lang="en-US" sz="1400" b="0" i="0" dirty="0">
                <a:effectLst/>
                <a:latin typeface="Arial" panose="020B0604020202020204" pitchFamily="34" charset="0"/>
                <a:ea typeface="+mn-lt"/>
                <a:cs typeface="Arial" panose="020B0604020202020204" pitchFamily="34" charset="0"/>
              </a:rPr>
              <a:t> and availability of an organization’s data.</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40F185B-ACF6-1897-A226-4ACDF9620855}"/>
              </a:ext>
            </a:extLst>
          </p:cNvPr>
          <p:cNvSpPr txBox="1"/>
          <p:nvPr/>
        </p:nvSpPr>
        <p:spPr>
          <a:xfrm>
            <a:off x="558017" y="1988057"/>
            <a:ext cx="4846350" cy="2120902"/>
          </a:xfrm>
          <a:prstGeom prst="rect">
            <a:avLst/>
          </a:prstGeom>
          <a:noFill/>
        </p:spPr>
        <p:txBody>
          <a:bodyPr wrap="square" lIns="91440" tIns="45720" rIns="91440" bIns="45720" rtlCol="0" anchor="t">
            <a:spAutoFit/>
          </a:bodyPr>
          <a:lstStyle/>
          <a:p>
            <a:pPr>
              <a:lnSpc>
                <a:spcPts val="2000"/>
              </a:lnSpc>
            </a:pPr>
            <a:r>
              <a:rPr lang="en-US" sz="1400" dirty="0">
                <a:latin typeface="Arial"/>
                <a:ea typeface="+mn-lt"/>
                <a:cs typeface="Arial"/>
              </a:rPr>
              <a:t>Examples of User Threats are:</a:t>
            </a:r>
            <a:endParaRPr lang="en-US" dirty="0"/>
          </a:p>
          <a:p>
            <a:pPr>
              <a:lnSpc>
                <a:spcPts val="2000"/>
              </a:lnSpc>
            </a:pPr>
            <a:endParaRPr lang="en-US" sz="1400" dirty="0">
              <a:latin typeface="Arial"/>
              <a:ea typeface="+mn-lt"/>
              <a:cs typeface="Arial"/>
            </a:endParaRPr>
          </a:p>
          <a:p>
            <a:pPr marL="285750" indent="-285750">
              <a:lnSpc>
                <a:spcPts val="2000"/>
              </a:lnSpc>
              <a:buFont typeface="Arial" panose="020B0604020202020204" pitchFamily="34" charset="0"/>
              <a:buChar char="•"/>
            </a:pPr>
            <a:r>
              <a:rPr lang="en-US" sz="1400" dirty="0">
                <a:latin typeface="Arial"/>
                <a:ea typeface="+mn-lt"/>
                <a:cs typeface="Arial"/>
              </a:rPr>
              <a:t>No awareness of security policies</a:t>
            </a:r>
            <a:endParaRPr lang="en-US" dirty="0"/>
          </a:p>
          <a:p>
            <a:pPr marL="285750" indent="-285750">
              <a:lnSpc>
                <a:spcPts val="2000"/>
              </a:lnSpc>
              <a:buFont typeface="Arial" panose="020B0604020202020204" pitchFamily="34" charset="0"/>
              <a:buChar char="•"/>
            </a:pPr>
            <a:r>
              <a:rPr lang="en-US" sz="1400" dirty="0">
                <a:latin typeface="Arial"/>
                <a:ea typeface="+mn-lt"/>
                <a:cs typeface="Arial"/>
              </a:rPr>
              <a:t>Poorly enforced security policies</a:t>
            </a:r>
            <a:endParaRPr lang="en-US" dirty="0"/>
          </a:p>
          <a:p>
            <a:pPr marL="285750" indent="-285750">
              <a:lnSpc>
                <a:spcPts val="2000"/>
              </a:lnSpc>
              <a:buFont typeface="Arial" panose="020B0604020202020204" pitchFamily="34" charset="0"/>
              <a:buChar char="•"/>
            </a:pPr>
            <a:r>
              <a:rPr lang="en-US" sz="1400" dirty="0">
                <a:latin typeface="Arial"/>
                <a:ea typeface="+mn-lt"/>
                <a:cs typeface="Arial"/>
              </a:rPr>
              <a:t>Data theft</a:t>
            </a:r>
            <a:endParaRPr lang="en-US" dirty="0"/>
          </a:p>
          <a:p>
            <a:pPr marL="285750" indent="-285750">
              <a:lnSpc>
                <a:spcPts val="2000"/>
              </a:lnSpc>
              <a:buFont typeface="Arial" panose="020B0604020202020204" pitchFamily="34" charset="0"/>
              <a:buChar char="•"/>
            </a:pPr>
            <a:r>
              <a:rPr lang="en-US" sz="1400" dirty="0">
                <a:latin typeface="Arial"/>
                <a:ea typeface="+mn-lt"/>
                <a:cs typeface="Arial"/>
              </a:rPr>
              <a:t>Unauthorized activity: downloads, media, VPNs, websites</a:t>
            </a:r>
            <a:endParaRPr lang="en-US" dirty="0"/>
          </a:p>
          <a:p>
            <a:pPr marL="285750" indent="-285750">
              <a:lnSpc>
                <a:spcPts val="2000"/>
              </a:lnSpc>
              <a:buFont typeface="Arial" panose="020B0604020202020204" pitchFamily="34" charset="0"/>
              <a:buChar char="•"/>
            </a:pPr>
            <a:r>
              <a:rPr lang="en-US" sz="1400" dirty="0">
                <a:latin typeface="Arial"/>
                <a:ea typeface="+mn-lt"/>
                <a:cs typeface="Arial"/>
              </a:rPr>
              <a:t>Destruction of systems, applications, or data</a:t>
            </a:r>
            <a:endParaRPr lang="en-US" dirty="0">
              <a:latin typeface="Arial"/>
              <a:cs typeface="Arial"/>
            </a:endParaRPr>
          </a:p>
        </p:txBody>
      </p:sp>
      <p:pic>
        <p:nvPicPr>
          <p:cNvPr id="8" name="Picture 7">
            <a:extLst>
              <a:ext uri="{FF2B5EF4-FFF2-40B4-BE49-F238E27FC236}">
                <a16:creationId xmlns:a16="http://schemas.microsoft.com/office/drawing/2014/main" id="{1D0FFB6C-2322-4CED-30FC-99A3516A069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731242" y="1797231"/>
            <a:ext cx="2854741" cy="2501965"/>
          </a:xfrm>
          <a:prstGeom prst="rect">
            <a:avLst/>
          </a:prstGeom>
        </p:spPr>
      </p:pic>
      <p:sp>
        <p:nvSpPr>
          <p:cNvPr id="25" name="Slide Number Placeholder 0">
            <a:extLst>
              <a:ext uri="{C183D7F6-B498-43B3-948B-1728B52AA6E4}">
                <adec:decorative xmlns:adec="http://schemas.microsoft.com/office/drawing/2017/decorative" val="1"/>
              </a:ext>
            </a:extLst>
          </p:cNvPr>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Common Threats</a:t>
            </a:r>
            <a:endParaRPr lang="en-US" sz="1600"/>
          </a:p>
        </p:txBody>
      </p:sp>
      <p:sp>
        <p:nvSpPr>
          <p:cNvPr id="3" name="Text 0"/>
          <p:cNvSpPr>
            <a:spLocks noGrp="1"/>
          </p:cNvSpPr>
          <p:nvPr>
            <p:ph type="body" idx="100" hasCustomPrompt="1"/>
          </p:nvPr>
        </p:nvSpPr>
        <p:spPr>
          <a:xfrm>
            <a:off x="0" y="274320"/>
            <a:ext cx="9144000" cy="526896"/>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Threats to Devices</a:t>
            </a:r>
            <a:endParaRPr lang="en-US" sz="2200"/>
          </a:p>
        </p:txBody>
      </p:sp>
      <p:sp>
        <p:nvSpPr>
          <p:cNvPr id="4" name="CaixaDeTexto 3">
            <a:extLst>
              <a:ext uri="{FF2B5EF4-FFF2-40B4-BE49-F238E27FC236}">
                <a16:creationId xmlns:a16="http://schemas.microsoft.com/office/drawing/2014/main" id="{1D61DD85-1329-8A74-5349-C9BEECE1EB60}"/>
              </a:ext>
            </a:extLst>
          </p:cNvPr>
          <p:cNvSpPr txBox="1"/>
          <p:nvPr/>
        </p:nvSpPr>
        <p:spPr>
          <a:xfrm>
            <a:off x="207663" y="1155978"/>
            <a:ext cx="5809425"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latin typeface="Arial" panose="020B0604020202020204" pitchFamily="34" charset="0"/>
                <a:ea typeface="+mn-lt"/>
                <a:cs typeface="Arial" panose="020B0604020202020204" pitchFamily="34" charset="0"/>
              </a:rPr>
              <a:t>Devices left powered on and unattended.</a:t>
            </a:r>
          </a:p>
          <a:p>
            <a:pPr marL="285750" indent="-285750">
              <a:buFont typeface="Arial"/>
              <a:buChar char="•"/>
            </a:pPr>
            <a:r>
              <a:rPr lang="en-US" sz="1400" dirty="0">
                <a:latin typeface="Arial" panose="020B0604020202020204" pitchFamily="34" charset="0"/>
                <a:ea typeface="+mn-lt"/>
                <a:cs typeface="Arial" panose="020B0604020202020204" pitchFamily="34" charset="0"/>
              </a:rPr>
              <a:t>Downloading files, photos, music or videos from unreliable sources.</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Software with vulnerabilities installed on an organization’s devices.</a:t>
            </a:r>
          </a:p>
          <a:p>
            <a:pPr marL="285750" indent="-285750">
              <a:buFont typeface="Arial"/>
              <a:buChar char="•"/>
            </a:pPr>
            <a:r>
              <a:rPr lang="en-US" sz="1400" dirty="0">
                <a:latin typeface="Arial" panose="020B0604020202020204" pitchFamily="34" charset="0"/>
                <a:ea typeface="+mn-lt"/>
                <a:cs typeface="Arial" panose="020B0604020202020204" pitchFamily="34" charset="0"/>
              </a:rPr>
              <a:t>New viruses, worms and other type of malware.</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cs typeface="Arial" panose="020B0604020202020204" pitchFamily="34" charset="0"/>
              </a:rPr>
              <a:t>Insertion of </a:t>
            </a:r>
            <a:r>
              <a:rPr lang="en-US" sz="1400" dirty="0">
                <a:latin typeface="Arial" panose="020B0604020202020204" pitchFamily="34" charset="0"/>
                <a:ea typeface="+mn-lt"/>
                <a:cs typeface="Arial" panose="020B0604020202020204" pitchFamily="34" charset="0"/>
              </a:rPr>
              <a:t>unauthorized USB drives, CDs or DVDs on networking devices.</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cs typeface="Arial" panose="020B0604020202020204" pitchFamily="34" charset="0"/>
              </a:rPr>
              <a:t>No policies </a:t>
            </a:r>
            <a:r>
              <a:rPr lang="en-US" sz="1400" dirty="0">
                <a:latin typeface="Arial" panose="020B0604020202020204" pitchFamily="34" charset="0"/>
                <a:ea typeface="+mn-lt"/>
                <a:cs typeface="Arial" panose="020B0604020202020204" pitchFamily="34" charset="0"/>
              </a:rPr>
              <a:t>in place to protect an organization’s IT infrastructure.</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Use of outdated hardware or software</a:t>
            </a:r>
            <a:endParaRPr lang="en-US" sz="1400" dirty="0">
              <a:latin typeface="Arial" panose="020B0604020202020204" pitchFamily="34" charset="0"/>
              <a:cs typeface="Arial" panose="020B0604020202020204" pitchFamily="34" charset="0"/>
            </a:endParaRPr>
          </a:p>
          <a:p>
            <a:endParaRPr lang="pt-BR" dirty="0">
              <a:cs typeface="Calibri" panose="020F0502020204030204"/>
            </a:endParaRPr>
          </a:p>
        </p:txBody>
      </p:sp>
      <p:pic>
        <p:nvPicPr>
          <p:cNvPr id="6" name="Imagem 6">
            <a:extLst>
              <a:ext uri="{FF2B5EF4-FFF2-40B4-BE49-F238E27FC236}">
                <a16:creationId xmlns:a16="http://schemas.microsoft.com/office/drawing/2014/main" id="{380530A8-CC96-53AD-2616-D072DB787AD8}"/>
              </a:ext>
            </a:extLst>
          </p:cNvPr>
          <p:cNvPicPr>
            <a:picLocks noChangeAspect="1"/>
          </p:cNvPicPr>
          <p:nvPr/>
        </p:nvPicPr>
        <p:blipFill>
          <a:blip r:embed="rId3"/>
          <a:stretch>
            <a:fillRect/>
          </a:stretch>
        </p:blipFill>
        <p:spPr>
          <a:xfrm>
            <a:off x="6159890" y="1334130"/>
            <a:ext cx="2776447" cy="2194883"/>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Common Threats</a:t>
            </a:r>
            <a:endParaRPr lang="en-US" sz="1600"/>
          </a:p>
        </p:txBody>
      </p:sp>
      <p:sp>
        <p:nvSpPr>
          <p:cNvPr id="3" name="Text 0"/>
          <p:cNvSpPr>
            <a:spLocks noGrp="1"/>
          </p:cNvSpPr>
          <p:nvPr>
            <p:ph type="body" idx="100" hasCustomPrompt="1"/>
          </p:nvPr>
        </p:nvSpPr>
        <p:spPr>
          <a:xfrm>
            <a:off x="0" y="274320"/>
            <a:ext cx="9144000" cy="569344"/>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Threats to the Local Area Network</a:t>
            </a:r>
            <a:endParaRPr lang="en-US" sz="2200"/>
          </a:p>
        </p:txBody>
      </p:sp>
      <p:sp>
        <p:nvSpPr>
          <p:cNvPr id="5" name="Text 2"/>
          <p:cNvSpPr/>
          <p:nvPr/>
        </p:nvSpPr>
        <p:spPr>
          <a:xfrm>
            <a:off x="349012" y="1282972"/>
            <a:ext cx="6826216" cy="2571750"/>
          </a:xfrm>
          <a:prstGeom prst="rect">
            <a:avLst/>
          </a:prstGeom>
          <a:noFill/>
          <a:ln/>
        </p:spPr>
        <p:txBody>
          <a:bodyPr wrap="square" lIns="91440" tIns="45720" rIns="91440" bIns="45720" rtlCol="0" anchor="t"/>
          <a:lstStyle/>
          <a:p>
            <a:r>
              <a:rPr lang="en-US" sz="1400" b="0" i="0" dirty="0">
                <a:effectLst/>
                <a:latin typeface="Arial" panose="020B0604020202020204" pitchFamily="34" charset="0"/>
                <a:ea typeface="+mn-lt"/>
                <a:cs typeface="Arial" panose="020B0604020202020204" pitchFamily="34" charset="0"/>
              </a:rPr>
              <a:t>Examples of threats to the LAN include:</a:t>
            </a:r>
            <a:r>
              <a:rPr lang="en-US" sz="1400" dirty="0">
                <a:latin typeface="Arial" panose="020B0604020202020204" pitchFamily="34" charset="0"/>
                <a:ea typeface="+mn-lt"/>
                <a:cs typeface="Arial" panose="020B0604020202020204" pitchFamily="34" charset="0"/>
              </a:rPr>
              <a:t> </a:t>
            </a:r>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Unauthorized access to wiring closets, data centers</a:t>
            </a:r>
            <a:r>
              <a:rPr lang="en-US" sz="1400" dirty="0">
                <a:latin typeface="Arial" panose="020B0604020202020204" pitchFamily="34" charset="0"/>
                <a:ea typeface="+mn-lt"/>
                <a:cs typeface="Arial" panose="020B0604020202020204" pitchFamily="34" charset="0"/>
              </a:rPr>
              <a:t>,</a:t>
            </a:r>
            <a:r>
              <a:rPr lang="en-US" sz="1400" b="0" i="0" dirty="0">
                <a:effectLst/>
                <a:latin typeface="Arial" panose="020B0604020202020204" pitchFamily="34" charset="0"/>
                <a:ea typeface="+mn-lt"/>
                <a:cs typeface="Arial" panose="020B0604020202020204" pitchFamily="34" charset="0"/>
              </a:rPr>
              <a:t> and computer rooms.</a:t>
            </a:r>
            <a:r>
              <a:rPr lang="en-US" sz="1400" dirty="0">
                <a:latin typeface="Arial" panose="020B0604020202020204" pitchFamily="34" charset="0"/>
                <a:ea typeface="+mn-lt"/>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Unauthorized access to systems, applications</a:t>
            </a:r>
            <a:r>
              <a:rPr lang="en-US" sz="1400" dirty="0">
                <a:latin typeface="Arial" panose="020B0604020202020204" pitchFamily="34" charset="0"/>
                <a:ea typeface="+mn-lt"/>
                <a:cs typeface="Arial" panose="020B0604020202020204" pitchFamily="34" charset="0"/>
              </a:rPr>
              <a:t>,</a:t>
            </a:r>
            <a:r>
              <a:rPr lang="en-US" sz="1400" b="0" i="0" dirty="0">
                <a:effectLst/>
                <a:latin typeface="Arial" panose="020B0604020202020204" pitchFamily="34" charset="0"/>
                <a:ea typeface="+mn-lt"/>
                <a:cs typeface="Arial" panose="020B0604020202020204" pitchFamily="34" charset="0"/>
              </a:rPr>
              <a:t> and data.</a:t>
            </a:r>
            <a:r>
              <a:rPr lang="en-US" sz="1400" dirty="0">
                <a:latin typeface="Arial" panose="020B0604020202020204" pitchFamily="34" charset="0"/>
                <a:ea typeface="+mn-lt"/>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Network operating system or software vulnerabilities and updates.</a:t>
            </a:r>
            <a:r>
              <a:rPr lang="en-US" sz="1400" dirty="0">
                <a:latin typeface="Arial" panose="020B0604020202020204" pitchFamily="34" charset="0"/>
                <a:ea typeface="+mn-lt"/>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Rogue users </a:t>
            </a:r>
            <a:r>
              <a:rPr lang="en-US" sz="1400" dirty="0">
                <a:latin typeface="Arial" panose="020B0604020202020204" pitchFamily="34" charset="0"/>
                <a:ea typeface="+mn-lt"/>
                <a:cs typeface="Arial" panose="020B0604020202020204" pitchFamily="34" charset="0"/>
              </a:rPr>
              <a:t>gain </a:t>
            </a:r>
            <a:r>
              <a:rPr lang="en-US" sz="1400" b="0" i="0" dirty="0">
                <a:effectLst/>
                <a:latin typeface="Arial" panose="020B0604020202020204" pitchFamily="34" charset="0"/>
                <a:ea typeface="+mn-lt"/>
                <a:cs typeface="Arial" panose="020B0604020202020204" pitchFamily="34" charset="0"/>
              </a:rPr>
              <a:t>unauthorized access to wireless networks.</a:t>
            </a:r>
            <a:r>
              <a:rPr lang="en-US" sz="1400" dirty="0">
                <a:latin typeface="Arial" panose="020B0604020202020204" pitchFamily="34" charset="0"/>
                <a:ea typeface="+mn-lt"/>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Exploits of data in transit.</a:t>
            </a:r>
            <a:r>
              <a:rPr lang="en-US" sz="1400" dirty="0">
                <a:latin typeface="Arial" panose="020B0604020202020204" pitchFamily="34" charset="0"/>
                <a:ea typeface="+mn-lt"/>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LAN</a:t>
            </a:r>
            <a:r>
              <a:rPr lang="en-US" sz="1400" b="0" i="0" dirty="0">
                <a:effectLst/>
                <a:latin typeface="Arial" panose="020B0604020202020204" pitchFamily="34" charset="0"/>
                <a:ea typeface="+mn-lt"/>
                <a:cs typeface="Arial" panose="020B0604020202020204" pitchFamily="34" charset="0"/>
              </a:rPr>
              <a:t> servers with </a:t>
            </a:r>
            <a:r>
              <a:rPr lang="en-US" sz="1400" dirty="0">
                <a:latin typeface="Arial" panose="020B0604020202020204" pitchFamily="34" charset="0"/>
                <a:ea typeface="+mn-lt"/>
                <a:cs typeface="Arial" panose="020B0604020202020204" pitchFamily="34" charset="0"/>
              </a:rPr>
              <a:t>different hardware or operating systems. </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Unauthorized network probing and port scanning.</a:t>
            </a:r>
            <a:r>
              <a:rPr lang="en-US" sz="1400" dirty="0">
                <a:latin typeface="Arial" panose="020B0604020202020204" pitchFamily="34" charset="0"/>
                <a:ea typeface="+mn-lt"/>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Misconfigured firewalls.</a:t>
            </a:r>
            <a:r>
              <a:rPr lang="en-US" sz="1400" dirty="0">
                <a:latin typeface="Arial" panose="020B0604020202020204" pitchFamily="34" charset="0"/>
                <a:ea typeface="+mn-lt"/>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algn="l"/>
            <a:endParaRPr lang="en-US" sz="1400" b="0" i="0" dirty="0">
              <a:effectLst/>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Common Threats</a:t>
            </a:r>
            <a:endParaRPr lang="en-US" sz="1600" dirty="0"/>
          </a:p>
        </p:txBody>
      </p:sp>
      <p:sp>
        <p:nvSpPr>
          <p:cNvPr id="3" name="Text 0"/>
          <p:cNvSpPr>
            <a:spLocks noGrp="1"/>
          </p:cNvSpPr>
          <p:nvPr>
            <p:ph type="body" idx="100" hasCustomPrompt="1"/>
          </p:nvPr>
        </p:nvSpPr>
        <p:spPr>
          <a:xfrm>
            <a:off x="0" y="274320"/>
            <a:ext cx="9144000" cy="48768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Threats to the Private Cloud</a:t>
            </a:r>
            <a:endParaRPr lang="en-US" sz="2200" dirty="0"/>
          </a:p>
        </p:txBody>
      </p:sp>
      <p:sp>
        <p:nvSpPr>
          <p:cNvPr id="5" name="Text 2"/>
          <p:cNvSpPr/>
          <p:nvPr/>
        </p:nvSpPr>
        <p:spPr>
          <a:xfrm>
            <a:off x="180750" y="1122416"/>
            <a:ext cx="8229600" cy="2571750"/>
          </a:xfrm>
          <a:prstGeom prst="rect">
            <a:avLst/>
          </a:prstGeom>
          <a:noFill/>
          <a:ln/>
        </p:spPr>
        <p:txBody>
          <a:bodyPr wrap="square" lIns="91440" tIns="45720" rIns="91440" bIns="45720" rtlCol="0" anchor="t"/>
          <a:lstStyle/>
          <a:p>
            <a:r>
              <a:rPr lang="en-US" sz="1400" dirty="0">
                <a:latin typeface="Arial" panose="020B0604020202020204" pitchFamily="34" charset="0"/>
                <a:cs typeface="Arial" panose="020B0604020202020204" pitchFamily="34" charset="0"/>
              </a:rPr>
              <a:t>T</a:t>
            </a:r>
            <a:r>
              <a:rPr lang="en-US" sz="1400" dirty="0">
                <a:latin typeface="Arial" panose="020B0604020202020204" pitchFamily="34" charset="0"/>
                <a:ea typeface="+mn-lt"/>
                <a:cs typeface="Arial" panose="020B0604020202020204" pitchFamily="34" charset="0"/>
              </a:rPr>
              <a:t>he private cloud domain includes any private servers, resources, and IT infrastructure available to members of a single organization via the Internet. </a:t>
            </a:r>
            <a:endParaRPr lang="pt-BR" sz="1400"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1400" b="0" i="0" dirty="0">
                <a:effectLst/>
                <a:latin typeface="Arial" panose="020B0604020202020204" pitchFamily="34" charset="0"/>
                <a:ea typeface="+mn-lt"/>
                <a:cs typeface="Arial" panose="020B0604020202020204" pitchFamily="34" charset="0"/>
              </a:rPr>
              <a:t>Threats to the private cloud domain include:</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Unauthorized network probing and port scanning.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Unauthorized access to resources.</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Router, firewall</a:t>
            </a:r>
            <a:r>
              <a:rPr lang="en-US" sz="1400" dirty="0">
                <a:latin typeface="Arial" panose="020B0604020202020204" pitchFamily="34" charset="0"/>
                <a:ea typeface="+mn-lt"/>
                <a:cs typeface="Arial" panose="020B0604020202020204" pitchFamily="34" charset="0"/>
              </a:rPr>
              <a:t>,</a:t>
            </a:r>
            <a:r>
              <a:rPr lang="en-US" sz="1400" b="0" i="0" dirty="0">
                <a:effectLst/>
                <a:latin typeface="Arial" panose="020B0604020202020204" pitchFamily="34" charset="0"/>
                <a:ea typeface="+mn-lt"/>
                <a:cs typeface="Arial" panose="020B0604020202020204" pitchFamily="34" charset="0"/>
              </a:rPr>
              <a:t> or network device operating system or software vulnerabilities.</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Router, firewall</a:t>
            </a:r>
            <a:r>
              <a:rPr lang="en-US" sz="1400" dirty="0">
                <a:latin typeface="Arial" panose="020B0604020202020204" pitchFamily="34" charset="0"/>
                <a:ea typeface="+mn-lt"/>
                <a:cs typeface="Arial" panose="020B0604020202020204" pitchFamily="34" charset="0"/>
              </a:rPr>
              <a:t>,</a:t>
            </a:r>
            <a:r>
              <a:rPr lang="en-US" sz="1400" b="0" i="0" dirty="0">
                <a:effectLst/>
                <a:latin typeface="Arial" panose="020B0604020202020204" pitchFamily="34" charset="0"/>
                <a:ea typeface="+mn-lt"/>
                <a:cs typeface="Arial" panose="020B0604020202020204" pitchFamily="34" charset="0"/>
              </a:rPr>
              <a:t> or network device configuration errors.</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b="0" i="0" dirty="0">
                <a:effectLst/>
                <a:latin typeface="Arial" panose="020B0604020202020204" pitchFamily="34" charset="0"/>
                <a:ea typeface="+mn-lt"/>
                <a:cs typeface="Arial" panose="020B0604020202020204" pitchFamily="34" charset="0"/>
              </a:rPr>
              <a:t>Remote users </a:t>
            </a:r>
            <a:r>
              <a:rPr lang="en-US" sz="1400" dirty="0">
                <a:latin typeface="Arial" panose="020B0604020202020204" pitchFamily="34" charset="0"/>
                <a:ea typeface="+mn-lt"/>
                <a:cs typeface="Arial" panose="020B0604020202020204" pitchFamily="34" charset="0"/>
              </a:rPr>
              <a:t>access </a:t>
            </a:r>
            <a:r>
              <a:rPr lang="en-US" sz="1400" b="0" i="0" dirty="0">
                <a:effectLst/>
                <a:latin typeface="Arial" panose="020B0604020202020204" pitchFamily="34" charset="0"/>
                <a:ea typeface="+mn-lt"/>
                <a:cs typeface="Arial" panose="020B0604020202020204" pitchFamily="34" charset="0"/>
              </a:rPr>
              <a:t>an organization’s infrastructure and </a:t>
            </a:r>
            <a:r>
              <a:rPr lang="en-US" sz="1400" dirty="0">
                <a:latin typeface="Arial" panose="020B0604020202020204" pitchFamily="34" charset="0"/>
                <a:ea typeface="+mn-lt"/>
                <a:cs typeface="Arial" panose="020B0604020202020204" pitchFamily="34" charset="0"/>
              </a:rPr>
              <a:t>download </a:t>
            </a:r>
            <a:r>
              <a:rPr lang="en-US" sz="1400" b="0" i="0" dirty="0">
                <a:effectLst/>
                <a:latin typeface="Arial" panose="020B0604020202020204" pitchFamily="34" charset="0"/>
                <a:ea typeface="+mn-lt"/>
                <a:cs typeface="Arial" panose="020B0604020202020204" pitchFamily="34" charset="0"/>
              </a:rPr>
              <a:t>sensitive data.</a:t>
            </a:r>
            <a:r>
              <a:rPr lang="en-US" sz="1400" dirty="0">
                <a:latin typeface="Arial" panose="020B0604020202020204" pitchFamily="34" charset="0"/>
                <a:ea typeface="+mn-lt"/>
                <a:cs typeface="Arial" panose="020B0604020202020204" pitchFamily="34" charset="0"/>
              </a:rPr>
              <a:t> </a:t>
            </a:r>
            <a:endParaRPr lang="en-US" dirty="0">
              <a:latin typeface="Arial" panose="020B0604020202020204" pitchFamily="34" charset="0"/>
              <a:cs typeface="Arial" panose="020B0604020202020204" pitchFamily="34" charset="0"/>
            </a:endParaRPr>
          </a:p>
          <a:p>
            <a:pPr algn="l"/>
            <a:endParaRPr lang="en-US" sz="1400" b="0" i="0" dirty="0">
              <a:effectLst/>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Common Threats</a:t>
            </a:r>
            <a:endParaRPr lang="en-US" sz="1600"/>
          </a:p>
        </p:txBody>
      </p:sp>
      <p:sp>
        <p:nvSpPr>
          <p:cNvPr id="3" name="Text 0"/>
          <p:cNvSpPr>
            <a:spLocks noGrp="1"/>
          </p:cNvSpPr>
          <p:nvPr>
            <p:ph type="body" idx="100" hasCustomPrompt="1"/>
          </p:nvPr>
        </p:nvSpPr>
        <p:spPr>
          <a:xfrm>
            <a:off x="0" y="274320"/>
            <a:ext cx="9144000" cy="53699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Threats to the Public Cloud</a:t>
            </a:r>
            <a:endParaRPr lang="en-US" sz="2200"/>
          </a:p>
        </p:txBody>
      </p:sp>
      <p:sp>
        <p:nvSpPr>
          <p:cNvPr id="4" name="CaixaDeTexto 3">
            <a:extLst>
              <a:ext uri="{FF2B5EF4-FFF2-40B4-BE49-F238E27FC236}">
                <a16:creationId xmlns:a16="http://schemas.microsoft.com/office/drawing/2014/main" id="{547FE1B5-A3CC-2CC2-F80A-5D26B3A59A40}"/>
              </a:ext>
            </a:extLst>
          </p:cNvPr>
          <p:cNvSpPr txBox="1"/>
          <p:nvPr/>
        </p:nvSpPr>
        <p:spPr>
          <a:xfrm>
            <a:off x="425766" y="1040138"/>
            <a:ext cx="8131628" cy="35702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Arial" panose="020B0604020202020204" pitchFamily="34" charset="0"/>
                <a:ea typeface="+mn-lt"/>
                <a:cs typeface="Arial" panose="020B0604020202020204" pitchFamily="34" charset="0"/>
              </a:rPr>
              <a:t>The public cloud domain is the entire computing services hosted by a cloud, service, or Internet provider that are available to the public and shared across organizations.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Three subscription-based models of public cloud services that organizations may choose to use: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Software as a Service (SaaS): provides organizations with software (stored in the cloud) that is centrally hosted and accessed by users via a web browser, app, or other software.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Platform as a Service (PaaS): It allows an organization to develop, run and manage its applications on the service's hardware using its tools.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Infrastructure as a Service (IaaS): provides virtual computing resources such as hardware, software, servers, storage, and other infrastructure components. An organization will buy access to them.  </a:t>
            </a:r>
            <a:endParaRPr lang="pt-BR"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Common Threats</a:t>
            </a:r>
            <a:endParaRPr lang="en-US" sz="1600" dirty="0"/>
          </a:p>
        </p:txBody>
      </p:sp>
      <p:sp>
        <p:nvSpPr>
          <p:cNvPr id="3" name="Text 0"/>
          <p:cNvSpPr>
            <a:spLocks noGrp="1"/>
          </p:cNvSpPr>
          <p:nvPr>
            <p:ph type="body" idx="100" hasCustomPrompt="1"/>
          </p:nvPr>
        </p:nvSpPr>
        <p:spPr>
          <a:xfrm>
            <a:off x="0" y="274320"/>
            <a:ext cx="9144000" cy="508054"/>
          </a:xfrm>
          <a:prstGeom prst="rect">
            <a:avLst/>
          </a:prstGeom>
          <a:noFill/>
          <a:ln/>
        </p:spPr>
        <p:txBody>
          <a:bodyPr wrap="square" lIns="91440" tIns="45720" rIns="91440" bIns="45720" rtlCol="0" anchor="t"/>
          <a:lstStyle/>
          <a:p>
            <a:r>
              <a:rPr lang="en-US" dirty="0">
                <a:latin typeface="Arial"/>
                <a:cs typeface="Arial"/>
              </a:rPr>
              <a:t>Threats to Applications</a:t>
            </a:r>
            <a:endParaRPr lang="en-US" sz="2200" dirty="0"/>
          </a:p>
        </p:txBody>
      </p:sp>
      <p:sp>
        <p:nvSpPr>
          <p:cNvPr id="5" name="Text 2"/>
          <p:cNvSpPr/>
          <p:nvPr/>
        </p:nvSpPr>
        <p:spPr>
          <a:xfrm>
            <a:off x="259162" y="994626"/>
            <a:ext cx="8229600" cy="2571750"/>
          </a:xfrm>
          <a:prstGeom prst="rect">
            <a:avLst/>
          </a:prstGeom>
          <a:noFill/>
          <a:ln/>
        </p:spPr>
        <p:txBody>
          <a:bodyPr wrap="square" lIns="91440" tIns="45720" rIns="91440" bIns="45720" rtlCol="0" anchor="t"/>
          <a:lstStyle/>
          <a:p>
            <a:r>
              <a:rPr lang="en-US" sz="1400" dirty="0">
                <a:latin typeface="Arial"/>
                <a:cs typeface="Arial"/>
              </a:rPr>
              <a:t>The application domain includes all the critical systems, applications, and data used by an organization to support operations.</a:t>
            </a:r>
          </a:p>
          <a:p>
            <a:endParaRPr lang="en-US" sz="1400" dirty="0">
              <a:latin typeface="Arial"/>
              <a:cs typeface="Arial"/>
            </a:endParaRPr>
          </a:p>
          <a:p>
            <a:r>
              <a:rPr lang="en-US" sz="1400" dirty="0">
                <a:latin typeface="Arial"/>
                <a:cs typeface="Arial"/>
              </a:rPr>
              <a:t>Common threats to applications include:</a:t>
            </a:r>
          </a:p>
          <a:p>
            <a:endParaRPr lang="en-US" sz="1400" dirty="0">
              <a:latin typeface="Arial"/>
              <a:cs typeface="Arial"/>
            </a:endParaRPr>
          </a:p>
          <a:p>
            <a:pPr marL="285750" indent="-285750">
              <a:buFont typeface="Arial"/>
              <a:buChar char="•"/>
            </a:pPr>
            <a:r>
              <a:rPr lang="en-US" sz="1400" dirty="0">
                <a:latin typeface="Arial"/>
                <a:cs typeface="Arial"/>
              </a:rPr>
              <a:t>Someone gaining unauthorized access to data centers, computer rooms, wiring closets or systems.</a:t>
            </a:r>
          </a:p>
          <a:p>
            <a:pPr marL="285750" indent="-285750">
              <a:buFont typeface="Arial"/>
              <a:buChar char="•"/>
            </a:pPr>
            <a:r>
              <a:rPr lang="en-US" sz="1400" dirty="0">
                <a:latin typeface="Arial"/>
                <a:cs typeface="Arial"/>
              </a:rPr>
              <a:t>Server downtime during maintenance periods.</a:t>
            </a:r>
          </a:p>
          <a:p>
            <a:pPr marL="285750" indent="-285750">
              <a:buFont typeface="Arial"/>
              <a:buChar char="•"/>
            </a:pPr>
            <a:r>
              <a:rPr lang="en-US" sz="1400" dirty="0">
                <a:latin typeface="Arial"/>
                <a:cs typeface="Arial"/>
              </a:rPr>
              <a:t>Network operating system software vulnerabilities.</a:t>
            </a:r>
          </a:p>
          <a:p>
            <a:pPr marL="285750" indent="-285750">
              <a:buFont typeface="Arial"/>
              <a:buChar char="•"/>
            </a:pPr>
            <a:r>
              <a:rPr lang="en-US" sz="1400" dirty="0">
                <a:latin typeface="Arial"/>
                <a:cs typeface="Arial"/>
              </a:rPr>
              <a:t>Data loss.</a:t>
            </a:r>
          </a:p>
          <a:p>
            <a:pPr marL="285750" indent="-285750">
              <a:buFont typeface="Arial"/>
              <a:buChar char="•"/>
            </a:pPr>
            <a:r>
              <a:rPr lang="en-US" sz="1400" dirty="0">
                <a:latin typeface="Arial"/>
                <a:cs typeface="Arial"/>
              </a:rPr>
              <a:t>Client-server or web application development vulnerabilities.</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Common Threats</a:t>
            </a:r>
            <a:endParaRPr lang="en-US" sz="1600"/>
          </a:p>
        </p:txBody>
      </p:sp>
      <p:sp>
        <p:nvSpPr>
          <p:cNvPr id="3" name="Text 0"/>
          <p:cNvSpPr>
            <a:spLocks noGrp="1"/>
          </p:cNvSpPr>
          <p:nvPr>
            <p:ph type="body" idx="100" hasCustomPrompt="1"/>
          </p:nvPr>
        </p:nvSpPr>
        <p:spPr>
          <a:xfrm>
            <a:off x="0" y="274320"/>
            <a:ext cx="9144000" cy="687957"/>
          </a:xfrm>
          <a:prstGeom prst="rect">
            <a:avLst/>
          </a:prstGeom>
          <a:noFill/>
          <a:ln/>
        </p:spPr>
        <p:txBody>
          <a:bodyPr wrap="square" lIns="91440" tIns="45720" rIns="91440" bIns="45720" rtlCol="0" anchor="t"/>
          <a:lstStyle/>
          <a:p>
            <a:r>
              <a:rPr lang="en-US">
                <a:latin typeface="Arial"/>
                <a:cs typeface="Arial"/>
              </a:rPr>
              <a:t>Threat Complexity</a:t>
            </a:r>
            <a:endParaRPr lang="en-US" sz="2200">
              <a:latin typeface="Arial"/>
              <a:cs typeface="Arial"/>
            </a:endParaRPr>
          </a:p>
        </p:txBody>
      </p:sp>
      <p:sp>
        <p:nvSpPr>
          <p:cNvPr id="5" name="Text 2"/>
          <p:cNvSpPr/>
          <p:nvPr/>
        </p:nvSpPr>
        <p:spPr>
          <a:xfrm>
            <a:off x="234713" y="919252"/>
            <a:ext cx="8229600" cy="3304995"/>
          </a:xfrm>
          <a:prstGeom prst="rect">
            <a:avLst/>
          </a:prstGeom>
          <a:noFill/>
          <a:ln/>
        </p:spPr>
        <p:txBody>
          <a:bodyPr wrap="square" lIns="91440" tIns="45720" rIns="91440" bIns="45720" rtlCol="0" anchor="t"/>
          <a:lstStyle/>
          <a:p>
            <a:r>
              <a:rPr lang="en-US" sz="1400" dirty="0">
                <a:latin typeface="Arial" panose="020B0604020202020204" pitchFamily="34" charset="0"/>
                <a:ea typeface="+mn-lt"/>
                <a:cs typeface="Arial" panose="020B0604020202020204" pitchFamily="34" charset="0"/>
              </a:rPr>
              <a:t>Software vulnerabilities occur because of programming mistakes, protocol vulnerabilities, or system misconfigurations.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Some of the attack methods by cybercriminals are: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Advanced persistent threat (APT): a continuous attack that uses elaborate espionage tactics involving multiple actors and sophisticated malware.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Algorithm attacks: take advantage of algorithms in a piece of legitimate software to generate unintended behaviors. </a:t>
            </a:r>
            <a:endParaRPr lang="en-US"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Common Threats</a:t>
            </a:r>
            <a:endParaRPr lang="en-US" sz="1600"/>
          </a:p>
        </p:txBody>
      </p:sp>
      <p:sp>
        <p:nvSpPr>
          <p:cNvPr id="3" name="Text 0"/>
          <p:cNvSpPr>
            <a:spLocks noGrp="1"/>
          </p:cNvSpPr>
          <p:nvPr>
            <p:ph type="body" idx="100" hasCustomPrompt="1"/>
          </p:nvPr>
        </p:nvSpPr>
        <p:spPr>
          <a:xfrm>
            <a:off x="0" y="274321"/>
            <a:ext cx="9144000" cy="510684"/>
          </a:xfrm>
          <a:prstGeom prst="rect">
            <a:avLst/>
          </a:prstGeom>
          <a:noFill/>
          <a:ln/>
        </p:spPr>
        <p:txBody>
          <a:bodyPr wrap="square" lIns="91440" tIns="45720" rIns="91440" bIns="45720" rtlCol="0" anchor="t"/>
          <a:lstStyle/>
          <a:p>
            <a:r>
              <a:rPr lang="en-US">
                <a:latin typeface="Arial"/>
                <a:cs typeface="Arial"/>
              </a:rPr>
              <a:t>Backdoors and Rootkits</a:t>
            </a:r>
            <a:endParaRPr lang="en-US" sz="2200"/>
          </a:p>
        </p:txBody>
      </p:sp>
      <p:sp>
        <p:nvSpPr>
          <p:cNvPr id="5" name="Text 2"/>
          <p:cNvSpPr/>
          <p:nvPr/>
        </p:nvSpPr>
        <p:spPr>
          <a:xfrm>
            <a:off x="381407" y="844311"/>
            <a:ext cx="8229600" cy="3725532"/>
          </a:xfrm>
          <a:prstGeom prst="rect">
            <a:avLst/>
          </a:prstGeom>
          <a:noFill/>
          <a:ln/>
        </p:spPr>
        <p:txBody>
          <a:bodyPr wrap="square" lIns="91440" tIns="45720" rIns="91440" bIns="45720" rtlCol="0" anchor="t"/>
          <a:lstStyle/>
          <a:p>
            <a:r>
              <a:rPr lang="en-US" sz="1400" dirty="0">
                <a:latin typeface="Arial" panose="020B0604020202020204" pitchFamily="34" charset="0"/>
                <a:ea typeface="+mn-lt"/>
                <a:cs typeface="Arial" panose="020B0604020202020204" pitchFamily="34" charset="0"/>
              </a:rPr>
              <a:t>Cybercriminals also use many different types of malware to carry out their attacks. Some common types are: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Backdoors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Cybercriminals use programs to gain unauthorized access to a system by bypassing the standard authentication procedures.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A remote administrative tool (RAT) program runs on the user's machine to install a backdoor to provide administrative control over a target computer.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Rootkits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Modify the operating system to create a backdoor, which attackers can use to access the computer remotely. </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Most use software vulnerabilities to access resources that should not be accessible (privilege escalation) and modify system files. </a:t>
            </a:r>
            <a:endParaRPr lang="en-US" dirty="0">
              <a:latin typeface="Arial" panose="020B0604020202020204" pitchFamily="34" charset="0"/>
              <a:cs typeface="Arial" panose="020B0604020202020204" pitchFamily="34" charset="0"/>
            </a:endParaRPr>
          </a:p>
          <a:p>
            <a:pPr>
              <a:lnSpc>
                <a:spcPts val="2000"/>
              </a:lnSpc>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Common Threats</a:t>
            </a:r>
            <a:endParaRPr lang="en-US" sz="1600"/>
          </a:p>
        </p:txBody>
      </p:sp>
      <p:sp>
        <p:nvSpPr>
          <p:cNvPr id="3" name="Text 0"/>
          <p:cNvSpPr>
            <a:spLocks noGrp="1"/>
          </p:cNvSpPr>
          <p:nvPr>
            <p:ph type="body" idx="100" hasCustomPrompt="1"/>
          </p:nvPr>
        </p:nvSpPr>
        <p:spPr>
          <a:xfrm>
            <a:off x="0" y="274320"/>
            <a:ext cx="9144000" cy="439597"/>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Threat Intelligence and Research Sources</a:t>
            </a:r>
            <a:endParaRPr lang="en-US" sz="2200"/>
          </a:p>
        </p:txBody>
      </p:sp>
      <p:sp>
        <p:nvSpPr>
          <p:cNvPr id="5" name="Text 2"/>
          <p:cNvSpPr/>
          <p:nvPr/>
        </p:nvSpPr>
        <p:spPr>
          <a:xfrm>
            <a:off x="220042" y="881924"/>
            <a:ext cx="8229600" cy="3421135"/>
          </a:xfrm>
          <a:prstGeom prst="rect">
            <a:avLst/>
          </a:prstGeom>
          <a:noFill/>
          <a:ln/>
        </p:spPr>
        <p:txBody>
          <a:bodyPr wrap="square" lIns="91440" tIns="45720" rIns="91440" bIns="45720" rtlCol="0" anchor="t"/>
          <a:lstStyle/>
          <a:p>
            <a:pPr>
              <a:lnSpc>
                <a:spcPts val="2000"/>
              </a:lnSpc>
            </a:pPr>
            <a:r>
              <a:rPr lang="en-US" sz="1400" dirty="0">
                <a:latin typeface="Arial" panose="020B0604020202020204" pitchFamily="34" charset="0"/>
                <a:cs typeface="Arial" panose="020B0604020202020204" pitchFamily="34" charset="0"/>
              </a:rPr>
              <a:t>The United States Computer Emergency Readiness Team (US-CERT) and the U.S. Department of Homeland Security sponsored a dictionary of common vulnerabilities and exposures (CVE). Some other threat intelligence sources are:</a:t>
            </a:r>
            <a:endParaRPr lang="pt-BR" sz="1400" dirty="0">
              <a:latin typeface="Arial" panose="020B0604020202020204" pitchFamily="34" charset="0"/>
              <a:cs typeface="Arial" panose="020B0604020202020204" pitchFamily="34" charset="0"/>
            </a:endParaRPr>
          </a:p>
          <a:p>
            <a:pPr>
              <a:lnSpc>
                <a:spcPts val="2000"/>
              </a:lnSpc>
            </a:pPr>
            <a:endParaRPr lang="en-US" sz="1400" dirty="0">
              <a:latin typeface="Arial" panose="020B0604020202020204" pitchFamily="34" charset="0"/>
              <a:cs typeface="Arial" panose="020B0604020202020204" pitchFamily="34" charset="0"/>
            </a:endParaRPr>
          </a:p>
          <a:p>
            <a:pPr marL="285750" indent="-285750">
              <a:lnSpc>
                <a:spcPts val="2000"/>
              </a:lnSpc>
              <a:buFont typeface="Arial"/>
              <a:buChar char="•"/>
            </a:pPr>
            <a:r>
              <a:rPr lang="en-US" sz="1400" dirty="0">
                <a:latin typeface="Arial" panose="020B0604020202020204" pitchFamily="34" charset="0"/>
                <a:ea typeface="+mn-lt"/>
                <a:cs typeface="Arial" panose="020B0604020202020204" pitchFamily="34" charset="0"/>
              </a:rPr>
              <a:t>The dark web: An encrypted web content that requires specific software, authorization, or configurations to access, which is not indexed by conventional search engines.</a:t>
            </a:r>
          </a:p>
          <a:p>
            <a:pPr>
              <a:lnSpc>
                <a:spcPts val="2000"/>
              </a:lnSpc>
            </a:pPr>
            <a:endParaRPr lang="en-US" sz="1400" dirty="0">
              <a:latin typeface="Arial" panose="020B0604020202020204" pitchFamily="34" charset="0"/>
              <a:cs typeface="Arial" panose="020B0604020202020204" pitchFamily="34" charset="0"/>
            </a:endParaRPr>
          </a:p>
          <a:p>
            <a:pPr marL="285750" indent="-285750">
              <a:lnSpc>
                <a:spcPts val="2000"/>
              </a:lnSpc>
              <a:buFont typeface="Arial"/>
              <a:buChar char="•"/>
            </a:pPr>
            <a:r>
              <a:rPr lang="en-US" sz="1400" dirty="0">
                <a:latin typeface="Arial" panose="020B0604020202020204" pitchFamily="34" charset="0"/>
                <a:cs typeface="Arial" panose="020B0604020202020204" pitchFamily="34" charset="0"/>
              </a:rPr>
              <a:t>Indicator of compromise (IOC): IOCs such as malware signatures or domain names provide evidence of security breaches and details about them.</a:t>
            </a:r>
          </a:p>
          <a:p>
            <a:pPr>
              <a:lnSpc>
                <a:spcPts val="2000"/>
              </a:lnSpc>
            </a:pPr>
            <a:endParaRPr lang="en-US" sz="1400" dirty="0">
              <a:latin typeface="Arial" panose="020B0604020202020204" pitchFamily="34" charset="0"/>
              <a:cs typeface="Arial" panose="020B0604020202020204" pitchFamily="34" charset="0"/>
            </a:endParaRPr>
          </a:p>
          <a:p>
            <a:pPr marL="285750" indent="-285750">
              <a:lnSpc>
                <a:spcPts val="2000"/>
              </a:lnSpc>
              <a:buFont typeface="Arial"/>
              <a:buChar char="•"/>
            </a:pPr>
            <a:r>
              <a:rPr lang="en-US" sz="1400" dirty="0">
                <a:latin typeface="Arial" panose="020B0604020202020204" pitchFamily="34" charset="0"/>
                <a:cs typeface="Arial" panose="020B0604020202020204" pitchFamily="34" charset="0"/>
              </a:rPr>
              <a:t>Automated Indicator Sharing (AIS): Cybersecurity and Infrastructure Security Agency (CISA) capability enable the real-time exchange of cybersecurity threat indicators using a standardized and structured language called STIX and TAXII.</a:t>
            </a:r>
          </a:p>
          <a:p>
            <a:pPr marL="285750" indent="-285750">
              <a:lnSpc>
                <a:spcPts val="2000"/>
              </a:lnSpc>
              <a:buFont typeface="Arial"/>
              <a:buChar char="•"/>
            </a:pPr>
            <a:endParaRPr lang="en-US" sz="1400" dirty="0">
              <a:latin typeface="Arial" panose="020B0604020202020204" pitchFamily="34" charset="0"/>
              <a:cs typeface="Arial" panose="020B0604020202020204" pitchFamily="34" charset="0"/>
            </a:endParaRPr>
          </a:p>
          <a:p>
            <a:pPr marL="285750" indent="-285750">
              <a:lnSpc>
                <a:spcPts val="2000"/>
              </a:lnSpc>
              <a:buFont typeface="Arial"/>
              <a:buChar char="•"/>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a:solidFill>
                  <a:srgbClr val="B1E8FA"/>
                </a:solidFill>
                <a:latin typeface="Arial" pitchFamily="34" charset="0"/>
                <a:ea typeface="Arial" pitchFamily="34" charset="-122"/>
                <a:cs typeface="Arial" pitchFamily="34" charset="-120"/>
              </a:rPr>
              <a:t>1.2 Deception</a:t>
            </a:r>
            <a:endParaRPr lang="en-US" sz="460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Deception</a:t>
            </a:r>
            <a:endParaRPr lang="en-US" sz="1600"/>
          </a:p>
        </p:txBody>
      </p:sp>
      <p:sp>
        <p:nvSpPr>
          <p:cNvPr id="3" name="Text 0"/>
          <p:cNvSpPr>
            <a:spLocks noGrp="1"/>
          </p:cNvSpPr>
          <p:nvPr>
            <p:ph type="body" idx="100" hasCustomPrompt="1"/>
          </p:nvPr>
        </p:nvSpPr>
        <p:spPr>
          <a:xfrm>
            <a:off x="0" y="274320"/>
            <a:ext cx="9144000" cy="481054"/>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Social Engineering</a:t>
            </a:r>
            <a:endParaRPr lang="en-US" sz="2200"/>
          </a:p>
        </p:txBody>
      </p:sp>
      <p:sp>
        <p:nvSpPr>
          <p:cNvPr id="5" name="Text 2"/>
          <p:cNvSpPr/>
          <p:nvPr/>
        </p:nvSpPr>
        <p:spPr>
          <a:xfrm>
            <a:off x="337930" y="944217"/>
            <a:ext cx="8229600" cy="2765844"/>
          </a:xfrm>
          <a:prstGeom prst="rect">
            <a:avLst/>
          </a:prstGeom>
          <a:noFill/>
          <a:ln/>
        </p:spPr>
        <p:txBody>
          <a:bodyPr wrap="square" lIns="91440" tIns="45720" rIns="91440" bIns="45720" rtlCol="0" anchor="t"/>
          <a:lstStyle/>
          <a:p>
            <a:r>
              <a:rPr lang="en-US" sz="1400" dirty="0">
                <a:latin typeface="Arial" panose="020B0604020202020204" pitchFamily="34" charset="0"/>
                <a:ea typeface="+mn-lt"/>
                <a:cs typeface="Arial" panose="020B0604020202020204" pitchFamily="34" charset="0"/>
              </a:rPr>
              <a:t>Social engineering is a non-technical strategy that attempts to manipulate individuals into performing specific actions or divulging confidential information. </a:t>
            </a:r>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Some common types of social engineering attacks are: </a:t>
            </a:r>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Pretexting: This occurs when an individual lies to gain access to confidential data. </a:t>
            </a:r>
            <a:br>
              <a:rPr lang="en-US" sz="1400" dirty="0">
                <a:latin typeface="Arial" panose="020B0604020202020204" pitchFamily="34" charset="0"/>
                <a:cs typeface="Arial" panose="020B0604020202020204" pitchFamily="34" charset="0"/>
              </a:rPr>
            </a:b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Something for something (quid pro quo): Involves a request for personal information in exchange for something, like a gift. </a:t>
            </a:r>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Identity fraud: Uses a person’s stolen identity to obtain goods or services by deception. </a:t>
            </a:r>
            <a:endParaRPr lang="en-US" sz="1400" dirty="0">
              <a:latin typeface="Arial" panose="020B0604020202020204" pitchFamily="34" charset="0"/>
              <a:cs typeface="Arial" panose="020B0604020202020204" pitchFamily="34" charset="0"/>
            </a:endParaRPr>
          </a:p>
          <a:p>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Deception</a:t>
            </a:r>
            <a:endParaRPr lang="en-US" sz="1600"/>
          </a:p>
        </p:txBody>
      </p:sp>
      <p:sp>
        <p:nvSpPr>
          <p:cNvPr id="3" name="Text 0"/>
          <p:cNvSpPr>
            <a:spLocks noGrp="1"/>
          </p:cNvSpPr>
          <p:nvPr>
            <p:ph type="body" idx="100" hasCustomPrompt="1"/>
          </p:nvPr>
        </p:nvSpPr>
        <p:spPr>
          <a:xfrm>
            <a:off x="0" y="274320"/>
            <a:ext cx="9144000" cy="456206"/>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Social Engineering Tactics</a:t>
            </a:r>
            <a:endParaRPr lang="en-US" sz="2200"/>
          </a:p>
        </p:txBody>
      </p:sp>
      <p:sp>
        <p:nvSpPr>
          <p:cNvPr id="5" name="Text 2"/>
          <p:cNvSpPr/>
          <p:nvPr/>
        </p:nvSpPr>
        <p:spPr>
          <a:xfrm>
            <a:off x="394790" y="1056801"/>
            <a:ext cx="8229600" cy="2571750"/>
          </a:xfrm>
          <a:prstGeom prst="rect">
            <a:avLst/>
          </a:prstGeom>
          <a:noFill/>
          <a:ln/>
        </p:spPr>
        <p:txBody>
          <a:bodyPr wrap="square" lIns="91440" tIns="45720" rIns="91440" bIns="45720" rtlCol="0" anchor="t"/>
          <a:lstStyle/>
          <a:p>
            <a:pPr>
              <a:lnSpc>
                <a:spcPts val="2000"/>
              </a:lnSpc>
            </a:pPr>
            <a:r>
              <a:rPr lang="en-US" sz="1400" dirty="0">
                <a:latin typeface="Arial"/>
                <a:cs typeface="Arial"/>
              </a:rPr>
              <a:t>Cybercriminals rely on several social engineering tactics to gain access to sensitive information:</a:t>
            </a:r>
            <a:endParaRPr lang="pt-BR" sz="1400" dirty="0">
              <a:latin typeface="Arial"/>
              <a:cs typeface="Arial"/>
            </a:endParaRPr>
          </a:p>
          <a:p>
            <a:pPr>
              <a:lnSpc>
                <a:spcPts val="2000"/>
              </a:lnSpc>
            </a:pPr>
            <a:endParaRPr lang="en-US" sz="1400" dirty="0">
              <a:latin typeface="Arial"/>
              <a:cs typeface="Arial"/>
            </a:endParaRPr>
          </a:p>
          <a:p>
            <a:pPr marL="742950" lvl="1" indent="-285750">
              <a:buFont typeface="Arial"/>
              <a:buChar char="•"/>
            </a:pPr>
            <a:r>
              <a:rPr lang="en-US" sz="1400" dirty="0">
                <a:latin typeface="Arial"/>
                <a:cs typeface="Arial"/>
              </a:rPr>
              <a:t>Authority</a:t>
            </a:r>
          </a:p>
          <a:p>
            <a:pPr marL="742950" lvl="1" indent="-285750">
              <a:buFont typeface="Arial"/>
              <a:buChar char="•"/>
            </a:pPr>
            <a:r>
              <a:rPr lang="en-US" sz="1400" dirty="0">
                <a:latin typeface="Arial"/>
                <a:cs typeface="Arial"/>
              </a:rPr>
              <a:t>Intimidation</a:t>
            </a:r>
          </a:p>
          <a:p>
            <a:pPr marL="742950" lvl="1" indent="-285750">
              <a:buFont typeface="Arial"/>
              <a:buChar char="•"/>
            </a:pPr>
            <a:r>
              <a:rPr lang="en-US" sz="1400" dirty="0">
                <a:latin typeface="Arial"/>
                <a:cs typeface="Arial"/>
              </a:rPr>
              <a:t>Consensus</a:t>
            </a:r>
          </a:p>
          <a:p>
            <a:pPr marL="742950" lvl="1" indent="-285750">
              <a:buFont typeface="Arial"/>
              <a:buChar char="•"/>
            </a:pPr>
            <a:r>
              <a:rPr lang="en-US" sz="1400" dirty="0">
                <a:latin typeface="Arial"/>
                <a:cs typeface="Arial"/>
              </a:rPr>
              <a:t>Scarcity</a:t>
            </a:r>
          </a:p>
          <a:p>
            <a:pPr marL="742950" lvl="1" indent="-285750">
              <a:buFont typeface="Arial"/>
              <a:buChar char="•"/>
            </a:pPr>
            <a:r>
              <a:rPr lang="en-US" sz="1400" dirty="0">
                <a:latin typeface="Arial"/>
                <a:cs typeface="Arial"/>
              </a:rPr>
              <a:t>Urgency</a:t>
            </a:r>
          </a:p>
          <a:p>
            <a:pPr marL="742950" lvl="1" indent="-285750">
              <a:buFont typeface="Arial"/>
              <a:buChar char="•"/>
            </a:pPr>
            <a:r>
              <a:rPr lang="en-US" sz="1400" dirty="0">
                <a:latin typeface="Arial"/>
                <a:cs typeface="Arial"/>
              </a:rPr>
              <a:t>Familiarity</a:t>
            </a:r>
          </a:p>
          <a:p>
            <a:pPr marL="742950" lvl="1" indent="-285750">
              <a:lnSpc>
                <a:spcPts val="2000"/>
              </a:lnSpc>
              <a:buFont typeface="Arial"/>
              <a:buChar char="•"/>
            </a:pPr>
            <a:r>
              <a:rPr lang="en-US" sz="1400" dirty="0">
                <a:latin typeface="Arial"/>
                <a:cs typeface="Arial"/>
              </a:rPr>
              <a:t>Trust</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Deception</a:t>
            </a:r>
            <a:endParaRPr lang="en-US" sz="1600"/>
          </a:p>
        </p:txBody>
      </p:sp>
      <p:sp>
        <p:nvSpPr>
          <p:cNvPr id="3" name="Text 0"/>
          <p:cNvSpPr>
            <a:spLocks noGrp="1"/>
          </p:cNvSpPr>
          <p:nvPr>
            <p:ph type="body" idx="100" hasCustomPrompt="1"/>
          </p:nvPr>
        </p:nvSpPr>
        <p:spPr>
          <a:xfrm>
            <a:off x="0" y="274320"/>
            <a:ext cx="9144000" cy="52578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Shoulder Surfing and Dumpster Diving</a:t>
            </a:r>
            <a:endParaRPr lang="en-US" sz="2200"/>
          </a:p>
        </p:txBody>
      </p:sp>
      <p:sp>
        <p:nvSpPr>
          <p:cNvPr id="5" name="Text 2"/>
          <p:cNvSpPr/>
          <p:nvPr/>
        </p:nvSpPr>
        <p:spPr>
          <a:xfrm>
            <a:off x="327991" y="919369"/>
            <a:ext cx="8229600" cy="3215309"/>
          </a:xfrm>
          <a:prstGeom prst="rect">
            <a:avLst/>
          </a:prstGeom>
          <a:noFill/>
          <a:ln/>
        </p:spPr>
        <p:txBody>
          <a:bodyPr wrap="square" lIns="91440" tIns="45720" rIns="91440" bIns="45720" rtlCol="0" anchor="t"/>
          <a:lstStyle/>
          <a:p>
            <a:r>
              <a:rPr lang="en-US" sz="1400" dirty="0">
                <a:latin typeface="Arial" panose="020B0604020202020204" pitchFamily="34" charset="0"/>
                <a:ea typeface="+mn-lt"/>
                <a:cs typeface="Arial" panose="020B0604020202020204" pitchFamily="34" charset="0"/>
              </a:rPr>
              <a:t>Shoulder Surfing </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A simple attack involves observing or looking over a target's shoulder to gain valuable information such as PINs, access codes, or credit card details. </a:t>
            </a:r>
            <a:endParaRPr lang="pt-BR"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Criminals do not always have to be near their victim-to-shoulder surf — they can use binoculars or security cameras to obtain this information. </a:t>
            </a:r>
            <a:endParaRPr lang="pt-BR"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Dumpster Diving </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The process of going through a target's trash to see discarded information. </a:t>
            </a:r>
          </a:p>
          <a:p>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Documents containing sensitive information should be shredded or stored in burn bags until destroyed by fire after a certain period. </a:t>
            </a:r>
            <a:endParaRPr lang="en-US" sz="1400" dirty="0">
              <a:latin typeface="Arial" panose="020B0604020202020204" pitchFamily="34" charset="0"/>
              <a:cs typeface="Arial" panose="020B0604020202020204" pitchFamily="34" charset="0"/>
            </a:endParaRPr>
          </a:p>
          <a:p>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Deception</a:t>
            </a:r>
            <a:endParaRPr lang="en-US" sz="1600"/>
          </a:p>
        </p:txBody>
      </p:sp>
      <p:sp>
        <p:nvSpPr>
          <p:cNvPr id="3" name="Text 0"/>
          <p:cNvSpPr>
            <a:spLocks noGrp="1"/>
          </p:cNvSpPr>
          <p:nvPr>
            <p:ph type="body" idx="100" hasCustomPrompt="1"/>
          </p:nvPr>
        </p:nvSpPr>
        <p:spPr>
          <a:xfrm>
            <a:off x="0" y="274320"/>
            <a:ext cx="9144000" cy="47111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Impersonation and Hoaxes</a:t>
            </a:r>
            <a:endParaRPr lang="en-US" sz="2200"/>
          </a:p>
        </p:txBody>
      </p:sp>
      <p:sp>
        <p:nvSpPr>
          <p:cNvPr id="5" name="Text 2"/>
          <p:cNvSpPr/>
          <p:nvPr/>
        </p:nvSpPr>
        <p:spPr>
          <a:xfrm>
            <a:off x="303144" y="929309"/>
            <a:ext cx="8229600" cy="2571750"/>
          </a:xfrm>
          <a:prstGeom prst="rect">
            <a:avLst/>
          </a:prstGeom>
          <a:noFill/>
          <a:ln/>
        </p:spPr>
        <p:txBody>
          <a:bodyPr wrap="square" lIns="91440" tIns="45720" rIns="91440" bIns="45720" rtlCol="0" anchor="t"/>
          <a:lstStyle/>
          <a:p>
            <a:pPr>
              <a:lnSpc>
                <a:spcPts val="2000"/>
              </a:lnSpc>
            </a:pPr>
            <a:r>
              <a:rPr lang="en-US" sz="1400" dirty="0">
                <a:latin typeface="Arial"/>
                <a:cs typeface="Arial"/>
              </a:rPr>
              <a:t>Cybercriminals have many other deception techniques to help them succeed.</a:t>
            </a:r>
          </a:p>
          <a:p>
            <a:pPr>
              <a:lnSpc>
                <a:spcPts val="2000"/>
              </a:lnSpc>
            </a:pPr>
            <a:endParaRPr lang="en-US" sz="1400" dirty="0">
              <a:latin typeface="Arial"/>
              <a:cs typeface="Arial"/>
            </a:endParaRPr>
          </a:p>
          <a:p>
            <a:r>
              <a:rPr lang="en-US" sz="1400" dirty="0">
                <a:latin typeface="Arial"/>
                <a:cs typeface="Arial"/>
              </a:rPr>
              <a:t>Impersonation</a:t>
            </a:r>
          </a:p>
          <a:p>
            <a:pPr marL="285750" indent="-285750">
              <a:buFont typeface="Arial"/>
              <a:buChar char="•"/>
            </a:pPr>
            <a:r>
              <a:rPr lang="en-US" sz="1400" dirty="0">
                <a:latin typeface="Arial"/>
                <a:cs typeface="Arial"/>
              </a:rPr>
              <a:t>Act of tricking someone into doing something they would not ordinarily do by pretending to be someone else. </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Criminals can also use impersonation to attack others.</a:t>
            </a:r>
            <a:endParaRPr lang="en-US" dirty="0">
              <a:latin typeface="Calibri" panose="020F0502020204030204"/>
              <a:cs typeface="Calibri"/>
            </a:endParaRPr>
          </a:p>
          <a:p>
            <a:pPr marL="285750" indent="-285750">
              <a:buFont typeface="Arial"/>
              <a:buChar char="•"/>
            </a:pPr>
            <a:endParaRPr lang="en-US" dirty="0"/>
          </a:p>
          <a:p>
            <a:r>
              <a:rPr lang="en-US" sz="1400" dirty="0">
                <a:latin typeface="Arial"/>
                <a:cs typeface="Arial"/>
              </a:rPr>
              <a:t>Hoax</a:t>
            </a:r>
          </a:p>
          <a:p>
            <a:pPr marL="285750" indent="-285750">
              <a:buFont typeface="Arial"/>
              <a:buChar char="•"/>
            </a:pPr>
            <a:r>
              <a:rPr lang="en-US" sz="1400" dirty="0">
                <a:latin typeface="Arial"/>
                <a:cs typeface="Arial"/>
              </a:rPr>
              <a:t>An act intended to deceive or trick someone can cause just as much disruption as an actual security breach. </a:t>
            </a:r>
          </a:p>
          <a:p>
            <a:pPr algn="r"/>
            <a:br>
              <a:rPr lang="en-US" dirty="0"/>
            </a:br>
            <a:endParaRPr lang="en-US" dirty="0"/>
          </a:p>
          <a:p>
            <a:br>
              <a:rPr lang="en-US" dirty="0"/>
            </a:b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Deception</a:t>
            </a:r>
            <a:endParaRPr lang="en-US" sz="1600"/>
          </a:p>
        </p:txBody>
      </p:sp>
      <p:sp>
        <p:nvSpPr>
          <p:cNvPr id="3" name="Text 0"/>
          <p:cNvSpPr>
            <a:spLocks noGrp="1"/>
          </p:cNvSpPr>
          <p:nvPr>
            <p:ph type="body" idx="100" hasCustomPrompt="1"/>
          </p:nvPr>
        </p:nvSpPr>
        <p:spPr>
          <a:xfrm>
            <a:off x="0" y="274320"/>
            <a:ext cx="9144000" cy="56388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Piggybacking and Tailgating</a:t>
            </a:r>
            <a:endParaRPr lang="en-US" sz="2200"/>
          </a:p>
        </p:txBody>
      </p:sp>
      <p:sp>
        <p:nvSpPr>
          <p:cNvPr id="5" name="Text 2"/>
          <p:cNvSpPr/>
          <p:nvPr/>
        </p:nvSpPr>
        <p:spPr>
          <a:xfrm>
            <a:off x="318052" y="929309"/>
            <a:ext cx="8229600" cy="3078551"/>
          </a:xfrm>
          <a:prstGeom prst="rect">
            <a:avLst/>
          </a:prstGeom>
          <a:noFill/>
          <a:ln/>
        </p:spPr>
        <p:txBody>
          <a:bodyPr wrap="square" lIns="91440" tIns="45720" rIns="91440" bIns="45720" rtlCol="0" anchor="t"/>
          <a:lstStyle/>
          <a:p>
            <a:r>
              <a:rPr lang="en-US" sz="1400" dirty="0">
                <a:latin typeface="Arial"/>
                <a:cs typeface="Arial"/>
              </a:rPr>
              <a:t>They occur when a criminal follows an authorized person to gain physical entry into a secure location or a restricted area. </a:t>
            </a:r>
            <a:endParaRPr lang="pt-BR" sz="1400" dirty="0">
              <a:latin typeface="Arial"/>
              <a:cs typeface="Arial"/>
            </a:endParaRPr>
          </a:p>
          <a:p>
            <a:endParaRPr lang="en-US" sz="1400" dirty="0">
              <a:latin typeface="Arial"/>
              <a:cs typeface="Arial"/>
            </a:endParaRPr>
          </a:p>
          <a:p>
            <a:r>
              <a:rPr lang="en-US" sz="1400" dirty="0">
                <a:latin typeface="Arial"/>
                <a:cs typeface="Arial"/>
              </a:rPr>
              <a:t>Criminals can achieve this by:</a:t>
            </a:r>
            <a:endParaRPr lang="pt-BR" sz="1400" dirty="0">
              <a:latin typeface="Arial"/>
              <a:cs typeface="Arial"/>
            </a:endParaRPr>
          </a:p>
          <a:p>
            <a:endParaRPr lang="en-US" sz="1400" dirty="0">
              <a:latin typeface="Arial"/>
              <a:cs typeface="Arial"/>
            </a:endParaRPr>
          </a:p>
          <a:p>
            <a:pPr marL="285750" indent="-285750">
              <a:buFont typeface="Arial"/>
              <a:buChar char="•"/>
            </a:pPr>
            <a:r>
              <a:rPr lang="en-US" sz="1400" dirty="0">
                <a:latin typeface="Arial"/>
                <a:cs typeface="Arial"/>
              </a:rPr>
              <a:t>Giving the appearance of being escorted into the facility by an authorized person.</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Joining and pretending to be part of a large crowd that enters the facility.</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Targeting an authorized person who is careless about the rules of the facility.</a:t>
            </a:r>
          </a:p>
          <a:p>
            <a:endParaRPr lang="en-US" sz="1400" dirty="0">
              <a:latin typeface="Arial"/>
              <a:cs typeface="Arial"/>
            </a:endParaRPr>
          </a:p>
          <a:p>
            <a:r>
              <a:rPr lang="en-US" sz="1400" dirty="0">
                <a:latin typeface="Arial"/>
                <a:cs typeface="Arial"/>
              </a:rPr>
              <a:t>One way of preventing this is to use two sets of doors (mantrap) which means individuals enter through an outer door and must close before gaining access through an inner door.</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Deception</a:t>
            </a:r>
            <a:endParaRPr lang="en-US" sz="1600"/>
          </a:p>
        </p:txBody>
      </p:sp>
      <p:sp>
        <p:nvSpPr>
          <p:cNvPr id="3" name="Text 0"/>
          <p:cNvSpPr>
            <a:spLocks noGrp="1"/>
          </p:cNvSpPr>
          <p:nvPr>
            <p:ph type="body" idx="100" hasCustomPrompt="1"/>
          </p:nvPr>
        </p:nvSpPr>
        <p:spPr>
          <a:xfrm>
            <a:off x="0" y="274320"/>
            <a:ext cx="9144000" cy="476084"/>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Other Methods of Deception</a:t>
            </a:r>
            <a:endParaRPr lang="en-US" sz="2200"/>
          </a:p>
        </p:txBody>
      </p:sp>
      <p:sp>
        <p:nvSpPr>
          <p:cNvPr id="5" name="Text 2"/>
          <p:cNvSpPr/>
          <p:nvPr/>
        </p:nvSpPr>
        <p:spPr>
          <a:xfrm>
            <a:off x="511865" y="1162878"/>
            <a:ext cx="8229600" cy="2571750"/>
          </a:xfrm>
          <a:prstGeom prst="rect">
            <a:avLst/>
          </a:prstGeom>
          <a:noFill/>
          <a:ln/>
        </p:spPr>
        <p:txBody>
          <a:bodyPr wrap="square" lIns="91440" tIns="45720" rIns="91440" bIns="45720" rtlCol="0" anchor="t"/>
          <a:lstStyle/>
          <a:p>
            <a:pPr>
              <a:lnSpc>
                <a:spcPts val="2000"/>
              </a:lnSpc>
            </a:pPr>
            <a:r>
              <a:rPr lang="en-US" sz="1400" dirty="0">
                <a:latin typeface="Arial"/>
                <a:cs typeface="Arial"/>
              </a:rPr>
              <a:t>Be aware that attackers have many more tricks up their sleeve to deceive their victims. </a:t>
            </a:r>
            <a:endParaRPr lang="pt-BR" dirty="0"/>
          </a:p>
          <a:p>
            <a:pPr>
              <a:lnSpc>
                <a:spcPts val="2000"/>
              </a:lnSpc>
            </a:pPr>
            <a:endParaRPr lang="en-US" sz="1400" dirty="0">
              <a:latin typeface="Arial"/>
              <a:cs typeface="Arial"/>
            </a:endParaRPr>
          </a:p>
          <a:p>
            <a:pPr>
              <a:lnSpc>
                <a:spcPts val="2000"/>
              </a:lnSpc>
            </a:pPr>
            <a:r>
              <a:rPr lang="en-US" sz="1400" dirty="0">
                <a:latin typeface="Arial"/>
                <a:cs typeface="Arial"/>
              </a:rPr>
              <a:t>Some of these methods are:</a:t>
            </a:r>
            <a:endParaRPr lang="en-US" dirty="0">
              <a:cs typeface="Calibri"/>
            </a:endParaRPr>
          </a:p>
          <a:p>
            <a:pPr>
              <a:lnSpc>
                <a:spcPts val="2000"/>
              </a:lnSpc>
            </a:pPr>
            <a:endParaRPr lang="en-US" sz="1400" dirty="0">
              <a:latin typeface="Arial"/>
              <a:cs typeface="Arial"/>
            </a:endParaRPr>
          </a:p>
          <a:p>
            <a:pPr marL="742950" lvl="1" indent="-285750">
              <a:buFont typeface="Arial"/>
              <a:buChar char="•"/>
            </a:pPr>
            <a:r>
              <a:rPr lang="en-US" sz="1400" dirty="0">
                <a:latin typeface="Arial"/>
                <a:cs typeface="Arial"/>
              </a:rPr>
              <a:t>Invoice scam</a:t>
            </a:r>
          </a:p>
          <a:p>
            <a:pPr marL="742950" lvl="1" indent="-285750">
              <a:buFont typeface="Arial"/>
              <a:buChar char="•"/>
            </a:pPr>
            <a:r>
              <a:rPr lang="en-US" sz="1400" dirty="0">
                <a:latin typeface="Arial"/>
                <a:cs typeface="Arial"/>
              </a:rPr>
              <a:t>Watering hole attack</a:t>
            </a:r>
          </a:p>
          <a:p>
            <a:pPr marL="742950" lvl="1" indent="-285750">
              <a:buFont typeface="Arial"/>
              <a:buChar char="•"/>
            </a:pPr>
            <a:r>
              <a:rPr lang="en-US" sz="1400" dirty="0" err="1">
                <a:latin typeface="Arial"/>
                <a:cs typeface="Arial"/>
              </a:rPr>
              <a:t>Typosquatting</a:t>
            </a:r>
            <a:endParaRPr lang="en-US" sz="1400" dirty="0">
              <a:latin typeface="Arial"/>
              <a:cs typeface="Arial"/>
            </a:endParaRPr>
          </a:p>
          <a:p>
            <a:pPr marL="742950" lvl="1" indent="-285750">
              <a:buFont typeface="Arial"/>
              <a:buChar char="•"/>
            </a:pPr>
            <a:r>
              <a:rPr lang="en-US" sz="1400" dirty="0">
                <a:latin typeface="Arial"/>
                <a:cs typeface="Arial"/>
              </a:rPr>
              <a:t>Prepending</a:t>
            </a:r>
          </a:p>
          <a:p>
            <a:pPr marL="742950" lvl="1" indent="-285750">
              <a:lnSpc>
                <a:spcPts val="2000"/>
              </a:lnSpc>
              <a:buFont typeface="Arial"/>
              <a:buChar char="•"/>
            </a:pPr>
            <a:r>
              <a:rPr lang="en-US" sz="1400" dirty="0">
                <a:latin typeface="Arial"/>
                <a:cs typeface="Arial"/>
              </a:rPr>
              <a:t>Influence campaigns</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Deception</a:t>
            </a:r>
            <a:endParaRPr lang="en-US" sz="1600"/>
          </a:p>
        </p:txBody>
      </p:sp>
      <p:sp>
        <p:nvSpPr>
          <p:cNvPr id="3" name="Text 0"/>
          <p:cNvSpPr>
            <a:spLocks noGrp="1"/>
          </p:cNvSpPr>
          <p:nvPr>
            <p:ph type="body" idx="100" hasCustomPrompt="1"/>
          </p:nvPr>
        </p:nvSpPr>
        <p:spPr>
          <a:xfrm>
            <a:off x="0" y="274320"/>
            <a:ext cx="9144000" cy="610263"/>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Defending Against Deception</a:t>
            </a:r>
            <a:endParaRPr lang="en-US" sz="2200"/>
          </a:p>
        </p:txBody>
      </p:sp>
      <p:sp>
        <p:nvSpPr>
          <p:cNvPr id="5" name="Text 2"/>
          <p:cNvSpPr/>
          <p:nvPr/>
        </p:nvSpPr>
        <p:spPr>
          <a:xfrm>
            <a:off x="387627" y="1103244"/>
            <a:ext cx="8229600" cy="2571750"/>
          </a:xfrm>
          <a:prstGeom prst="rect">
            <a:avLst/>
          </a:prstGeom>
          <a:noFill/>
          <a:ln/>
        </p:spPr>
        <p:txBody>
          <a:bodyPr wrap="square" lIns="91440" tIns="45720" rIns="91440" bIns="45720" rtlCol="0" anchor="t"/>
          <a:lstStyle/>
          <a:p>
            <a:r>
              <a:rPr lang="en-US" sz="1400" dirty="0">
                <a:latin typeface="Arial"/>
                <a:cs typeface="Arial"/>
              </a:rPr>
              <a:t>Organizations must promote awareness of social engineering tactics and adequately educate employees on prevention measures. Here are some top tips:</a:t>
            </a:r>
            <a:endParaRPr lang="pt-BR" sz="1400" dirty="0">
              <a:latin typeface="Arial"/>
              <a:cs typeface="Arial"/>
            </a:endParaRPr>
          </a:p>
          <a:p>
            <a:endParaRPr lang="en-US" sz="1400" dirty="0">
              <a:latin typeface="Arial"/>
              <a:cs typeface="Arial"/>
            </a:endParaRPr>
          </a:p>
          <a:p>
            <a:pPr marL="285750" indent="-285750">
              <a:buFont typeface="Arial"/>
              <a:buChar char="•"/>
            </a:pPr>
            <a:r>
              <a:rPr lang="en-US" sz="1400" dirty="0">
                <a:latin typeface="Arial"/>
                <a:cs typeface="Arial"/>
              </a:rPr>
              <a:t>Never disclose confidential information or credentials via email, chat, text messages, in-person, or phone to unknown parties.</a:t>
            </a:r>
          </a:p>
          <a:p>
            <a:pPr marL="285750" indent="-285750">
              <a:buFont typeface="Arial"/>
              <a:buChar char="•"/>
            </a:pPr>
            <a:r>
              <a:rPr lang="en-US" sz="1400" dirty="0">
                <a:latin typeface="Arial"/>
                <a:cs typeface="Arial"/>
              </a:rPr>
              <a:t>Resist the urge to click on enticing emails and web links.</a:t>
            </a:r>
          </a:p>
          <a:p>
            <a:pPr marL="285750" indent="-285750">
              <a:buFont typeface="Arial"/>
              <a:buChar char="•"/>
            </a:pPr>
            <a:r>
              <a:rPr lang="en-US" sz="1400" dirty="0">
                <a:latin typeface="Arial"/>
                <a:cs typeface="Arial"/>
              </a:rPr>
              <a:t>Be wary of uninitiated or automatic downloads.</a:t>
            </a:r>
          </a:p>
          <a:p>
            <a:pPr marL="285750" indent="-285750">
              <a:buFont typeface="Arial"/>
              <a:buChar char="•"/>
            </a:pPr>
            <a:r>
              <a:rPr lang="en-US" sz="1400" dirty="0">
                <a:latin typeface="Arial"/>
                <a:cs typeface="Arial"/>
              </a:rPr>
              <a:t>Establish and educate employees on key security policies.</a:t>
            </a:r>
          </a:p>
          <a:p>
            <a:pPr marL="285750" indent="-285750">
              <a:buFont typeface="Arial"/>
              <a:buChar char="•"/>
            </a:pPr>
            <a:r>
              <a:rPr lang="en-US" sz="1400" dirty="0">
                <a:latin typeface="Arial"/>
                <a:cs typeface="Arial"/>
              </a:rPr>
              <a:t>Encourage employees to take ownership of security issues.</a:t>
            </a:r>
          </a:p>
          <a:p>
            <a:pPr marL="285750" indent="-285750">
              <a:buFont typeface="Arial"/>
              <a:buChar char="•"/>
            </a:pPr>
            <a:r>
              <a:rPr lang="en-US" sz="1400" dirty="0">
                <a:latin typeface="Arial"/>
                <a:cs typeface="Arial"/>
              </a:rPr>
              <a:t>Do not give in to pressure from unknown individuals.</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Deception</a:t>
            </a:r>
            <a:endParaRPr lang="en-US" sz="1600"/>
          </a:p>
        </p:txBody>
      </p:sp>
      <p:sp>
        <p:nvSpPr>
          <p:cNvPr id="3" name="Text 0"/>
          <p:cNvSpPr>
            <a:spLocks noGrp="1"/>
          </p:cNvSpPr>
          <p:nvPr>
            <p:ph type="body" idx="100" hasCustomPrompt="1"/>
          </p:nvPr>
        </p:nvSpPr>
        <p:spPr>
          <a:xfrm>
            <a:off x="0" y="274320"/>
            <a:ext cx="9144000" cy="64505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Lab - Explore Social Engineering Techniques</a:t>
            </a:r>
            <a:endParaRPr lang="en-US" sz="2200"/>
          </a:p>
        </p:txBody>
      </p:sp>
      <p:sp>
        <p:nvSpPr>
          <p:cNvPr id="5" name="Text 2"/>
          <p:cNvSpPr/>
          <p:nvPr/>
        </p:nvSpPr>
        <p:spPr>
          <a:xfrm>
            <a:off x="581439" y="1227482"/>
            <a:ext cx="8229600" cy="2571750"/>
          </a:xfrm>
          <a:prstGeom prst="rect">
            <a:avLst/>
          </a:prstGeom>
          <a:noFill/>
          <a:ln/>
        </p:spPr>
        <p:txBody>
          <a:bodyPr wrap="square" lIns="91440" tIns="45720" rIns="91440" bIns="45720" rtlCol="0" anchor="t"/>
          <a:lstStyle/>
          <a:p>
            <a:r>
              <a:rPr lang="en-US" sz="1400">
                <a:latin typeface="Arial"/>
                <a:cs typeface="Arial"/>
              </a:rPr>
              <a:t>In this lab, you will complete the following objectives:</a:t>
            </a:r>
            <a:endParaRPr lang="pt-BR" sz="1400">
              <a:latin typeface="Arial"/>
              <a:cs typeface="Arial"/>
            </a:endParaRPr>
          </a:p>
          <a:p>
            <a:endParaRPr lang="en-US" sz="1400">
              <a:latin typeface="Arial"/>
              <a:cs typeface="Arial"/>
            </a:endParaRPr>
          </a:p>
          <a:p>
            <a:pPr marL="742950" lvl="1" indent="-285750">
              <a:buFont typeface="Arial"/>
              <a:buChar char="•"/>
            </a:pPr>
            <a:r>
              <a:rPr lang="en-US" sz="1400">
                <a:latin typeface="Arial"/>
                <a:cs typeface="Arial"/>
              </a:rPr>
              <a:t>Part 1: Explore Social Engineering Techniques</a:t>
            </a:r>
          </a:p>
          <a:p>
            <a:pPr marL="742950" lvl="1" indent="-285750">
              <a:buFont typeface="Arial"/>
              <a:buChar char="•"/>
            </a:pPr>
            <a:r>
              <a:rPr lang="en-US" sz="1400">
                <a:latin typeface="Arial"/>
                <a:cs typeface="Arial"/>
              </a:rPr>
              <a:t>Part 2: Create a Cybersecurity Awareness Poster</a:t>
            </a: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a:solidFill>
                  <a:srgbClr val="B1E8FA"/>
                </a:solidFill>
                <a:latin typeface="Arial" pitchFamily="34" charset="0"/>
                <a:ea typeface="Arial" pitchFamily="34" charset="-122"/>
                <a:cs typeface="Arial" pitchFamily="34" charset="-120"/>
              </a:rPr>
              <a:t>1.3 Cyber Attacks</a:t>
            </a:r>
            <a:endParaRPr lang="en-US" sz="460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 Attacks</a:t>
            </a:r>
            <a:endParaRPr lang="en-US" sz="1600"/>
          </a:p>
        </p:txBody>
      </p:sp>
      <p:sp>
        <p:nvSpPr>
          <p:cNvPr id="3" name="Text 0"/>
          <p:cNvSpPr>
            <a:spLocks noGrp="1"/>
          </p:cNvSpPr>
          <p:nvPr>
            <p:ph type="body" idx="100" hasCustomPrompt="1"/>
          </p:nvPr>
        </p:nvSpPr>
        <p:spPr>
          <a:xfrm>
            <a:off x="0" y="274320"/>
            <a:ext cx="9144000" cy="64008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What's the Difference?</a:t>
            </a:r>
            <a:endParaRPr lang="en-US" sz="2200"/>
          </a:p>
        </p:txBody>
      </p:sp>
      <p:sp>
        <p:nvSpPr>
          <p:cNvPr id="5" name="Text 2"/>
          <p:cNvSpPr/>
          <p:nvPr/>
        </p:nvSpPr>
        <p:spPr>
          <a:xfrm>
            <a:off x="337931" y="974035"/>
            <a:ext cx="8229600" cy="3344517"/>
          </a:xfrm>
          <a:prstGeom prst="rect">
            <a:avLst/>
          </a:prstGeom>
          <a:noFill/>
          <a:ln/>
        </p:spPr>
        <p:txBody>
          <a:bodyPr wrap="square" lIns="91440" tIns="45720" rIns="91440" bIns="45720" rtlCol="0" anchor="t"/>
          <a:lstStyle/>
          <a:p>
            <a:r>
              <a:rPr lang="en-US" sz="1400" dirty="0">
                <a:latin typeface="Arial"/>
                <a:cs typeface="Arial"/>
              </a:rPr>
              <a:t>Cybercriminals use many different types of malware to carry out attacks. </a:t>
            </a:r>
            <a:endParaRPr lang="pt-BR" dirty="0">
              <a:latin typeface="Calibri" panose="020F0502020204030204"/>
              <a:cs typeface="Calibri" panose="020F0502020204030204"/>
            </a:endParaRPr>
          </a:p>
          <a:p>
            <a:endParaRPr lang="en-US" sz="1400" dirty="0">
              <a:latin typeface="Arial"/>
              <a:cs typeface="Arial"/>
            </a:endParaRPr>
          </a:p>
          <a:p>
            <a:r>
              <a:rPr lang="en-US" sz="1400" dirty="0">
                <a:latin typeface="Arial"/>
                <a:cs typeface="Arial"/>
              </a:rPr>
              <a:t>The three most common types of malware are:</a:t>
            </a:r>
            <a:endParaRPr lang="pt-BR" dirty="0">
              <a:cs typeface="Calibri"/>
            </a:endParaRPr>
          </a:p>
          <a:p>
            <a:endParaRPr lang="en-US" sz="1400" dirty="0">
              <a:latin typeface="Arial"/>
              <a:cs typeface="Arial"/>
            </a:endParaRPr>
          </a:p>
          <a:p>
            <a:r>
              <a:rPr lang="en-US" sz="1400" dirty="0">
                <a:latin typeface="Arial"/>
                <a:cs typeface="Arial"/>
              </a:rPr>
              <a:t>Virus</a:t>
            </a:r>
            <a:endParaRPr lang="en-US" dirty="0"/>
          </a:p>
          <a:p>
            <a:pPr marL="285750" indent="-285750">
              <a:buFont typeface="Arial"/>
              <a:buChar char="•"/>
            </a:pPr>
            <a:r>
              <a:rPr lang="en-US" sz="1400" dirty="0">
                <a:latin typeface="Arial"/>
                <a:cs typeface="Arial"/>
              </a:rPr>
              <a:t>Type of computer program that, when executed, replicates and attaches itself to other files, such as a legitimate program, by inserting its code into it. </a:t>
            </a:r>
            <a:endParaRPr lang="en-US" dirty="0">
              <a:latin typeface="Calibri" panose="020F0502020204030204"/>
              <a:cs typeface="Calibri" panose="020F0502020204030204"/>
            </a:endParaRPr>
          </a:p>
          <a:p>
            <a:endParaRPr lang="en-US" sz="1400" dirty="0">
              <a:latin typeface="Arial"/>
              <a:cs typeface="Arial"/>
            </a:endParaRPr>
          </a:p>
          <a:p>
            <a:r>
              <a:rPr lang="en-US" sz="1400" dirty="0">
                <a:latin typeface="Arial"/>
                <a:cs typeface="Arial"/>
              </a:rPr>
              <a:t>Worms</a:t>
            </a:r>
          </a:p>
          <a:p>
            <a:pPr marL="285750" indent="-285750">
              <a:buFont typeface="Arial"/>
              <a:buChar char="•"/>
            </a:pPr>
            <a:r>
              <a:rPr lang="en-US" sz="1400" dirty="0">
                <a:latin typeface="Arial"/>
                <a:cs typeface="Arial"/>
              </a:rPr>
              <a:t>It replicates by independently exploiting vulnerabilities in networks.</a:t>
            </a:r>
          </a:p>
          <a:p>
            <a:endParaRPr lang="en-US" sz="1400" dirty="0">
              <a:latin typeface="Arial"/>
              <a:cs typeface="Arial"/>
            </a:endParaRPr>
          </a:p>
          <a:p>
            <a:r>
              <a:rPr lang="en-US" sz="1400" dirty="0">
                <a:latin typeface="Arial"/>
                <a:cs typeface="Arial"/>
              </a:rPr>
              <a:t>Trojan horse</a:t>
            </a:r>
          </a:p>
          <a:p>
            <a:pPr marL="285750" indent="-285750">
              <a:buFont typeface="Arial"/>
              <a:buChar char="•"/>
            </a:pPr>
            <a:r>
              <a:rPr lang="en-US" sz="1400" dirty="0">
                <a:latin typeface="Arial"/>
                <a:cs typeface="Arial"/>
              </a:rPr>
              <a:t>It carries out malicious operations by masking its true intent. It might appear legitimate but is, in fact, very dangerous. </a:t>
            </a:r>
            <a:br>
              <a:rPr lang="en-US" dirty="0"/>
            </a:br>
            <a:endParaRPr lang="en-US" dirty="0">
              <a:cs typeface="Calibri"/>
            </a:endParaRPr>
          </a:p>
          <a:p>
            <a:endParaRPr lang="en-US" sz="1400" dirty="0">
              <a:latin typeface="Arial"/>
              <a:cs typeface="Arial"/>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 Attacks</a:t>
            </a:r>
            <a:endParaRPr lang="en-US" sz="1600"/>
          </a:p>
        </p:txBody>
      </p:sp>
      <p:sp>
        <p:nvSpPr>
          <p:cNvPr id="3" name="Text 0"/>
          <p:cNvSpPr>
            <a:spLocks noGrp="1"/>
          </p:cNvSpPr>
          <p:nvPr>
            <p:ph type="body" idx="100" hasCustomPrompt="1"/>
          </p:nvPr>
        </p:nvSpPr>
        <p:spPr>
          <a:xfrm>
            <a:off x="0" y="274320"/>
            <a:ext cx="9144000" cy="9144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Logic Bombs</a:t>
            </a:r>
            <a:endParaRPr lang="en-US" sz="2200"/>
          </a:p>
        </p:txBody>
      </p:sp>
      <p:sp>
        <p:nvSpPr>
          <p:cNvPr id="5" name="Text 2"/>
          <p:cNvSpPr/>
          <p:nvPr/>
        </p:nvSpPr>
        <p:spPr>
          <a:xfrm>
            <a:off x="173935" y="1188720"/>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latin typeface="Arial" panose="020B0604020202020204" pitchFamily="34" charset="0"/>
                <a:cs typeface="Arial" panose="020B0604020202020204" pitchFamily="34" charset="0"/>
              </a:rPr>
              <a:t>A malicious program that waits for a trigger, such as a specified date or database entry, to set off the malicious code. Until this trigger event happens, the logic bomb will remain inactive.</a:t>
            </a:r>
            <a:endParaRPr lang="pt-BR" sz="1400" dirty="0">
              <a:latin typeface="Arial" panose="020B0604020202020204" pitchFamily="34" charset="0"/>
              <a:cs typeface="Arial" panose="020B0604020202020204" pitchFamily="34" charset="0"/>
            </a:endParaRPr>
          </a:p>
          <a:p>
            <a:pPr marL="285750" indent="-285750">
              <a:buFont typeface="Arial"/>
              <a:buChar char="•"/>
            </a:pP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cs typeface="Arial" panose="020B0604020202020204" pitchFamily="34" charset="0"/>
              </a:rPr>
              <a:t>Once activated, it implements a malicious code that causes harm to a computer in various ways. It can sabotage database records, erase files and attack operating systems or applications. </a:t>
            </a:r>
          </a:p>
          <a:p>
            <a:pPr marL="285750" indent="-285750">
              <a:buFont typeface="Arial"/>
              <a:buChar char="•"/>
            </a:pP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cs typeface="Arial" panose="020B0604020202020204" pitchFamily="34" charset="0"/>
              </a:rPr>
              <a:t>Logic bombs attack and destroy the hardware components in a device or server, including the cooling fans, CPU, memory, hard drives, and power supplies were recently discovered.</a:t>
            </a:r>
          </a:p>
          <a:p>
            <a:pPr>
              <a:lnSpc>
                <a:spcPts val="2000"/>
              </a:lnSpc>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 Attacks</a:t>
            </a:r>
            <a:endParaRPr lang="en-US" sz="1600"/>
          </a:p>
        </p:txBody>
      </p:sp>
      <p:sp>
        <p:nvSpPr>
          <p:cNvPr id="3" name="Text 0"/>
          <p:cNvSpPr>
            <a:spLocks noGrp="1"/>
          </p:cNvSpPr>
          <p:nvPr>
            <p:ph type="body" idx="100" hasCustomPrompt="1"/>
          </p:nvPr>
        </p:nvSpPr>
        <p:spPr>
          <a:xfrm>
            <a:off x="0" y="274320"/>
            <a:ext cx="9144000" cy="55626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Ransomware</a:t>
            </a:r>
            <a:endParaRPr lang="en-US" sz="2200"/>
          </a:p>
        </p:txBody>
      </p:sp>
      <p:sp>
        <p:nvSpPr>
          <p:cNvPr id="5" name="Text 2"/>
          <p:cNvSpPr/>
          <p:nvPr/>
        </p:nvSpPr>
        <p:spPr>
          <a:xfrm>
            <a:off x="337930" y="1242391"/>
            <a:ext cx="8229600" cy="3146729"/>
          </a:xfrm>
          <a:prstGeom prst="rect">
            <a:avLst/>
          </a:prstGeom>
          <a:noFill/>
          <a:ln/>
        </p:spPr>
        <p:txBody>
          <a:bodyPr wrap="square" lIns="91440" tIns="45720" rIns="91440" bIns="45720" rtlCol="0" anchor="t"/>
          <a:lstStyle/>
          <a:p>
            <a:pPr marL="285750" indent="-285750">
              <a:buFont typeface="Arial" panose="020B0604020202020204" pitchFamily="34" charset="0"/>
              <a:buChar char="•"/>
            </a:pPr>
            <a:r>
              <a:rPr lang="en-US" sz="1400" dirty="0">
                <a:latin typeface="Arial" panose="020B0604020202020204" pitchFamily="34" charset="0"/>
                <a:ea typeface="+mn-lt"/>
                <a:cs typeface="Arial" panose="020B0604020202020204" pitchFamily="34" charset="0"/>
              </a:rPr>
              <a:t>Designed to hold a computer system or the data it contains captive until completed payment. </a:t>
            </a:r>
            <a:endParaRPr lang="pt-BR"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ea typeface="+mn-lt"/>
                <a:cs typeface="Arial" panose="020B0604020202020204" pitchFamily="34" charset="0"/>
              </a:rPr>
              <a:t>It usually works by encrypting data so the owner cannot access it. </a:t>
            </a:r>
            <a:endParaRPr lang="en-US" dirty="0">
              <a:latin typeface="Arial" panose="020B0604020202020204" pitchFamily="34" charset="0"/>
              <a:ea typeface="+mn-lt"/>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ea typeface="+mn-lt"/>
                <a:cs typeface="Arial" panose="020B0604020202020204" pitchFamily="34" charset="0"/>
              </a:rPr>
              <a:t>A demanded ransom paid through an untraceable payment system, the cybercriminal provides a program that decrypts files or sends an unlock code – but many victims do not gain access to their data even after paying. </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ea typeface="+mn-lt"/>
                <a:cs typeface="Arial" panose="020B0604020202020204" pitchFamily="34" charset="0"/>
              </a:rPr>
              <a:t>Some versions of ransomware can take advantage of specific system vulnerabilities to lock it down. </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ea typeface="+mn-lt"/>
                <a:cs typeface="Arial" panose="020B0604020202020204" pitchFamily="34" charset="0"/>
              </a:rPr>
              <a:t>Spread through phishing emails that encourage downloading malicious attachments or a software vulnerability. </a:t>
            </a:r>
            <a:endParaRPr lang="en-US" dirty="0">
              <a:latin typeface="Arial" panose="020B0604020202020204" pitchFamily="34" charset="0"/>
              <a:cs typeface="Arial" panose="020B0604020202020204" pitchFamily="34" charset="0"/>
            </a:endParaRPr>
          </a:p>
          <a:p>
            <a:pPr>
              <a:buFont typeface="Arial"/>
              <a:buChar char="•"/>
            </a:pPr>
            <a:endParaRPr lang="en-US" dirty="0">
              <a:latin typeface="Arial" panose="020B0604020202020204" pitchFamily="34" charset="0"/>
              <a:cs typeface="Arial" panose="020B0604020202020204" pitchFamily="34" charset="0"/>
            </a:endParaRPr>
          </a:p>
          <a:p>
            <a:pPr marL="285750" indent="-285750">
              <a:buFont typeface="Arial"/>
              <a:buChar char="•"/>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 Attacks</a:t>
            </a:r>
            <a:endParaRPr lang="en-US" sz="1600"/>
          </a:p>
        </p:txBody>
      </p:sp>
      <p:sp>
        <p:nvSpPr>
          <p:cNvPr id="3" name="Text 0"/>
          <p:cNvSpPr>
            <a:spLocks noGrp="1"/>
          </p:cNvSpPr>
          <p:nvPr>
            <p:ph type="body" idx="100" hasCustomPrompt="1"/>
          </p:nvPr>
        </p:nvSpPr>
        <p:spPr>
          <a:xfrm>
            <a:off x="0" y="274320"/>
            <a:ext cx="9144000" cy="650019"/>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Denial of Service Attacks</a:t>
            </a:r>
            <a:endParaRPr lang="en-US" sz="2200"/>
          </a:p>
        </p:txBody>
      </p:sp>
      <p:sp>
        <p:nvSpPr>
          <p:cNvPr id="5" name="Text 2"/>
          <p:cNvSpPr/>
          <p:nvPr/>
        </p:nvSpPr>
        <p:spPr>
          <a:xfrm>
            <a:off x="238539" y="1043609"/>
            <a:ext cx="8229600" cy="2571750"/>
          </a:xfrm>
          <a:prstGeom prst="rect">
            <a:avLst/>
          </a:prstGeom>
          <a:noFill/>
          <a:ln/>
        </p:spPr>
        <p:txBody>
          <a:bodyPr wrap="square" lIns="91440" tIns="45720" rIns="91440" bIns="45720" rtlCol="0" anchor="t"/>
          <a:lstStyle/>
          <a:p>
            <a:r>
              <a:rPr lang="en-US" sz="1400" dirty="0">
                <a:latin typeface="Arial" panose="020B0604020202020204" pitchFamily="34" charset="0"/>
                <a:ea typeface="+mn-lt"/>
                <a:cs typeface="Arial" panose="020B0604020202020204" pitchFamily="34" charset="0"/>
              </a:rPr>
              <a:t>The type of network attack is relatively simple to conduct, even for an unskilled attacker. They usually result in some interruption to network services, causing a significant loss of time and money.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The two main types of DoS attacks are: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The overwhelming quantity of traffic: When a network, host, or application sends an enormous amount of data at a rate it cannot handle, it causes a slow transmission or response or causes the device or service to crash.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Maliciously formatted packets: Sends a maliciously formatted packet, and the receiver will be unable to handle it.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 Attacks</a:t>
            </a:r>
            <a:endParaRPr lang="en-US" sz="1600"/>
          </a:p>
        </p:txBody>
      </p:sp>
      <p:sp>
        <p:nvSpPr>
          <p:cNvPr id="3" name="Text 0"/>
          <p:cNvSpPr>
            <a:spLocks noGrp="1"/>
          </p:cNvSpPr>
          <p:nvPr>
            <p:ph type="body" idx="100" hasCustomPrompt="1"/>
          </p:nvPr>
        </p:nvSpPr>
        <p:spPr>
          <a:xfrm>
            <a:off x="0" y="274320"/>
            <a:ext cx="9144000" cy="369848"/>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Domain Name System</a:t>
            </a:r>
            <a:endParaRPr lang="en-US" sz="2200"/>
          </a:p>
        </p:txBody>
      </p:sp>
      <p:sp>
        <p:nvSpPr>
          <p:cNvPr id="5" name="Text 2"/>
          <p:cNvSpPr/>
          <p:nvPr/>
        </p:nvSpPr>
        <p:spPr>
          <a:xfrm>
            <a:off x="58228" y="732402"/>
            <a:ext cx="8412911" cy="663157"/>
          </a:xfrm>
          <a:prstGeom prst="rect">
            <a:avLst/>
          </a:prstGeom>
          <a:noFill/>
          <a:ln/>
        </p:spPr>
        <p:txBody>
          <a:bodyPr wrap="square" lIns="91440" tIns="45720" rIns="91440" bIns="45720" rtlCol="0" anchor="t"/>
          <a:lstStyle/>
          <a:p>
            <a:pPr marL="285750" indent="-285750">
              <a:buFont typeface="Arial"/>
              <a:buChar char="•"/>
            </a:pPr>
            <a:r>
              <a:rPr lang="en-US" sz="1400" dirty="0">
                <a:latin typeface="Arial"/>
                <a:ea typeface="+mn-lt"/>
                <a:cs typeface="+mn-lt"/>
              </a:rPr>
              <a:t>Many essential technical services are needed for a network to operate, such as routing, addressing, and domain naming. These are prime targets for attack. </a:t>
            </a:r>
            <a:endParaRPr lang="en-US" dirty="0">
              <a:latin typeface="Arial"/>
              <a:cs typeface="Arial"/>
            </a:endParaRPr>
          </a:p>
          <a:p>
            <a:pPr marL="285750" indent="-285750">
              <a:buFont typeface="Arial"/>
              <a:buChar char="•"/>
            </a:pPr>
            <a:r>
              <a:rPr lang="en-US" sz="1400" dirty="0">
                <a:latin typeface="Arial"/>
                <a:cs typeface="Arial"/>
              </a:rPr>
              <a:t>Cybercriminals can take advantage of vulnerabilities in DNS services to launch the following attacks:</a:t>
            </a:r>
          </a:p>
          <a:p>
            <a:endParaRPr lang="en-US" sz="1400">
              <a:latin typeface="Arial"/>
              <a:cs typeface="Arial"/>
            </a:endParaRPr>
          </a:p>
          <a:p>
            <a:pPr marL="742950" lvl="1" indent="-285750">
              <a:buFont typeface="Arial"/>
              <a:buChar char="•"/>
            </a:pPr>
            <a:endParaRPr lang="en-US" sz="1400">
              <a:latin typeface="Arial"/>
              <a:cs typeface="Arial"/>
            </a:endParaRPr>
          </a:p>
        </p:txBody>
      </p:sp>
      <p:graphicFrame>
        <p:nvGraphicFramePr>
          <p:cNvPr id="4" name="Tabela 5">
            <a:extLst>
              <a:ext uri="{FF2B5EF4-FFF2-40B4-BE49-F238E27FC236}">
                <a16:creationId xmlns:a16="http://schemas.microsoft.com/office/drawing/2014/main" id="{A2D1D426-BDA1-D470-1D58-A26B34CA3EA8}"/>
              </a:ext>
            </a:extLst>
          </p:cNvPr>
          <p:cNvGraphicFramePr>
            <a:graphicFrameLocks noGrp="1"/>
          </p:cNvGraphicFramePr>
          <p:nvPr>
            <p:extLst>
              <p:ext uri="{D42A27DB-BD31-4B8C-83A1-F6EECF244321}">
                <p14:modId xmlns:p14="http://schemas.microsoft.com/office/powerpoint/2010/main" val="1393741502"/>
              </p:ext>
            </p:extLst>
          </p:nvPr>
        </p:nvGraphicFramePr>
        <p:xfrm>
          <a:off x="81520" y="1455620"/>
          <a:ext cx="8877558" cy="3352800"/>
        </p:xfrm>
        <a:graphic>
          <a:graphicData uri="http://schemas.openxmlformats.org/drawingml/2006/table">
            <a:tbl>
              <a:tblPr firstRow="1" bandRow="1">
                <a:tableStyleId>{5C22544A-7EE6-4342-B048-85BDC9FD1C3A}</a:tableStyleId>
              </a:tblPr>
              <a:tblGrid>
                <a:gridCol w="2346506">
                  <a:extLst>
                    <a:ext uri="{9D8B030D-6E8A-4147-A177-3AD203B41FA5}">
                      <a16:colId xmlns:a16="http://schemas.microsoft.com/office/drawing/2014/main" val="3967108169"/>
                    </a:ext>
                  </a:extLst>
                </a:gridCol>
                <a:gridCol w="6531052">
                  <a:extLst>
                    <a:ext uri="{9D8B030D-6E8A-4147-A177-3AD203B41FA5}">
                      <a16:colId xmlns:a16="http://schemas.microsoft.com/office/drawing/2014/main" val="731349523"/>
                    </a:ext>
                  </a:extLst>
                </a:gridCol>
              </a:tblGrid>
              <a:tr h="370840">
                <a:tc>
                  <a:txBody>
                    <a:bodyPr/>
                    <a:lstStyle/>
                    <a:p>
                      <a:r>
                        <a:rPr lang="en-US" sz="1400" b="0" noProof="0" dirty="0">
                          <a:solidFill>
                            <a:schemeClr val="tx1"/>
                          </a:solidFill>
                          <a:latin typeface="Arial"/>
                        </a:rPr>
                        <a:t>Domain reputation</a:t>
                      </a:r>
                    </a:p>
                  </a:txBody>
                  <a:tcPr>
                    <a:solidFill>
                      <a:schemeClr val="bg2"/>
                    </a:solidFill>
                  </a:tcPr>
                </a:tc>
                <a:tc>
                  <a:txBody>
                    <a:bodyPr/>
                    <a:lstStyle/>
                    <a:p>
                      <a:pPr lvl="0" algn="l">
                        <a:lnSpc>
                          <a:spcPct val="100000"/>
                        </a:lnSpc>
                        <a:spcBef>
                          <a:spcPts val="0"/>
                        </a:spcBef>
                        <a:spcAft>
                          <a:spcPts val="0"/>
                        </a:spcAft>
                        <a:buNone/>
                      </a:pPr>
                      <a:r>
                        <a:rPr lang="en-US" sz="1400" b="0" i="0" u="none" strike="noStrike" noProof="0" dirty="0">
                          <a:solidFill>
                            <a:schemeClr val="tx1"/>
                          </a:solidFill>
                          <a:latin typeface="Arial"/>
                        </a:rPr>
                        <a:t>The DNS is used by DNS servers to translate a domain name into a numerical IP address so that computers can understand it. If a DNS server does not know an IP address, it will ask another DNS server. An organization needs to monitor its domain reputation, including its IP address, to help protect against malicious external domains.</a:t>
                      </a:r>
                      <a:endParaRPr lang="en-US" sz="1400" dirty="0">
                        <a:solidFill>
                          <a:schemeClr val="tx1"/>
                        </a:solidFill>
                        <a:latin typeface="Arial"/>
                      </a:endParaRPr>
                    </a:p>
                  </a:txBody>
                  <a:tcPr>
                    <a:solidFill>
                      <a:schemeClr val="bg2"/>
                    </a:solidFill>
                  </a:tcPr>
                </a:tc>
                <a:extLst>
                  <a:ext uri="{0D108BD9-81ED-4DB2-BD59-A6C34878D82A}">
                    <a16:rowId xmlns:a16="http://schemas.microsoft.com/office/drawing/2014/main" val="1282686397"/>
                  </a:ext>
                </a:extLst>
              </a:tr>
              <a:tr h="370840">
                <a:tc>
                  <a:txBody>
                    <a:bodyPr/>
                    <a:lstStyle/>
                    <a:p>
                      <a:r>
                        <a:rPr lang="en-US" sz="1400" noProof="0" dirty="0">
                          <a:solidFill>
                            <a:schemeClr val="tx1"/>
                          </a:solidFill>
                          <a:latin typeface="Arial"/>
                        </a:rPr>
                        <a:t>DNS spoofing (DNS cache poisoning)</a:t>
                      </a:r>
                    </a:p>
                  </a:txBody>
                  <a:tcPr/>
                </a:tc>
                <a:tc>
                  <a:txBody>
                    <a:bodyPr/>
                    <a:lstStyle/>
                    <a:p>
                      <a:pPr lvl="0" algn="l">
                        <a:lnSpc>
                          <a:spcPct val="100000"/>
                        </a:lnSpc>
                        <a:spcBef>
                          <a:spcPts val="0"/>
                        </a:spcBef>
                        <a:spcAft>
                          <a:spcPts val="0"/>
                        </a:spcAft>
                        <a:buNone/>
                      </a:pPr>
                      <a:r>
                        <a:rPr lang="en-US" sz="1400" b="0" i="0" u="none" strike="noStrike" kern="1200" noProof="0" dirty="0">
                          <a:solidFill>
                            <a:schemeClr val="tx1"/>
                          </a:solidFill>
                          <a:latin typeface="Arial"/>
                          <a:ea typeface="+mn-ea"/>
                          <a:cs typeface="+mn-cs"/>
                        </a:rPr>
                        <a:t>Attack in which false data is introduced into a DNS resolver cache — the temporary database on a computer’s operating system that records recent visits to websites and other Internet domains. These poison attacks exploit a weakness in the DNS software that causes the DNS servers to redirect traffic for a specific domain to the attacker’s computer.</a:t>
                      </a:r>
                      <a:endParaRPr lang="en-US" sz="1400" b="0" i="0" u="none" strike="noStrike" kern="1200" dirty="0">
                        <a:solidFill>
                          <a:schemeClr val="tx1"/>
                        </a:solidFill>
                        <a:latin typeface="Arial"/>
                        <a:ea typeface="+mn-ea"/>
                        <a:cs typeface="+mn-cs"/>
                      </a:endParaRPr>
                    </a:p>
                  </a:txBody>
                  <a:tcPr/>
                </a:tc>
                <a:extLst>
                  <a:ext uri="{0D108BD9-81ED-4DB2-BD59-A6C34878D82A}">
                    <a16:rowId xmlns:a16="http://schemas.microsoft.com/office/drawing/2014/main" val="1347722933"/>
                  </a:ext>
                </a:extLst>
              </a:tr>
              <a:tr h="370840">
                <a:tc>
                  <a:txBody>
                    <a:bodyPr/>
                    <a:lstStyle/>
                    <a:p>
                      <a:r>
                        <a:rPr lang="en-US" sz="1400" noProof="0" dirty="0">
                          <a:solidFill>
                            <a:schemeClr val="tx1"/>
                          </a:solidFill>
                          <a:latin typeface="Arial"/>
                        </a:rPr>
                        <a:t>Domain hijacking</a:t>
                      </a:r>
                    </a:p>
                  </a:txBody>
                  <a:tcPr/>
                </a:tc>
                <a:tc>
                  <a:txBody>
                    <a:bodyPr/>
                    <a:lstStyle/>
                    <a:p>
                      <a:pPr lvl="0" algn="l">
                        <a:lnSpc>
                          <a:spcPct val="100000"/>
                        </a:lnSpc>
                        <a:spcBef>
                          <a:spcPts val="0"/>
                        </a:spcBef>
                        <a:spcAft>
                          <a:spcPts val="0"/>
                        </a:spcAft>
                        <a:buNone/>
                      </a:pPr>
                      <a:r>
                        <a:rPr lang="en-US" sz="1400" b="0" i="0" u="none" strike="noStrike" kern="1200" noProof="0" dirty="0">
                          <a:solidFill>
                            <a:schemeClr val="tx1"/>
                          </a:solidFill>
                          <a:latin typeface="Arial"/>
                          <a:ea typeface="+mn-ea"/>
                          <a:cs typeface="+mn-cs"/>
                        </a:rPr>
                        <a:t>When an attacker wrongfully gains control of a target’s DNS information, they can make unauthorized changes to it. </a:t>
                      </a:r>
                    </a:p>
                  </a:txBody>
                  <a:tcPr/>
                </a:tc>
                <a:extLst>
                  <a:ext uri="{0D108BD9-81ED-4DB2-BD59-A6C34878D82A}">
                    <a16:rowId xmlns:a16="http://schemas.microsoft.com/office/drawing/2014/main" val="583689867"/>
                  </a:ext>
                </a:extLst>
              </a:tr>
              <a:tr h="370840">
                <a:tc>
                  <a:txBody>
                    <a:bodyPr/>
                    <a:lstStyle/>
                    <a:p>
                      <a:r>
                        <a:rPr lang="en-US" sz="1400" noProof="0" dirty="0">
                          <a:solidFill>
                            <a:schemeClr val="tx1"/>
                          </a:solidFill>
                          <a:latin typeface="Arial"/>
                        </a:rPr>
                        <a:t>Uniform resource location (URL)</a:t>
                      </a:r>
                    </a:p>
                  </a:txBody>
                  <a:tcPr/>
                </a:tc>
                <a:tc>
                  <a:txBody>
                    <a:bodyPr/>
                    <a:lstStyle/>
                    <a:p>
                      <a:pPr lvl="0" algn="l">
                        <a:lnSpc>
                          <a:spcPct val="100000"/>
                        </a:lnSpc>
                        <a:spcBef>
                          <a:spcPts val="0"/>
                        </a:spcBef>
                        <a:spcAft>
                          <a:spcPts val="0"/>
                        </a:spcAft>
                        <a:buNone/>
                      </a:pPr>
                      <a:r>
                        <a:rPr lang="en-US" sz="1400" b="0" i="0" u="none" strike="noStrike" kern="1200" noProof="0" dirty="0">
                          <a:solidFill>
                            <a:schemeClr val="tx1"/>
                          </a:solidFill>
                          <a:latin typeface="Arial"/>
                          <a:ea typeface="+mn-ea"/>
                          <a:cs typeface="+mn-cs"/>
                        </a:rPr>
                        <a:t>A unique identifier for finding a specific resource on the Internet. Redirecting a URL commonly happens for legitimate purposes.</a:t>
                      </a:r>
                      <a:endParaRPr lang="en-US" sz="1400" b="0" i="0" u="none" strike="noStrike" kern="1200" dirty="0">
                        <a:solidFill>
                          <a:schemeClr val="tx1"/>
                        </a:solidFill>
                        <a:latin typeface="Arial"/>
                        <a:ea typeface="+mn-ea"/>
                        <a:cs typeface="+mn-cs"/>
                      </a:endParaRPr>
                    </a:p>
                  </a:txBody>
                  <a:tcPr/>
                </a:tc>
                <a:extLst>
                  <a:ext uri="{0D108BD9-81ED-4DB2-BD59-A6C34878D82A}">
                    <a16:rowId xmlns:a16="http://schemas.microsoft.com/office/drawing/2014/main" val="514310135"/>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 Attacks</a:t>
            </a:r>
            <a:endParaRPr lang="en-US" sz="1600"/>
          </a:p>
        </p:txBody>
      </p:sp>
      <p:sp>
        <p:nvSpPr>
          <p:cNvPr id="3" name="Text 0"/>
          <p:cNvSpPr>
            <a:spLocks noGrp="1"/>
          </p:cNvSpPr>
          <p:nvPr>
            <p:ph type="body" idx="100" hasCustomPrompt="1"/>
          </p:nvPr>
        </p:nvSpPr>
        <p:spPr>
          <a:xfrm>
            <a:off x="0" y="274320"/>
            <a:ext cx="9144000" cy="540689"/>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Layer 2 Attacks</a:t>
            </a:r>
            <a:endParaRPr lang="en-US" sz="2200"/>
          </a:p>
        </p:txBody>
      </p:sp>
      <p:sp>
        <p:nvSpPr>
          <p:cNvPr id="5" name="Text 2"/>
          <p:cNvSpPr/>
          <p:nvPr/>
        </p:nvSpPr>
        <p:spPr>
          <a:xfrm>
            <a:off x="278157" y="1026581"/>
            <a:ext cx="8229600" cy="3218730"/>
          </a:xfrm>
          <a:prstGeom prst="rect">
            <a:avLst/>
          </a:prstGeom>
          <a:noFill/>
          <a:ln/>
        </p:spPr>
        <p:txBody>
          <a:bodyPr wrap="square" lIns="91440" tIns="45720" rIns="91440" bIns="45720" rtlCol="0" anchor="t"/>
          <a:lstStyle/>
          <a:p>
            <a:r>
              <a:rPr lang="en-US" sz="1400" dirty="0">
                <a:latin typeface="Arial" panose="020B0604020202020204" pitchFamily="34" charset="0"/>
                <a:ea typeface="+mn-lt"/>
                <a:cs typeface="Arial" panose="020B0604020202020204" pitchFamily="34" charset="0"/>
              </a:rPr>
              <a:t>Attackers often take advantage of vulnerabilities in layer two security. </a:t>
            </a:r>
            <a:endParaRPr lang="en-US" dirty="0">
              <a:latin typeface="Arial" panose="020B0604020202020204" pitchFamily="34" charset="0"/>
              <a:ea typeface="+mn-lt"/>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Some examples of attacks are: </a:t>
            </a:r>
            <a:endParaRPr lang="pt-BR" dirty="0">
              <a:latin typeface="Arial" panose="020B0604020202020204" pitchFamily="34" charset="0"/>
              <a:cs typeface="Arial" panose="020B0604020202020204" pitchFamily="34" charset="0"/>
            </a:endParaRPr>
          </a:p>
          <a:p>
            <a:endParaRPr lang="en-US" sz="1400" b="1"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Spoofing</a:t>
            </a:r>
          </a:p>
          <a:p>
            <a:pPr marL="285750" indent="-285750">
              <a:buFont typeface="Arial"/>
              <a:buChar char="•"/>
            </a:pPr>
            <a:r>
              <a:rPr lang="en-US" sz="1400" dirty="0">
                <a:latin typeface="Arial" panose="020B0604020202020204" pitchFamily="34" charset="0"/>
                <a:cs typeface="Arial" panose="020B0604020202020204" pitchFamily="34" charset="0"/>
              </a:rPr>
              <a:t>MAC address spoofing </a:t>
            </a:r>
          </a:p>
          <a:p>
            <a:pPr marL="285750" indent="-285750">
              <a:buFont typeface="Arial"/>
              <a:buChar char="•"/>
            </a:pPr>
            <a:r>
              <a:rPr lang="en-US" sz="1400" dirty="0">
                <a:latin typeface="Arial" panose="020B0604020202020204" pitchFamily="34" charset="0"/>
                <a:cs typeface="Arial" panose="020B0604020202020204" pitchFamily="34" charset="0"/>
              </a:rPr>
              <a:t>ARP spoofing</a:t>
            </a:r>
          </a:p>
          <a:p>
            <a:pPr marL="285750" indent="-285750">
              <a:buFont typeface="Arial"/>
              <a:buChar char="•"/>
            </a:pPr>
            <a:r>
              <a:rPr lang="en-US" sz="1400" dirty="0">
                <a:latin typeface="Arial" panose="020B0604020202020204" pitchFamily="34" charset="0"/>
                <a:cs typeface="Arial" panose="020B0604020202020204" pitchFamily="34" charset="0"/>
              </a:rPr>
              <a:t>IP spoofing</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MAC Flooding</a:t>
            </a:r>
            <a:endParaRPr lang="en-US"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cs typeface="Arial" panose="020B0604020202020204" pitchFamily="34" charset="0"/>
              </a:rPr>
              <a:t>It compromises the data transmitted to a device. An attacker floods the network with fake MAC addresses, compromising the security of the network switch.</a:t>
            </a:r>
            <a:endParaRPr lang="en-US"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pPr>
              <a:lnSpc>
                <a:spcPts val="2000"/>
              </a:lnSpc>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 Attacks</a:t>
            </a:r>
            <a:endParaRPr lang="en-US" sz="1600"/>
          </a:p>
        </p:txBody>
      </p:sp>
      <p:sp>
        <p:nvSpPr>
          <p:cNvPr id="3" name="Text 0"/>
          <p:cNvSpPr>
            <a:spLocks noGrp="1"/>
          </p:cNvSpPr>
          <p:nvPr>
            <p:ph type="body" idx="100" hasCustomPrompt="1"/>
          </p:nvPr>
        </p:nvSpPr>
        <p:spPr>
          <a:xfrm>
            <a:off x="0" y="274320"/>
            <a:ext cx="9144000" cy="59512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Man-in-the-Middle and Man-in-the-Mobile Attacks</a:t>
            </a:r>
            <a:endParaRPr lang="en-US" sz="2200"/>
          </a:p>
        </p:txBody>
      </p:sp>
      <p:sp>
        <p:nvSpPr>
          <p:cNvPr id="5" name="Text 2"/>
          <p:cNvSpPr/>
          <p:nvPr/>
        </p:nvSpPr>
        <p:spPr>
          <a:xfrm>
            <a:off x="283265" y="969065"/>
            <a:ext cx="8229600" cy="3304995"/>
          </a:xfrm>
          <a:prstGeom prst="rect">
            <a:avLst/>
          </a:prstGeom>
          <a:noFill/>
          <a:ln/>
        </p:spPr>
        <p:txBody>
          <a:bodyPr wrap="square" lIns="91440" tIns="45720" rIns="91440" bIns="45720" rtlCol="0" anchor="t"/>
          <a:lstStyle/>
          <a:p>
            <a:r>
              <a:rPr lang="en-US" sz="1400" dirty="0">
                <a:latin typeface="Arial" panose="020B0604020202020204" pitchFamily="34" charset="0"/>
                <a:ea typeface="+mn-lt"/>
                <a:cs typeface="Arial" panose="020B0604020202020204" pitchFamily="34" charset="0"/>
              </a:rPr>
              <a:t>Attackers can intercept or modify communications between two devices to steal information from or impersonate one of the devices. </a:t>
            </a:r>
            <a:endParaRPr lang="en-US" dirty="0">
              <a:latin typeface="Arial" panose="020B0604020202020204" pitchFamily="34" charset="0"/>
              <a:ea typeface="+mn-lt"/>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MitM (Man-in-the-Middle) </a:t>
            </a:r>
            <a:endParaRPr lang="en-US" dirty="0">
              <a:latin typeface="Arial" panose="020B0604020202020204" pitchFamily="34" charset="0"/>
              <a:ea typeface="+mn-lt"/>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It happens when a cybercriminal takes control of a device without the user’s knowledge. </a:t>
            </a:r>
            <a:endParaRPr lang="en-US" dirty="0">
              <a:latin typeface="Arial" panose="020B0604020202020204" pitchFamily="34" charset="0"/>
              <a:ea typeface="+mn-lt"/>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With this level of access, an attacker can intercept, manipulate and relay false information between the sender and the intended destination. </a:t>
            </a:r>
            <a:endParaRPr lang="en-US" dirty="0">
              <a:latin typeface="Arial" panose="020B0604020202020204" pitchFamily="34" charset="0"/>
              <a:ea typeface="+mn-lt"/>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1400" dirty="0" err="1">
                <a:latin typeface="Arial" panose="020B0604020202020204" pitchFamily="34" charset="0"/>
                <a:ea typeface="+mn-lt"/>
                <a:cs typeface="Arial" panose="020B0604020202020204" pitchFamily="34" charset="0"/>
              </a:rPr>
              <a:t>MitMO</a:t>
            </a:r>
            <a:r>
              <a:rPr lang="en-US" sz="1400" dirty="0">
                <a:latin typeface="Arial" panose="020B0604020202020204" pitchFamily="34" charset="0"/>
                <a:ea typeface="+mn-lt"/>
                <a:cs typeface="Arial" panose="020B0604020202020204" pitchFamily="34" charset="0"/>
              </a:rPr>
              <a:t> (Man-in-the-Mobile) </a:t>
            </a:r>
            <a:endParaRPr lang="en-US" dirty="0">
              <a:latin typeface="Arial" panose="020B0604020202020204" pitchFamily="34" charset="0"/>
              <a:ea typeface="+mn-lt"/>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A </a:t>
            </a:r>
            <a:r>
              <a:rPr lang="en-US" sz="1400" dirty="0" err="1">
                <a:latin typeface="Arial" panose="020B0604020202020204" pitchFamily="34" charset="0"/>
                <a:ea typeface="+mn-lt"/>
                <a:cs typeface="Arial" panose="020B0604020202020204" pitchFamily="34" charset="0"/>
              </a:rPr>
              <a:t>MitMO</a:t>
            </a:r>
            <a:r>
              <a:rPr lang="en-US" sz="1400" dirty="0">
                <a:latin typeface="Arial" panose="020B0604020202020204" pitchFamily="34" charset="0"/>
                <a:ea typeface="+mn-lt"/>
                <a:cs typeface="Arial" panose="020B0604020202020204" pitchFamily="34" charset="0"/>
              </a:rPr>
              <a:t> variation is a type of attack used to take control of a user’s mobile device. </a:t>
            </a:r>
            <a:endParaRPr lang="en-US" dirty="0">
              <a:latin typeface="Arial" panose="020B0604020202020204" pitchFamily="34" charset="0"/>
              <a:ea typeface="+mn-lt"/>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When infected, the mobile device instructs to exfiltrate user-sensitive information and send it to the attackers. </a:t>
            </a:r>
            <a:endParaRPr lang="en-US" dirty="0">
              <a:latin typeface="Arial" panose="020B0604020202020204" pitchFamily="34" charset="0"/>
              <a:ea typeface="+mn-lt"/>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 Attacks</a:t>
            </a:r>
            <a:endParaRPr lang="en-US" sz="1600"/>
          </a:p>
        </p:txBody>
      </p:sp>
      <p:sp>
        <p:nvSpPr>
          <p:cNvPr id="3" name="Text 0"/>
          <p:cNvSpPr>
            <a:spLocks noGrp="1"/>
          </p:cNvSpPr>
          <p:nvPr>
            <p:ph type="body" idx="100" hasCustomPrompt="1"/>
          </p:nvPr>
        </p:nvSpPr>
        <p:spPr>
          <a:xfrm>
            <a:off x="0" y="274320"/>
            <a:ext cx="9144000" cy="64008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Zero-Day Attacks</a:t>
            </a:r>
            <a:endParaRPr lang="en-US" sz="2200"/>
          </a:p>
        </p:txBody>
      </p:sp>
      <p:sp>
        <p:nvSpPr>
          <p:cNvPr id="5" name="Text 2"/>
          <p:cNvSpPr/>
          <p:nvPr/>
        </p:nvSpPr>
        <p:spPr>
          <a:xfrm>
            <a:off x="87343" y="1033670"/>
            <a:ext cx="5042869" cy="3264943"/>
          </a:xfrm>
          <a:prstGeom prst="rect">
            <a:avLst/>
          </a:prstGeom>
          <a:noFill/>
          <a:ln/>
        </p:spPr>
        <p:txBody>
          <a:bodyPr wrap="square" lIns="91440" tIns="45720" rIns="91440" bIns="45720" rtlCol="0" anchor="t"/>
          <a:lstStyle/>
          <a:p>
            <a:pPr>
              <a:buFont typeface="Arial"/>
              <a:buChar char="•"/>
            </a:pPr>
            <a:r>
              <a:rPr lang="en-US" sz="1400" dirty="0">
                <a:latin typeface="Arial" panose="020B0604020202020204" pitchFamily="34" charset="0"/>
                <a:ea typeface="+mn-lt"/>
                <a:cs typeface="Arial" panose="020B0604020202020204" pitchFamily="34" charset="0"/>
              </a:rPr>
              <a:t>It exploits software vulnerabilities before they become known or before the software vendor discloses them. </a:t>
            </a:r>
            <a:endParaRPr lang="pt-BR" sz="1400"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a:buFont typeface="Arial"/>
              <a:buChar char="•"/>
            </a:pPr>
            <a:r>
              <a:rPr lang="en-US" sz="1400" dirty="0">
                <a:latin typeface="Arial" panose="020B0604020202020204" pitchFamily="34" charset="0"/>
                <a:ea typeface="+mn-lt"/>
                <a:cs typeface="Arial" panose="020B0604020202020204" pitchFamily="34" charset="0"/>
              </a:rPr>
              <a:t>A network is highly vulnerable to attack between the time an exploit is discovered (zero hours) and the time it takes for the software vendor to develop and release a patch that fixes this exploit.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a:buFont typeface="Arial"/>
              <a:buChar char="•"/>
            </a:pPr>
            <a:r>
              <a:rPr lang="en-US" sz="1400" dirty="0">
                <a:latin typeface="Arial" panose="020B0604020202020204" pitchFamily="34" charset="0"/>
                <a:ea typeface="+mn-lt"/>
                <a:cs typeface="Arial" panose="020B0604020202020204" pitchFamily="34" charset="0"/>
              </a:rPr>
              <a:t>Defending against such fast-moving attacks requires network security professionals to adopt a more sophisticated and holistic view of any network architecture. </a:t>
            </a:r>
            <a:endParaRPr lang="en-US" dirty="0">
              <a:latin typeface="Arial" panose="020B0604020202020204" pitchFamily="34" charset="0"/>
              <a:cs typeface="Arial" panose="020B0604020202020204" pitchFamily="34" charset="0"/>
            </a:endParaRPr>
          </a:p>
          <a:p>
            <a:pPr>
              <a:buFont typeface="Arial"/>
              <a:buChar char="•"/>
            </a:pPr>
            <a:endParaRPr lang="en-US" dirty="0"/>
          </a:p>
          <a:p>
            <a:pPr marL="285750" indent="-285750">
              <a:buFont typeface="Arial"/>
              <a:buChar char="•"/>
            </a:pPr>
            <a:endParaRPr lang="en-US" sz="1400" dirty="0">
              <a:latin typeface="Arial"/>
              <a:cs typeface="Arial"/>
            </a:endParaRPr>
          </a:p>
        </p:txBody>
      </p:sp>
      <p:pic>
        <p:nvPicPr>
          <p:cNvPr id="4" name="Imagem 5" descr="Linha do tempo&#10;&#10;Descrição gerada automaticamente">
            <a:extLst>
              <a:ext uri="{FF2B5EF4-FFF2-40B4-BE49-F238E27FC236}">
                <a16:creationId xmlns:a16="http://schemas.microsoft.com/office/drawing/2014/main" id="{E0381626-AC30-E5CB-175E-0F1544A5F47B}"/>
              </a:ext>
            </a:extLst>
          </p:cNvPr>
          <p:cNvPicPr>
            <a:picLocks noChangeAspect="1"/>
          </p:cNvPicPr>
          <p:nvPr/>
        </p:nvPicPr>
        <p:blipFill>
          <a:blip r:embed="rId3"/>
          <a:stretch>
            <a:fillRect/>
          </a:stretch>
        </p:blipFill>
        <p:spPr>
          <a:xfrm>
            <a:off x="5247494" y="1197094"/>
            <a:ext cx="3675580" cy="2175711"/>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 Attacks</a:t>
            </a:r>
            <a:endParaRPr lang="en-US" sz="1600"/>
          </a:p>
        </p:txBody>
      </p:sp>
      <p:sp>
        <p:nvSpPr>
          <p:cNvPr id="3" name="Text 0"/>
          <p:cNvSpPr>
            <a:spLocks noGrp="1"/>
          </p:cNvSpPr>
          <p:nvPr>
            <p:ph type="body" idx="100" hasCustomPrompt="1"/>
          </p:nvPr>
        </p:nvSpPr>
        <p:spPr>
          <a:xfrm>
            <a:off x="0" y="274320"/>
            <a:ext cx="9144000" cy="63511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Keyboard Logging</a:t>
            </a:r>
            <a:endParaRPr lang="en-US" sz="2200"/>
          </a:p>
        </p:txBody>
      </p:sp>
      <p:sp>
        <p:nvSpPr>
          <p:cNvPr id="5" name="Text 2"/>
          <p:cNvSpPr/>
          <p:nvPr/>
        </p:nvSpPr>
        <p:spPr>
          <a:xfrm>
            <a:off x="323022" y="1123121"/>
            <a:ext cx="8229600" cy="2571750"/>
          </a:xfrm>
          <a:prstGeom prst="rect">
            <a:avLst/>
          </a:prstGeom>
          <a:noFill/>
          <a:ln/>
        </p:spPr>
        <p:txBody>
          <a:bodyPr wrap="square" lIns="91440" tIns="45720" rIns="91440" bIns="45720" rtlCol="0" anchor="t"/>
          <a:lstStyle/>
          <a:p>
            <a:pPr marL="285750" indent="-285750">
              <a:buFont typeface="Arial"/>
              <a:buChar char="•"/>
            </a:pPr>
            <a:r>
              <a:rPr lang="en-US" sz="1400">
                <a:latin typeface="Arial"/>
                <a:cs typeface="Arial"/>
              </a:rPr>
              <a:t>It refers to recording or logging every key struck on a computer’s keyboard.</a:t>
            </a:r>
            <a:endParaRPr lang="pt-BR" sz="1400">
              <a:latin typeface="Arial"/>
              <a:cs typeface="Arial"/>
            </a:endParaRPr>
          </a:p>
          <a:p>
            <a:endParaRPr lang="en-US" sz="1400">
              <a:latin typeface="Arial"/>
              <a:cs typeface="Arial"/>
            </a:endParaRPr>
          </a:p>
          <a:p>
            <a:pPr marL="285750" indent="-285750">
              <a:buFont typeface="Arial"/>
              <a:buChar char="•"/>
            </a:pPr>
            <a:r>
              <a:rPr lang="en-US" sz="1400">
                <a:latin typeface="Arial"/>
                <a:cs typeface="Arial"/>
              </a:rPr>
              <a:t>Cybercriminals log keystrokes via software installed on a computer system or through hardware devices that are physically attached to a computer and configure the keylogger software to send the log file to the criminal. </a:t>
            </a:r>
          </a:p>
          <a:p>
            <a:pPr marL="285750" indent="-285750">
              <a:buFont typeface="Arial"/>
              <a:buChar char="•"/>
            </a:pPr>
            <a:endParaRPr lang="en-US" sz="1400">
              <a:latin typeface="Arial"/>
              <a:cs typeface="Arial"/>
            </a:endParaRPr>
          </a:p>
          <a:p>
            <a:pPr marL="285750" indent="-285750">
              <a:buFont typeface="Arial"/>
              <a:buChar char="•"/>
            </a:pPr>
            <a:r>
              <a:rPr lang="en-US" sz="1400">
                <a:latin typeface="Arial"/>
                <a:cs typeface="Arial"/>
              </a:rPr>
              <a:t>Because it has recorded all keystrokes, this log file can reveal usernames, passwords, websites visited, and other sensitive information.</a:t>
            </a:r>
          </a:p>
          <a:p>
            <a:endParaRPr lang="en-US" sz="1400">
              <a:latin typeface="Arial"/>
              <a:cs typeface="Arial"/>
            </a:endParaRPr>
          </a:p>
          <a:p>
            <a:pPr marL="285750" indent="-285750">
              <a:buFont typeface="Arial"/>
              <a:buChar char="•"/>
            </a:pPr>
            <a:r>
              <a:rPr lang="en-US" sz="1400">
                <a:latin typeface="Arial"/>
                <a:cs typeface="Arial"/>
              </a:rPr>
              <a:t>Many anti-spyware suites can detect and remove unauthorized key loggers. </a:t>
            </a: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 Attacks</a:t>
            </a:r>
            <a:endParaRPr lang="en-US" sz="1600"/>
          </a:p>
        </p:txBody>
      </p:sp>
      <p:sp>
        <p:nvSpPr>
          <p:cNvPr id="3" name="Text 0"/>
          <p:cNvSpPr>
            <a:spLocks noGrp="1"/>
          </p:cNvSpPr>
          <p:nvPr>
            <p:ph type="body" idx="100" hasCustomPrompt="1"/>
          </p:nvPr>
        </p:nvSpPr>
        <p:spPr>
          <a:xfrm>
            <a:off x="0" y="274320"/>
            <a:ext cx="9144000" cy="600323"/>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Defending Against Attacks</a:t>
            </a:r>
            <a:endParaRPr lang="en-US" sz="2200"/>
          </a:p>
        </p:txBody>
      </p:sp>
      <p:sp>
        <p:nvSpPr>
          <p:cNvPr id="5" name="Text 2"/>
          <p:cNvSpPr/>
          <p:nvPr/>
        </p:nvSpPr>
        <p:spPr>
          <a:xfrm>
            <a:off x="308113" y="1053547"/>
            <a:ext cx="8229600" cy="2755061"/>
          </a:xfrm>
          <a:prstGeom prst="rect">
            <a:avLst/>
          </a:prstGeom>
          <a:noFill/>
          <a:ln/>
        </p:spPr>
        <p:txBody>
          <a:bodyPr wrap="square" lIns="91440" tIns="45720" rIns="91440" bIns="45720" rtlCol="0" anchor="t"/>
          <a:lstStyle/>
          <a:p>
            <a:r>
              <a:rPr lang="en-US" sz="1400" dirty="0">
                <a:latin typeface="Arial"/>
                <a:cs typeface="Arial"/>
              </a:rPr>
              <a:t>Organizations can take several steps to defend against various attacks. These include:</a:t>
            </a:r>
            <a:endParaRPr lang="pt-BR" sz="1400" dirty="0">
              <a:latin typeface="Arial"/>
              <a:cs typeface="Arial"/>
            </a:endParaRPr>
          </a:p>
          <a:p>
            <a:endParaRPr lang="en-US" sz="1400" dirty="0">
              <a:latin typeface="Arial"/>
              <a:cs typeface="Arial"/>
            </a:endParaRPr>
          </a:p>
          <a:p>
            <a:pPr marL="285750" indent="-285750">
              <a:buFont typeface="Arial"/>
              <a:buChar char="•"/>
            </a:pPr>
            <a:r>
              <a:rPr lang="en-US" sz="1400" dirty="0">
                <a:latin typeface="Arial"/>
                <a:cs typeface="Arial"/>
              </a:rPr>
              <a:t>Configure firewalls to remove any packets from outside the network with addresses indicating that they originated inside the network. </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Ensure patches and upgrades are current.</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Distribute the workload across server systems.</a:t>
            </a:r>
          </a:p>
          <a:p>
            <a:pPr marL="285750" indent="-285750">
              <a:buFont typeface="Arial"/>
              <a:buChar char="•"/>
            </a:pP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cs typeface="Arial" panose="020B0604020202020204" pitchFamily="34" charset="0"/>
              </a:rPr>
              <a:t>Network devices use ICMP packets to send error and control messages. </a:t>
            </a:r>
            <a:r>
              <a:rPr lang="en-US" sz="1400" dirty="0">
                <a:latin typeface="Arial" panose="020B0604020202020204" pitchFamily="34" charset="0"/>
                <a:ea typeface="+mn-lt"/>
                <a:cs typeface="Arial" panose="020B0604020202020204" pitchFamily="34" charset="0"/>
              </a:rPr>
              <a:t>Organizations can block external ICMP packets with their firewalls to prevent DoS and DDoS attacks. </a:t>
            </a:r>
          </a:p>
          <a:p>
            <a:pPr marL="285750" indent="-285750">
              <a:buFont typeface="Arial"/>
              <a:buChar char="•"/>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a:solidFill>
                  <a:srgbClr val="B1E8FA"/>
                </a:solidFill>
                <a:latin typeface="Arial" pitchFamily="34" charset="0"/>
                <a:ea typeface="Arial" pitchFamily="34" charset="-122"/>
                <a:cs typeface="Arial" pitchFamily="34" charset="-120"/>
              </a:rPr>
              <a:t>1.4 Wireless and Mobile Device Attacks</a:t>
            </a:r>
            <a:endParaRPr lang="en-US" sz="460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Wireless and Mobile Device Attacks</a:t>
            </a:r>
            <a:endParaRPr lang="en-US" sz="1600"/>
          </a:p>
        </p:txBody>
      </p:sp>
      <p:sp>
        <p:nvSpPr>
          <p:cNvPr id="3" name="Text 0"/>
          <p:cNvSpPr>
            <a:spLocks noGrp="1"/>
          </p:cNvSpPr>
          <p:nvPr>
            <p:ph type="body" idx="100" hasCustomPrompt="1"/>
          </p:nvPr>
        </p:nvSpPr>
        <p:spPr>
          <a:xfrm>
            <a:off x="0" y="274320"/>
            <a:ext cx="9144000" cy="58541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Grayware and Smishing</a:t>
            </a:r>
            <a:endParaRPr lang="en-US" sz="2200"/>
          </a:p>
        </p:txBody>
      </p:sp>
      <p:sp>
        <p:nvSpPr>
          <p:cNvPr id="5" name="Text 2"/>
          <p:cNvSpPr/>
          <p:nvPr/>
        </p:nvSpPr>
        <p:spPr>
          <a:xfrm>
            <a:off x="318052" y="978559"/>
            <a:ext cx="8229600" cy="3186381"/>
          </a:xfrm>
          <a:prstGeom prst="rect">
            <a:avLst/>
          </a:prstGeom>
          <a:noFill/>
          <a:ln/>
        </p:spPr>
        <p:txBody>
          <a:bodyPr wrap="square" lIns="91440" tIns="45720" rIns="91440" bIns="45720" rtlCol="0" anchor="t"/>
          <a:lstStyle/>
          <a:p>
            <a:r>
              <a:rPr lang="en-US" sz="1400" dirty="0">
                <a:latin typeface="Arial"/>
                <a:cs typeface="Arial"/>
              </a:rPr>
              <a:t>Grayware</a:t>
            </a:r>
            <a:endParaRPr lang="pt-BR" sz="1400" dirty="0">
              <a:latin typeface="Arial"/>
              <a:cs typeface="Arial"/>
            </a:endParaRPr>
          </a:p>
          <a:p>
            <a:pPr marL="285750" indent="-285750">
              <a:buFont typeface="Arial"/>
              <a:buChar char="•"/>
            </a:pPr>
            <a:r>
              <a:rPr lang="en-US" sz="1400" dirty="0">
                <a:latin typeface="Arial"/>
                <a:cs typeface="Arial"/>
              </a:rPr>
              <a:t>Any unwanted application that behaves in an annoying or undesirable manner.</a:t>
            </a:r>
            <a:endParaRPr lang="pt-BR" sz="1400" dirty="0">
              <a:latin typeface="Arial"/>
              <a:cs typeface="Arial"/>
            </a:endParaRPr>
          </a:p>
          <a:p>
            <a:endParaRPr lang="pt-BR" sz="1400" dirty="0">
              <a:latin typeface="Arial"/>
              <a:cs typeface="Arial"/>
            </a:endParaRPr>
          </a:p>
          <a:p>
            <a:pPr marL="285750" indent="-285750">
              <a:buFont typeface="Arial"/>
              <a:buChar char="•"/>
            </a:pPr>
            <a:r>
              <a:rPr lang="en-US" sz="1400" dirty="0">
                <a:latin typeface="Arial"/>
                <a:cs typeface="Arial"/>
              </a:rPr>
              <a:t>And while grayware may not carry any recognizable malware, it may still pose a risk to the user by, for example, tracking your location or delivering unwanted advertising.</a:t>
            </a:r>
            <a:endParaRPr lang="pt-BR" sz="1400" dirty="0">
              <a:latin typeface="Arial"/>
              <a:cs typeface="Arial"/>
            </a:endParaRPr>
          </a:p>
          <a:p>
            <a:pPr marL="285750" indent="-285750">
              <a:buFont typeface="Arial"/>
              <a:buChar char="•"/>
            </a:pPr>
            <a:endParaRPr lang="en-US" sz="1400" dirty="0">
              <a:latin typeface="Arial"/>
              <a:cs typeface="Arial"/>
            </a:endParaRPr>
          </a:p>
          <a:p>
            <a:r>
              <a:rPr lang="en-US" sz="1400" dirty="0">
                <a:latin typeface="Arial"/>
                <a:cs typeface="Arial"/>
              </a:rPr>
              <a:t>Short message service phishing or </a:t>
            </a:r>
            <a:r>
              <a:rPr lang="en-US" sz="1400" dirty="0" err="1">
                <a:latin typeface="Arial"/>
                <a:cs typeface="Arial"/>
              </a:rPr>
              <a:t>SMiShing</a:t>
            </a:r>
            <a:endParaRPr lang="en-US" sz="1400" dirty="0">
              <a:latin typeface="Arial"/>
              <a:cs typeface="Arial"/>
            </a:endParaRPr>
          </a:p>
          <a:p>
            <a:pPr marL="285750" indent="-285750">
              <a:buFont typeface="Arial"/>
              <a:buChar char="•"/>
            </a:pPr>
            <a:r>
              <a:rPr lang="en-US" sz="1400" dirty="0">
                <a:latin typeface="Arial"/>
                <a:cs typeface="Arial"/>
              </a:rPr>
              <a:t>Another tactic used by attackers is to trick you. </a:t>
            </a:r>
            <a:endParaRPr lang="en-US" dirty="0">
              <a:latin typeface="Calibri" panose="020F0502020204030204"/>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Fake text messages prompt you to visit a malicious website or call a fraudulent phone number, which may result in malware being downloaded onto your device or sharing personal information. </a:t>
            </a: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Wireless and Mobile Device Attacks</a:t>
            </a:r>
            <a:endParaRPr lang="en-US" sz="1600"/>
          </a:p>
        </p:txBody>
      </p:sp>
      <p:sp>
        <p:nvSpPr>
          <p:cNvPr id="3" name="Text 0"/>
          <p:cNvSpPr>
            <a:spLocks noGrp="1"/>
          </p:cNvSpPr>
          <p:nvPr>
            <p:ph type="body" idx="100" hasCustomPrompt="1"/>
          </p:nvPr>
        </p:nvSpPr>
        <p:spPr>
          <a:xfrm>
            <a:off x="0" y="274320"/>
            <a:ext cx="9144000" cy="46614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Rogue Access Points</a:t>
            </a:r>
            <a:endParaRPr lang="en-US" sz="2200"/>
          </a:p>
        </p:txBody>
      </p:sp>
      <p:sp>
        <p:nvSpPr>
          <p:cNvPr id="5" name="Text 2"/>
          <p:cNvSpPr/>
          <p:nvPr/>
        </p:nvSpPr>
        <p:spPr>
          <a:xfrm>
            <a:off x="323021" y="949187"/>
            <a:ext cx="8229600" cy="3563787"/>
          </a:xfrm>
          <a:prstGeom prst="rect">
            <a:avLst/>
          </a:prstGeom>
          <a:noFill/>
          <a:ln/>
        </p:spPr>
        <p:txBody>
          <a:bodyPr wrap="square" lIns="91440" tIns="45720" rIns="91440" bIns="45720" rtlCol="0" anchor="t"/>
          <a:lstStyle/>
          <a:p>
            <a:pPr>
              <a:lnSpc>
                <a:spcPts val="2000"/>
              </a:lnSpc>
            </a:pPr>
            <a:r>
              <a:rPr lang="en-US" sz="1400" dirty="0">
                <a:latin typeface="Arial"/>
                <a:cs typeface="Arial"/>
              </a:rPr>
              <a:t>A rogue access point is a wireless access point installed on a secure network without explicit authorization. </a:t>
            </a:r>
            <a:endParaRPr lang="pt-BR" dirty="0"/>
          </a:p>
          <a:p>
            <a:pPr>
              <a:lnSpc>
                <a:spcPts val="2000"/>
              </a:lnSpc>
            </a:pPr>
            <a:endParaRPr lang="en-US" sz="1400" dirty="0">
              <a:latin typeface="Arial"/>
              <a:cs typeface="Arial"/>
            </a:endParaRPr>
          </a:p>
          <a:p>
            <a:pPr>
              <a:lnSpc>
                <a:spcPts val="2000"/>
              </a:lnSpc>
            </a:pPr>
            <a:r>
              <a:rPr lang="en-US" sz="1400" dirty="0">
                <a:latin typeface="Arial"/>
                <a:cs typeface="Arial"/>
              </a:rPr>
              <a:t>Some ways of installing a rogue access point are:</a:t>
            </a:r>
            <a:endParaRPr lang="en-US" dirty="0">
              <a:cs typeface="Calibri"/>
            </a:endParaRPr>
          </a:p>
          <a:p>
            <a:pPr>
              <a:lnSpc>
                <a:spcPts val="2000"/>
              </a:lnSpc>
            </a:pPr>
            <a:endParaRPr lang="en-US" sz="1400" dirty="0">
              <a:latin typeface="Arial"/>
              <a:cs typeface="Arial"/>
            </a:endParaRPr>
          </a:p>
          <a:p>
            <a:pPr marL="285750" indent="-285750">
              <a:lnSpc>
                <a:spcPts val="2000"/>
              </a:lnSpc>
              <a:buFont typeface="Arial"/>
              <a:buChar char="•"/>
            </a:pPr>
            <a:r>
              <a:rPr lang="en-US" sz="1400" dirty="0">
                <a:latin typeface="Arial"/>
                <a:cs typeface="Arial"/>
              </a:rPr>
              <a:t>An attacker often uses social engineering tactics to gain physical access to an organization’s network infrastructure and install the rogue access point.</a:t>
            </a:r>
          </a:p>
          <a:p>
            <a:pPr>
              <a:lnSpc>
                <a:spcPts val="2000"/>
              </a:lnSpc>
            </a:pPr>
            <a:endParaRPr lang="en-US" sz="1400" dirty="0">
              <a:latin typeface="Arial"/>
              <a:cs typeface="Arial"/>
            </a:endParaRPr>
          </a:p>
          <a:p>
            <a:pPr marL="285750" indent="-285750">
              <a:buFont typeface="Arial"/>
              <a:buChar char="•"/>
            </a:pPr>
            <a:r>
              <a:rPr lang="en-US" sz="1400" dirty="0">
                <a:latin typeface="Arial"/>
                <a:cs typeface="Arial"/>
              </a:rPr>
              <a:t>The access point can be set up as a MitM device to capture your login information.</a:t>
            </a:r>
          </a:p>
          <a:p>
            <a:pPr>
              <a:lnSpc>
                <a:spcPts val="2000"/>
              </a:lnSpc>
            </a:pPr>
            <a:endParaRPr lang="en-US" sz="1400" dirty="0">
              <a:latin typeface="Arial"/>
              <a:cs typeface="Arial"/>
            </a:endParaRPr>
          </a:p>
          <a:p>
            <a:pPr marL="285750" indent="-285750">
              <a:lnSpc>
                <a:spcPts val="2000"/>
              </a:lnSpc>
              <a:buFont typeface="Arial"/>
              <a:buChar char="•"/>
            </a:pPr>
            <a:r>
              <a:rPr lang="en-US" sz="1400" dirty="0">
                <a:latin typeface="Arial"/>
                <a:cs typeface="Arial"/>
              </a:rPr>
              <a:t>An evil twin attack describes a situation where the attacker’s access point is set up to look like a better connection option. Once you connect to the evil access point, the attacker can analyze your network traffic and execute MitM attacks.</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Wireless and Mobile Device Attacks</a:t>
            </a:r>
            <a:endParaRPr lang="en-US" sz="1600"/>
          </a:p>
        </p:txBody>
      </p:sp>
      <p:sp>
        <p:nvSpPr>
          <p:cNvPr id="3" name="Text 0"/>
          <p:cNvSpPr>
            <a:spLocks noGrp="1"/>
          </p:cNvSpPr>
          <p:nvPr>
            <p:ph type="body" idx="100" hasCustomPrompt="1"/>
          </p:nvPr>
        </p:nvSpPr>
        <p:spPr>
          <a:xfrm>
            <a:off x="0" y="274320"/>
            <a:ext cx="9144000" cy="9144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Radio Frequency Jamming</a:t>
            </a:r>
            <a:endParaRPr lang="en-US" sz="2200"/>
          </a:p>
        </p:txBody>
      </p:sp>
      <p:sp>
        <p:nvSpPr>
          <p:cNvPr id="5" name="Text 2"/>
          <p:cNvSpPr/>
          <p:nvPr/>
        </p:nvSpPr>
        <p:spPr>
          <a:xfrm>
            <a:off x="248478" y="1326874"/>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latin typeface="Arial"/>
                <a:cs typeface="Arial"/>
              </a:rPr>
              <a:t>Wireless signals are susceptible to electromagnetic interference (EMI), radio frequency interference (RFI), and even lightning strikes or noise from fluorescent lights.</a:t>
            </a:r>
            <a:endParaRPr lang="pt-BR" sz="1400" dirty="0">
              <a:latin typeface="Arial"/>
              <a:cs typeface="Arial"/>
            </a:endParaRPr>
          </a:p>
          <a:p>
            <a:endParaRPr lang="en-US" sz="1400" dirty="0">
              <a:latin typeface="Arial"/>
              <a:cs typeface="Arial"/>
            </a:endParaRPr>
          </a:p>
          <a:p>
            <a:pPr marL="285750" indent="-285750">
              <a:buFont typeface="Arial"/>
              <a:buChar char="•"/>
            </a:pPr>
            <a:r>
              <a:rPr lang="en-US" sz="1400" dirty="0">
                <a:latin typeface="Arial"/>
                <a:cs typeface="Arial"/>
              </a:rPr>
              <a:t>Attackers can take advantage of this fact by deliberately jamming the transmission of a radio or satellite station to prevent a wireless signal from reaching the receiving station.</a:t>
            </a:r>
          </a:p>
          <a:p>
            <a:endParaRPr lang="en-US" sz="1400" dirty="0">
              <a:latin typeface="Arial"/>
              <a:cs typeface="Arial"/>
            </a:endParaRPr>
          </a:p>
          <a:p>
            <a:pPr marL="285750" indent="-285750">
              <a:buFont typeface="Arial"/>
              <a:buChar char="•"/>
            </a:pPr>
            <a:r>
              <a:rPr lang="en-US" sz="1400" dirty="0">
                <a:latin typeface="Arial"/>
                <a:cs typeface="Arial"/>
              </a:rPr>
              <a:t>In order to successfully jam the signal, the frequency, modulation, and power of the RF jammer need to be equal to that of the device that the attacker is seeking to disrupt.</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Wireless and Mobile Device Attacks</a:t>
            </a:r>
            <a:endParaRPr lang="en-US" sz="1600"/>
          </a:p>
        </p:txBody>
      </p:sp>
      <p:sp>
        <p:nvSpPr>
          <p:cNvPr id="3" name="Text 0"/>
          <p:cNvSpPr>
            <a:spLocks noGrp="1"/>
          </p:cNvSpPr>
          <p:nvPr>
            <p:ph type="body" idx="100" hasCustomPrompt="1"/>
          </p:nvPr>
        </p:nvSpPr>
        <p:spPr>
          <a:xfrm>
            <a:off x="0" y="274320"/>
            <a:ext cx="9144000" cy="620202"/>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Bluejacking and </a:t>
            </a:r>
            <a:r>
              <a:rPr lang="en-US" sz="2200" err="1">
                <a:solidFill>
                  <a:srgbClr val="024C69"/>
                </a:solidFill>
                <a:latin typeface="Arial" pitchFamily="34" charset="0"/>
                <a:ea typeface="Arial" pitchFamily="34" charset="-122"/>
                <a:cs typeface="Arial" pitchFamily="34" charset="-120"/>
              </a:rPr>
              <a:t>Bluesnarfing</a:t>
            </a:r>
            <a:endParaRPr lang="en-US" sz="2200"/>
          </a:p>
        </p:txBody>
      </p:sp>
      <p:sp>
        <p:nvSpPr>
          <p:cNvPr id="5" name="Text 2"/>
          <p:cNvSpPr/>
          <p:nvPr/>
        </p:nvSpPr>
        <p:spPr>
          <a:xfrm>
            <a:off x="283265" y="1188720"/>
            <a:ext cx="8229600" cy="2571750"/>
          </a:xfrm>
          <a:prstGeom prst="rect">
            <a:avLst/>
          </a:prstGeom>
          <a:noFill/>
          <a:ln/>
        </p:spPr>
        <p:txBody>
          <a:bodyPr wrap="square" lIns="91440" tIns="45720" rIns="91440" bIns="45720" rtlCol="0" anchor="t"/>
          <a:lstStyle/>
          <a:p>
            <a:pPr>
              <a:lnSpc>
                <a:spcPts val="2000"/>
              </a:lnSpc>
            </a:pPr>
            <a:r>
              <a:rPr lang="en-US" sz="1400" dirty="0">
                <a:latin typeface="Arial"/>
                <a:cs typeface="Arial"/>
              </a:rPr>
              <a:t>Due to the limited range of Bluetooth, an attacker must be within range of their target. </a:t>
            </a:r>
            <a:endParaRPr lang="pt-BR" sz="1400" dirty="0">
              <a:latin typeface="Arial"/>
              <a:cs typeface="Arial"/>
            </a:endParaRPr>
          </a:p>
          <a:p>
            <a:pPr>
              <a:lnSpc>
                <a:spcPts val="2000"/>
              </a:lnSpc>
            </a:pPr>
            <a:endParaRPr lang="en-US" sz="1400" dirty="0">
              <a:latin typeface="Arial"/>
              <a:cs typeface="Arial"/>
            </a:endParaRPr>
          </a:p>
          <a:p>
            <a:pPr>
              <a:lnSpc>
                <a:spcPts val="2000"/>
              </a:lnSpc>
            </a:pPr>
            <a:r>
              <a:rPr lang="en-US" sz="1400" dirty="0">
                <a:latin typeface="Arial"/>
                <a:cs typeface="Arial"/>
              </a:rPr>
              <a:t>Some ways that they can exploit a target’s device without their knowledge are:</a:t>
            </a:r>
          </a:p>
          <a:p>
            <a:pPr>
              <a:lnSpc>
                <a:spcPts val="2000"/>
              </a:lnSpc>
            </a:pPr>
            <a:endParaRPr lang="en-US" sz="1400" dirty="0">
              <a:latin typeface="Arial"/>
              <a:cs typeface="Arial"/>
            </a:endParaRPr>
          </a:p>
          <a:p>
            <a:pPr marL="285750" indent="-285750">
              <a:lnSpc>
                <a:spcPts val="2000"/>
              </a:lnSpc>
              <a:buFont typeface="Arial"/>
              <a:buChar char="•"/>
            </a:pPr>
            <a:r>
              <a:rPr lang="en-US" sz="1400" dirty="0">
                <a:latin typeface="Arial"/>
                <a:cs typeface="Arial"/>
              </a:rPr>
              <a:t>Bluejacking uses wireless Bluetooth technology to send unauthorized messages or shocking images to another Bluetooth device.</a:t>
            </a:r>
          </a:p>
          <a:p>
            <a:pPr>
              <a:lnSpc>
                <a:spcPts val="2000"/>
              </a:lnSpc>
            </a:pPr>
            <a:endParaRPr lang="en-US" sz="1400" dirty="0">
              <a:latin typeface="Arial"/>
              <a:cs typeface="Arial"/>
            </a:endParaRPr>
          </a:p>
          <a:p>
            <a:pPr marL="285750" indent="-285750">
              <a:lnSpc>
                <a:spcPts val="2000"/>
              </a:lnSpc>
              <a:buFont typeface="Arial"/>
              <a:buChar char="•"/>
            </a:pPr>
            <a:r>
              <a:rPr lang="en-US" sz="1400" dirty="0" err="1">
                <a:latin typeface="Arial"/>
                <a:cs typeface="Arial"/>
              </a:rPr>
              <a:t>Bluesnarfing</a:t>
            </a:r>
            <a:r>
              <a:rPr lang="en-US" sz="1400" dirty="0">
                <a:latin typeface="Arial"/>
                <a:cs typeface="Arial"/>
              </a:rPr>
              <a:t> occurs when an attacker copies information, such as emails and contact lists, from a target’s device using a Bluetooth connection.</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Wireless and Mobile Device Attacks</a:t>
            </a:r>
            <a:endParaRPr lang="en-US" sz="1600"/>
          </a:p>
        </p:txBody>
      </p:sp>
      <p:sp>
        <p:nvSpPr>
          <p:cNvPr id="3" name="Text 0"/>
          <p:cNvSpPr>
            <a:spLocks noGrp="1"/>
          </p:cNvSpPr>
          <p:nvPr>
            <p:ph type="body" idx="100" hasCustomPrompt="1"/>
          </p:nvPr>
        </p:nvSpPr>
        <p:spPr>
          <a:xfrm>
            <a:off x="0" y="274320"/>
            <a:ext cx="9144000" cy="563521"/>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Attacks Against Wi-Fi Protocols</a:t>
            </a:r>
            <a:endParaRPr lang="en-US" sz="2200"/>
          </a:p>
        </p:txBody>
      </p:sp>
      <p:sp>
        <p:nvSpPr>
          <p:cNvPr id="5" name="Text 2"/>
          <p:cNvSpPr/>
          <p:nvPr/>
        </p:nvSpPr>
        <p:spPr>
          <a:xfrm>
            <a:off x="0" y="914400"/>
            <a:ext cx="6051431" cy="3391259"/>
          </a:xfrm>
          <a:prstGeom prst="rect">
            <a:avLst/>
          </a:prstGeom>
          <a:noFill/>
          <a:ln/>
        </p:spPr>
        <p:txBody>
          <a:bodyPr wrap="square" lIns="91440" tIns="45720" rIns="91440" bIns="45720" rtlCol="0" anchor="t"/>
          <a:lstStyle/>
          <a:p>
            <a:r>
              <a:rPr lang="en-US" sz="1400" dirty="0">
                <a:latin typeface="Arial"/>
                <a:cs typeface="Arial"/>
              </a:rPr>
              <a:t>Wired equivalent privacy (WEP) and Wi-Fi protected access (WPA) are security protocols designed to secure wireless networks.</a:t>
            </a:r>
            <a:endParaRPr lang="pt-BR" sz="1400" dirty="0">
              <a:latin typeface="Arial"/>
              <a:cs typeface="Arial"/>
            </a:endParaRPr>
          </a:p>
          <a:p>
            <a:endParaRPr lang="en-US" sz="1400" dirty="0">
              <a:latin typeface="Arial"/>
              <a:cs typeface="Arial"/>
            </a:endParaRPr>
          </a:p>
          <a:p>
            <a:pPr marL="285750" indent="-285750">
              <a:buFont typeface="Arial"/>
              <a:buChar char="•"/>
            </a:pPr>
            <a:r>
              <a:rPr lang="en-US" sz="1400" dirty="0">
                <a:latin typeface="Arial"/>
                <a:cs typeface="Arial"/>
              </a:rPr>
              <a:t>WEP was developed to provide a WLAN with a level of protection by encrypting the data</a:t>
            </a:r>
          </a:p>
          <a:p>
            <a:endParaRPr lang="en-US" sz="1400" dirty="0">
              <a:latin typeface="Arial"/>
              <a:cs typeface="Arial"/>
            </a:endParaRPr>
          </a:p>
          <a:p>
            <a:pPr marL="285750" indent="-285750">
              <a:buFont typeface="Arial"/>
              <a:buChar char="•"/>
            </a:pPr>
            <a:r>
              <a:rPr lang="en-US" sz="1400" dirty="0">
                <a:latin typeface="Arial"/>
                <a:cs typeface="Arial"/>
              </a:rPr>
              <a:t>WEP used a key for encryption, but WEP had no provision for key management giving criminals access to a large amount of traffic data.</a:t>
            </a:r>
          </a:p>
          <a:p>
            <a:pPr marL="285750" indent="-285750">
              <a:buFont typeface="Arial"/>
              <a:buChar char="•"/>
            </a:pPr>
            <a:endParaRPr lang="en-US" dirty="0"/>
          </a:p>
          <a:p>
            <a:pPr marL="285750" indent="-285750">
              <a:buFont typeface="Arial"/>
              <a:buChar char="•"/>
            </a:pPr>
            <a:r>
              <a:rPr lang="en-US" sz="1400" dirty="0">
                <a:latin typeface="Arial"/>
                <a:cs typeface="Arial"/>
              </a:rPr>
              <a:t>To address this and replace WEP, WPA and then WPA2 was developed as improved security protocols.</a:t>
            </a:r>
            <a:endParaRPr lang="en-US" dirty="0">
              <a:latin typeface="Calibri" panose="020F0502020204030204"/>
              <a:cs typeface="Calibri" panose="020F0502020204030204"/>
            </a:endParaRP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Unlike with WEP, an attacker cannot recover WPA2’s encryption key by observing network traffic. </a:t>
            </a:r>
          </a:p>
          <a:p>
            <a:pPr>
              <a:lnSpc>
                <a:spcPts val="2000"/>
              </a:lnSpc>
            </a:pPr>
            <a:endParaRPr lang="en-US" sz="1400" dirty="0">
              <a:latin typeface="Arial"/>
              <a:cs typeface="Arial"/>
            </a:endParaRPr>
          </a:p>
        </p:txBody>
      </p:sp>
      <p:pic>
        <p:nvPicPr>
          <p:cNvPr id="4" name="Imagem 5">
            <a:extLst>
              <a:ext uri="{FF2B5EF4-FFF2-40B4-BE49-F238E27FC236}">
                <a16:creationId xmlns:a16="http://schemas.microsoft.com/office/drawing/2014/main" id="{7B78AB73-EC0B-5A1D-0A56-4B2245E7BF4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176513" y="1298094"/>
            <a:ext cx="2743200" cy="2137558"/>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Wireless and Mobile Device Attacks</a:t>
            </a:r>
            <a:endParaRPr lang="en-US" sz="1600"/>
          </a:p>
        </p:txBody>
      </p:sp>
      <p:sp>
        <p:nvSpPr>
          <p:cNvPr id="3" name="Text 0"/>
          <p:cNvSpPr>
            <a:spLocks noGrp="1"/>
          </p:cNvSpPr>
          <p:nvPr>
            <p:ph type="body" idx="100" hasCustomPrompt="1"/>
          </p:nvPr>
        </p:nvSpPr>
        <p:spPr>
          <a:xfrm>
            <a:off x="0" y="274320"/>
            <a:ext cx="9144000" cy="454004"/>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Wi-Fi and Mobile Defense</a:t>
            </a:r>
            <a:endParaRPr lang="en-US" sz="2200"/>
          </a:p>
        </p:txBody>
      </p:sp>
      <p:sp>
        <p:nvSpPr>
          <p:cNvPr id="5" name="Text 2"/>
          <p:cNvSpPr/>
          <p:nvPr/>
        </p:nvSpPr>
        <p:spPr>
          <a:xfrm>
            <a:off x="233570" y="894522"/>
            <a:ext cx="8229600" cy="3520654"/>
          </a:xfrm>
          <a:prstGeom prst="rect">
            <a:avLst/>
          </a:prstGeom>
          <a:noFill/>
          <a:ln/>
        </p:spPr>
        <p:txBody>
          <a:bodyPr wrap="square" lIns="91440" tIns="45720" rIns="91440" bIns="45720" rtlCol="0" anchor="t"/>
          <a:lstStyle/>
          <a:p>
            <a:r>
              <a:rPr lang="en-US" sz="1400" dirty="0">
                <a:latin typeface="Arial"/>
                <a:cs typeface="Arial"/>
              </a:rPr>
              <a:t>There are several steps that organizations and users need to take to defend against wireless and mobile device attacks:</a:t>
            </a:r>
            <a:endParaRPr lang="pt-BR" sz="1400" dirty="0">
              <a:latin typeface="Arial"/>
              <a:cs typeface="Arial"/>
            </a:endParaRPr>
          </a:p>
          <a:p>
            <a:endParaRPr lang="en-US" sz="1400" dirty="0">
              <a:latin typeface="Arial"/>
              <a:cs typeface="Arial"/>
            </a:endParaRPr>
          </a:p>
          <a:p>
            <a:pPr marL="285750" indent="-285750">
              <a:buFont typeface="Arial"/>
              <a:buChar char="•"/>
            </a:pPr>
            <a:r>
              <a:rPr lang="en-US" sz="1400" dirty="0">
                <a:latin typeface="Arial"/>
                <a:cs typeface="Arial"/>
              </a:rPr>
              <a:t>Take advantage of basic wireless security features such as authentication and encryption by changing the default configuration settings.</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Restrict access point placement by placing these devices outside the firewall or within a demilitarized zone — a perimeter network that protects an organization’s LAN from untrusted devices.</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Use WLAN tools such as </a:t>
            </a:r>
            <a:r>
              <a:rPr lang="en-US" sz="1400" dirty="0" err="1">
                <a:latin typeface="Arial"/>
                <a:cs typeface="Arial"/>
              </a:rPr>
              <a:t>NetStumbler</a:t>
            </a:r>
            <a:r>
              <a:rPr lang="en-US" sz="1400" dirty="0">
                <a:latin typeface="Arial"/>
                <a:cs typeface="Arial"/>
              </a:rPr>
              <a:t> to detect rogue access points or unauthorized workstations. </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Develop a policy for guest access to an organization’s Wi-Fi network.</a:t>
            </a:r>
          </a:p>
          <a:p>
            <a:endParaRPr lang="en-US" sz="1400" dirty="0">
              <a:latin typeface="Arial"/>
              <a:cs typeface="Arial"/>
            </a:endParaRPr>
          </a:p>
          <a:p>
            <a:pPr marL="285750" indent="-285750">
              <a:buFont typeface="Arial"/>
              <a:buChar char="•"/>
            </a:pPr>
            <a:r>
              <a:rPr lang="en-US" sz="1400" dirty="0">
                <a:latin typeface="Arial"/>
                <a:cs typeface="Arial"/>
              </a:rPr>
              <a:t>Employees in an organization should use a remote access VPN for WLAN access.</a:t>
            </a: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a:solidFill>
                  <a:srgbClr val="B1E8FA"/>
                </a:solidFill>
                <a:latin typeface="Arial" pitchFamily="34" charset="0"/>
                <a:ea typeface="Arial" pitchFamily="34" charset="-122"/>
                <a:cs typeface="Arial" pitchFamily="34" charset="-120"/>
              </a:rPr>
              <a:t>1.5 Application Attacks</a:t>
            </a:r>
            <a:endParaRPr lang="en-US" sz="460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526212"/>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Cross-Site Scripting</a:t>
            </a:r>
            <a:endParaRPr lang="en-US" sz="2200"/>
          </a:p>
        </p:txBody>
      </p:sp>
      <p:sp>
        <p:nvSpPr>
          <p:cNvPr id="5" name="Text 2"/>
          <p:cNvSpPr/>
          <p:nvPr/>
        </p:nvSpPr>
        <p:spPr>
          <a:xfrm>
            <a:off x="0" y="914400"/>
            <a:ext cx="6029865" cy="3261862"/>
          </a:xfrm>
          <a:prstGeom prst="rect">
            <a:avLst/>
          </a:prstGeom>
          <a:noFill/>
          <a:ln/>
        </p:spPr>
        <p:txBody>
          <a:bodyPr wrap="square" lIns="91440" tIns="45720" rIns="91440" bIns="45720" rtlCol="0" anchor="t"/>
          <a:lstStyle/>
          <a:p>
            <a:r>
              <a:rPr lang="en-US" sz="1400" dirty="0">
                <a:latin typeface="Arial"/>
                <a:cs typeface="Arial"/>
              </a:rPr>
              <a:t>Cross-site scripting (XSS) is a common vulnerability in many web applications. This is how it works:</a:t>
            </a:r>
            <a:endParaRPr lang="pt-BR" sz="1400" dirty="0">
              <a:latin typeface="Arial"/>
              <a:cs typeface="Arial"/>
            </a:endParaRPr>
          </a:p>
          <a:p>
            <a:endParaRPr lang="en-US" sz="1400" dirty="0">
              <a:latin typeface="Arial"/>
              <a:cs typeface="Arial"/>
            </a:endParaRPr>
          </a:p>
          <a:p>
            <a:pPr marL="285750" indent="-285750">
              <a:buFont typeface="Arial"/>
              <a:buChar char="•"/>
            </a:pPr>
            <a:r>
              <a:rPr lang="en-US" sz="1400" dirty="0">
                <a:latin typeface="Arial"/>
                <a:cs typeface="Arial"/>
              </a:rPr>
              <a:t>Cybercriminals exploit the XSS vulnerability by injecting scripts containing malicious code into a web page.</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The victim accesses the web page, and the malicious scripts unknowingly pass to their browser. </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The malicious script can access any cookies, session tokens, or other sensitive information about the user, which is sent back to the cybercriminal.</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Armed with this information, the cybercriminal can impersonate the user.</a:t>
            </a:r>
          </a:p>
          <a:p>
            <a:pPr>
              <a:lnSpc>
                <a:spcPts val="2000"/>
              </a:lnSpc>
            </a:pPr>
            <a:endParaRPr lang="en-US" sz="1400" dirty="0">
              <a:latin typeface="Arial"/>
              <a:cs typeface="Arial"/>
            </a:endParaRPr>
          </a:p>
        </p:txBody>
      </p:sp>
      <p:pic>
        <p:nvPicPr>
          <p:cNvPr id="4" name="Imagem 5">
            <a:extLst>
              <a:ext uri="{FF2B5EF4-FFF2-40B4-BE49-F238E27FC236}">
                <a16:creationId xmlns:a16="http://schemas.microsoft.com/office/drawing/2014/main" id="{C1EB3FEE-BE7E-F3A3-909E-B8B5DD2DDB0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025551" y="966965"/>
            <a:ext cx="2937294" cy="2487107"/>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53699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Code Injection</a:t>
            </a:r>
            <a:endParaRPr lang="en-US" sz="2200"/>
          </a:p>
        </p:txBody>
      </p:sp>
      <p:sp>
        <p:nvSpPr>
          <p:cNvPr id="5" name="Text 2"/>
          <p:cNvSpPr/>
          <p:nvPr/>
        </p:nvSpPr>
        <p:spPr>
          <a:xfrm>
            <a:off x="96766" y="891541"/>
            <a:ext cx="8229600" cy="889600"/>
          </a:xfrm>
          <a:prstGeom prst="rect">
            <a:avLst/>
          </a:prstGeom>
          <a:noFill/>
          <a:ln/>
        </p:spPr>
        <p:txBody>
          <a:bodyPr wrap="square" lIns="91440" tIns="45720" rIns="91440" bIns="45720" rtlCol="0" anchor="t"/>
          <a:lstStyle/>
          <a:p>
            <a:pPr marL="285750" indent="-285750">
              <a:buFont typeface="Arial"/>
              <a:buChar char="•"/>
            </a:pPr>
            <a:r>
              <a:rPr lang="en-US" sz="1400" dirty="0">
                <a:latin typeface="Arial"/>
                <a:cs typeface="Arial"/>
              </a:rPr>
              <a:t>Injection attacks exploit weaknesses in databases such as Structured Query Language (SQL) or an Extensible Markup Language (XML) that modern websites use to store and manage data.</a:t>
            </a:r>
            <a:endParaRPr lang="pt-BR" sz="1400" dirty="0">
              <a:latin typeface="Arial"/>
              <a:cs typeface="Arial"/>
            </a:endParaRPr>
          </a:p>
          <a:p>
            <a:endParaRPr lang="en-US" sz="1400" dirty="0">
              <a:latin typeface="Arial"/>
              <a:cs typeface="Arial"/>
            </a:endParaRPr>
          </a:p>
          <a:p>
            <a:pPr marL="285750" indent="-285750">
              <a:buFont typeface="Arial"/>
              <a:buChar char="•"/>
            </a:pPr>
            <a:r>
              <a:rPr lang="en-US" sz="1400" dirty="0">
                <a:latin typeface="Arial"/>
                <a:cs typeface="Arial"/>
              </a:rPr>
              <a:t>Some common types of injection attacks are:</a:t>
            </a:r>
          </a:p>
          <a:p>
            <a:endParaRPr lang="en-US" sz="1400" dirty="0">
              <a:latin typeface="Arial"/>
              <a:cs typeface="Arial"/>
            </a:endParaRPr>
          </a:p>
          <a:p>
            <a:endParaRPr lang="en-US" sz="1400" dirty="0">
              <a:latin typeface="Arial"/>
              <a:cs typeface="Arial"/>
            </a:endParaRPr>
          </a:p>
        </p:txBody>
      </p:sp>
      <p:graphicFrame>
        <p:nvGraphicFramePr>
          <p:cNvPr id="4" name="Tabela 5">
            <a:extLst>
              <a:ext uri="{FF2B5EF4-FFF2-40B4-BE49-F238E27FC236}">
                <a16:creationId xmlns:a16="http://schemas.microsoft.com/office/drawing/2014/main" id="{A568003C-B199-B91B-BFE6-7658F8EE6858}"/>
              </a:ext>
            </a:extLst>
          </p:cNvPr>
          <p:cNvGraphicFramePr>
            <a:graphicFrameLocks noGrp="1"/>
          </p:cNvGraphicFramePr>
          <p:nvPr>
            <p:extLst>
              <p:ext uri="{D42A27DB-BD31-4B8C-83A1-F6EECF244321}">
                <p14:modId xmlns:p14="http://schemas.microsoft.com/office/powerpoint/2010/main" val="880289755"/>
              </p:ext>
            </p:extLst>
          </p:nvPr>
        </p:nvGraphicFramePr>
        <p:xfrm>
          <a:off x="124652" y="1811461"/>
          <a:ext cx="8729319" cy="3352800"/>
        </p:xfrm>
        <a:graphic>
          <a:graphicData uri="http://schemas.openxmlformats.org/drawingml/2006/table">
            <a:tbl>
              <a:tblPr firstRow="1" bandRow="1">
                <a:tableStyleId>{5C22544A-7EE6-4342-B048-85BDC9FD1C3A}</a:tableStyleId>
              </a:tblPr>
              <a:tblGrid>
                <a:gridCol w="1909329">
                  <a:extLst>
                    <a:ext uri="{9D8B030D-6E8A-4147-A177-3AD203B41FA5}">
                      <a16:colId xmlns:a16="http://schemas.microsoft.com/office/drawing/2014/main" val="2115770598"/>
                    </a:ext>
                  </a:extLst>
                </a:gridCol>
                <a:gridCol w="6819990">
                  <a:extLst>
                    <a:ext uri="{9D8B030D-6E8A-4147-A177-3AD203B41FA5}">
                      <a16:colId xmlns:a16="http://schemas.microsoft.com/office/drawing/2014/main" val="3955072068"/>
                    </a:ext>
                  </a:extLst>
                </a:gridCol>
              </a:tblGrid>
              <a:tr h="370840">
                <a:tc>
                  <a:txBody>
                    <a:bodyPr/>
                    <a:lstStyle/>
                    <a:p>
                      <a:r>
                        <a:rPr lang="en-US" sz="1400" b="0" noProof="0" dirty="0">
                          <a:solidFill>
                            <a:schemeClr val="tx1"/>
                          </a:solidFill>
                          <a:latin typeface="Arial"/>
                        </a:rPr>
                        <a:t>XML injection attack</a:t>
                      </a:r>
                      <a:endParaRPr lang="en-US" sz="1400" noProof="0" dirty="0">
                        <a:solidFill>
                          <a:schemeClr val="tx1"/>
                        </a:solidFill>
                        <a:latin typeface="Arial"/>
                      </a:endParaRPr>
                    </a:p>
                  </a:txBody>
                  <a:tcPr>
                    <a:solidFill>
                      <a:schemeClr val="bg2"/>
                    </a:solidFill>
                  </a:tcPr>
                </a:tc>
                <a:tc>
                  <a:txBody>
                    <a:bodyPr/>
                    <a:lstStyle/>
                    <a:p>
                      <a:pPr lvl="0" algn="l">
                        <a:lnSpc>
                          <a:spcPct val="100000"/>
                        </a:lnSpc>
                        <a:spcBef>
                          <a:spcPts val="0"/>
                        </a:spcBef>
                        <a:spcAft>
                          <a:spcPts val="0"/>
                        </a:spcAft>
                        <a:buNone/>
                      </a:pPr>
                      <a:r>
                        <a:rPr lang="en-US" sz="1400" b="0" i="0" u="none" strike="noStrike" noProof="0" dirty="0">
                          <a:solidFill>
                            <a:schemeClr val="tx1"/>
                          </a:solidFill>
                          <a:latin typeface="Arial"/>
                        </a:rPr>
                        <a:t>It can corrupt the data on the XML database and threaten the security of the website. It works by interfering with an application’s processing of XML data or query entered by a user. Cybercriminals can manipulate this query by programming it to suit their needs. </a:t>
                      </a:r>
                    </a:p>
                  </a:txBody>
                  <a:tcPr>
                    <a:solidFill>
                      <a:schemeClr val="bg2"/>
                    </a:solidFill>
                  </a:tcPr>
                </a:tc>
                <a:extLst>
                  <a:ext uri="{0D108BD9-81ED-4DB2-BD59-A6C34878D82A}">
                    <a16:rowId xmlns:a16="http://schemas.microsoft.com/office/drawing/2014/main" val="2970070381"/>
                  </a:ext>
                </a:extLst>
              </a:tr>
              <a:tr h="370840">
                <a:tc>
                  <a:txBody>
                    <a:bodyPr/>
                    <a:lstStyle/>
                    <a:p>
                      <a:r>
                        <a:rPr lang="en-US" sz="1400" b="0" i="0" u="none" strike="noStrike" kern="1200" noProof="0" dirty="0">
                          <a:solidFill>
                            <a:schemeClr val="tx1"/>
                          </a:solidFill>
                          <a:latin typeface="Arial"/>
                          <a:ea typeface="+mn-ea"/>
                          <a:cs typeface="+mn-cs"/>
                        </a:rPr>
                        <a:t>SQL injection attack</a:t>
                      </a:r>
                    </a:p>
                  </a:txBody>
                  <a:tcPr/>
                </a:tc>
                <a:tc>
                  <a:txBody>
                    <a:bodyPr/>
                    <a:lstStyle/>
                    <a:p>
                      <a:pPr lvl="0" algn="l">
                        <a:lnSpc>
                          <a:spcPct val="100000"/>
                        </a:lnSpc>
                        <a:spcBef>
                          <a:spcPts val="0"/>
                        </a:spcBef>
                        <a:spcAft>
                          <a:spcPts val="0"/>
                        </a:spcAft>
                        <a:buNone/>
                      </a:pPr>
                      <a:r>
                        <a:rPr lang="en-US" sz="1400" b="0" i="0" u="none" strike="noStrike" kern="1200" noProof="0" dirty="0">
                          <a:solidFill>
                            <a:schemeClr val="tx1"/>
                          </a:solidFill>
                          <a:latin typeface="Arial"/>
                          <a:ea typeface="+mn-ea"/>
                          <a:cs typeface="+mn-cs"/>
                        </a:rPr>
                        <a:t>Cybercriminals can carry out this attack on websites or any SQL database by inserting a malicious SQL statement in an entry field. It takes advantage of a vulnerability in which the application does not correctly filter the data entered by a user for characters in an SQL statement. </a:t>
                      </a:r>
                    </a:p>
                  </a:txBody>
                  <a:tcPr/>
                </a:tc>
                <a:extLst>
                  <a:ext uri="{0D108BD9-81ED-4DB2-BD59-A6C34878D82A}">
                    <a16:rowId xmlns:a16="http://schemas.microsoft.com/office/drawing/2014/main" val="277234522"/>
                  </a:ext>
                </a:extLst>
              </a:tr>
              <a:tr h="370840">
                <a:tc>
                  <a:txBody>
                    <a:bodyPr/>
                    <a:lstStyle/>
                    <a:p>
                      <a:r>
                        <a:rPr lang="en-US" sz="1400" b="0" i="0" u="none" strike="noStrike" kern="1200" noProof="0" dirty="0">
                          <a:solidFill>
                            <a:schemeClr val="tx1"/>
                          </a:solidFill>
                          <a:latin typeface="Arial"/>
                          <a:ea typeface="+mn-ea"/>
                          <a:cs typeface="+mn-cs"/>
                        </a:rPr>
                        <a:t>DLL injection attack</a:t>
                      </a:r>
                    </a:p>
                  </a:txBody>
                  <a:tcPr/>
                </a:tc>
                <a:tc>
                  <a:txBody>
                    <a:bodyPr/>
                    <a:lstStyle/>
                    <a:p>
                      <a:pPr lvl="0" algn="l">
                        <a:lnSpc>
                          <a:spcPct val="100000"/>
                        </a:lnSpc>
                        <a:spcBef>
                          <a:spcPts val="0"/>
                        </a:spcBef>
                        <a:spcAft>
                          <a:spcPts val="0"/>
                        </a:spcAft>
                        <a:buNone/>
                      </a:pPr>
                      <a:r>
                        <a:rPr lang="en-US" sz="1400" b="0" i="0" u="none" strike="noStrike" kern="1200" noProof="0" dirty="0">
                          <a:solidFill>
                            <a:schemeClr val="tx1"/>
                          </a:solidFill>
                          <a:latin typeface="Arial"/>
                          <a:ea typeface="+mn-ea"/>
                          <a:cs typeface="+mn-cs"/>
                        </a:rPr>
                        <a:t>DLL injection allows a cybercriminal to trick an application into calling a malicious DLL file, which executes as part of the target process.</a:t>
                      </a:r>
                      <a:endParaRPr lang="en-US" sz="1400" b="0" i="0" u="none" strike="noStrike" kern="1200" dirty="0">
                        <a:solidFill>
                          <a:schemeClr val="tx1"/>
                        </a:solidFill>
                        <a:latin typeface="Arial"/>
                        <a:ea typeface="+mn-ea"/>
                        <a:cs typeface="+mn-cs"/>
                      </a:endParaRPr>
                    </a:p>
                  </a:txBody>
                  <a:tcPr/>
                </a:tc>
                <a:extLst>
                  <a:ext uri="{0D108BD9-81ED-4DB2-BD59-A6C34878D82A}">
                    <a16:rowId xmlns:a16="http://schemas.microsoft.com/office/drawing/2014/main" val="155354511"/>
                  </a:ext>
                </a:extLst>
              </a:tr>
              <a:tr h="370840">
                <a:tc>
                  <a:txBody>
                    <a:bodyPr/>
                    <a:lstStyle/>
                    <a:p>
                      <a:r>
                        <a:rPr lang="en-US" sz="1400" b="0" i="0" u="none" strike="noStrike" kern="1200" noProof="0" dirty="0">
                          <a:solidFill>
                            <a:schemeClr val="tx1"/>
                          </a:solidFill>
                          <a:latin typeface="Arial"/>
                          <a:ea typeface="+mn-ea"/>
                          <a:cs typeface="+mn-cs"/>
                        </a:rPr>
                        <a:t>LDAP injection attack</a:t>
                      </a:r>
                    </a:p>
                  </a:txBody>
                  <a:tcPr/>
                </a:tc>
                <a:tc>
                  <a:txBody>
                    <a:bodyPr/>
                    <a:lstStyle/>
                    <a:p>
                      <a:pPr lvl="0" algn="l">
                        <a:lnSpc>
                          <a:spcPct val="100000"/>
                        </a:lnSpc>
                        <a:spcBef>
                          <a:spcPts val="0"/>
                        </a:spcBef>
                        <a:spcAft>
                          <a:spcPts val="0"/>
                        </a:spcAft>
                        <a:buNone/>
                      </a:pPr>
                      <a:r>
                        <a:rPr lang="en-US" sz="1400" b="0" i="0" u="none" strike="noStrike" kern="1200" noProof="0" dirty="0">
                          <a:solidFill>
                            <a:schemeClr val="tx1"/>
                          </a:solidFill>
                          <a:latin typeface="Arial"/>
                          <a:ea typeface="+mn-ea"/>
                          <a:cs typeface="+mn-cs"/>
                        </a:rPr>
                        <a:t>LDAP is an open protocol for authenticating user access to directory services.</a:t>
                      </a:r>
                      <a:endParaRPr lang="pt-BR" sz="1400" b="0" i="0" u="none" strike="noStrike" kern="1200" dirty="0">
                        <a:solidFill>
                          <a:schemeClr val="tx1"/>
                        </a:solidFill>
                        <a:latin typeface="Arial"/>
                        <a:ea typeface="+mn-ea"/>
                        <a:cs typeface="+mn-cs"/>
                      </a:endParaRPr>
                    </a:p>
                    <a:p>
                      <a:pPr lvl="0" algn="l">
                        <a:lnSpc>
                          <a:spcPct val="100000"/>
                        </a:lnSpc>
                        <a:spcBef>
                          <a:spcPts val="0"/>
                        </a:spcBef>
                        <a:spcAft>
                          <a:spcPts val="0"/>
                        </a:spcAft>
                        <a:buNone/>
                      </a:pPr>
                      <a:r>
                        <a:rPr lang="en-US" sz="1400" b="0" i="0" u="none" strike="noStrike" kern="1200" noProof="0" dirty="0">
                          <a:solidFill>
                            <a:schemeClr val="tx1"/>
                          </a:solidFill>
                          <a:latin typeface="Arial"/>
                          <a:ea typeface="+mn-ea"/>
                          <a:cs typeface="+mn-cs"/>
                        </a:rPr>
                        <a:t>This attack exploits input validation vulnerabilities by injecting and executing queries to LDAP servers, giving cybercriminals an opportunity to extract sensitive information from an organization’s LDAP directory.  </a:t>
                      </a:r>
                      <a:endParaRPr lang="en-US" sz="1400" b="0" i="0" u="none" strike="noStrike" kern="1200" dirty="0">
                        <a:solidFill>
                          <a:schemeClr val="tx1"/>
                        </a:solidFill>
                        <a:latin typeface="Arial"/>
                        <a:ea typeface="+mn-ea"/>
                        <a:cs typeface="+mn-cs"/>
                      </a:endParaRPr>
                    </a:p>
                  </a:txBody>
                  <a:tcPr/>
                </a:tc>
                <a:extLst>
                  <a:ext uri="{0D108BD9-81ED-4DB2-BD59-A6C34878D82A}">
                    <a16:rowId xmlns:a16="http://schemas.microsoft.com/office/drawing/2014/main" val="36681848"/>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526212"/>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Buffer Overflow</a:t>
            </a:r>
            <a:endParaRPr lang="en-US" sz="2200"/>
          </a:p>
        </p:txBody>
      </p:sp>
      <p:sp>
        <p:nvSpPr>
          <p:cNvPr id="5" name="Text 2"/>
          <p:cNvSpPr/>
          <p:nvPr/>
        </p:nvSpPr>
        <p:spPr>
          <a:xfrm>
            <a:off x="208722" y="1202634"/>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latin typeface="Arial"/>
                <a:cs typeface="Arial"/>
              </a:rPr>
              <a:t>Buffers are memory areas allocated to an application.</a:t>
            </a:r>
            <a:endParaRPr lang="pt-BR" sz="1400" dirty="0">
              <a:latin typeface="Arial"/>
              <a:cs typeface="Arial"/>
            </a:endParaRPr>
          </a:p>
          <a:p>
            <a:pPr marL="285750" indent="-285750">
              <a:buFont typeface="Arial"/>
              <a:buChar char="•"/>
            </a:pPr>
            <a:endParaRPr lang="pt-BR" sz="1400" dirty="0">
              <a:latin typeface="Arial"/>
              <a:cs typeface="Arial"/>
            </a:endParaRPr>
          </a:p>
          <a:p>
            <a:pPr marL="285750" indent="-285750">
              <a:buFont typeface="Arial"/>
              <a:buChar char="•"/>
            </a:pPr>
            <a:r>
              <a:rPr lang="en-US" sz="1400" dirty="0">
                <a:latin typeface="Arial"/>
                <a:cs typeface="Arial"/>
              </a:rPr>
              <a:t>A buffer overflow occurs when data is written beyond the limits of a buffer. By changing data beyond the boundaries of a buffer, the application can access memory allocated to other processes. </a:t>
            </a:r>
            <a:endParaRPr lang="pt-BR" sz="1400" dirty="0">
              <a:latin typeface="Arial"/>
              <a:cs typeface="Arial"/>
            </a:endParaRP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This can lead to a system crash, data compromise, or provide escalation of privileges.</a:t>
            </a:r>
            <a:endParaRPr lang="pt-BR" sz="1400" dirty="0">
              <a:latin typeface="Arial"/>
              <a:cs typeface="Arial"/>
            </a:endParaRP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These memory flaws can also give attackers complete control over a target’s device. </a:t>
            </a: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526212"/>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Remote Code Executions</a:t>
            </a:r>
            <a:endParaRPr lang="en-US" sz="2200"/>
          </a:p>
        </p:txBody>
      </p:sp>
      <p:sp>
        <p:nvSpPr>
          <p:cNvPr id="5" name="Text 2"/>
          <p:cNvSpPr/>
          <p:nvPr/>
        </p:nvSpPr>
        <p:spPr>
          <a:xfrm>
            <a:off x="213691" y="1074852"/>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latin typeface="Arial"/>
                <a:cs typeface="Arial"/>
              </a:rPr>
              <a:t>Remote code execution allows a cybercriminal to take advantage of application vulnerabilities to execute any command with the privileges of the user running the application on the target device.</a:t>
            </a:r>
            <a:endParaRPr lang="pt-BR" sz="1400" dirty="0">
              <a:latin typeface="Arial"/>
              <a:cs typeface="Arial"/>
            </a:endParaRP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Privilege escalation exploits a bug, design flaw, or misconfiguration in an operating system or software application to access usually restricted resources.</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The Metasploit Project is a computer security project that provides information about security vulnerabilities and aids penetration testing. </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Among the tools, they developed the Metasploit Framework, which can be used to create and execute exploit code against a remote target.</a:t>
            </a:r>
            <a:endParaRPr lang="en-US" dirty="0">
              <a:cs typeface="Calibri"/>
            </a:endParaRPr>
          </a:p>
          <a:p>
            <a:pPr marL="285750" indent="-285750">
              <a:buFont typeface="Arial"/>
              <a:buChar char="•"/>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37525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Other Application Attacks</a:t>
            </a:r>
            <a:endParaRPr lang="en-US" sz="2200"/>
          </a:p>
        </p:txBody>
      </p:sp>
      <p:sp>
        <p:nvSpPr>
          <p:cNvPr id="5" name="Text 2"/>
          <p:cNvSpPr/>
          <p:nvPr/>
        </p:nvSpPr>
        <p:spPr>
          <a:xfrm>
            <a:off x="46133" y="845951"/>
            <a:ext cx="8229600" cy="706288"/>
          </a:xfrm>
          <a:prstGeom prst="rect">
            <a:avLst/>
          </a:prstGeom>
          <a:noFill/>
          <a:ln/>
        </p:spPr>
        <p:txBody>
          <a:bodyPr wrap="square" lIns="91440" tIns="45720" rIns="91440" bIns="45720" rtlCol="0" anchor="t"/>
          <a:lstStyle/>
          <a:p>
            <a:pPr marL="285750" indent="-285750">
              <a:buFont typeface="Arial"/>
              <a:buChar char="•"/>
            </a:pPr>
            <a:r>
              <a:rPr lang="en-US" sz="1400" dirty="0">
                <a:latin typeface="Arial"/>
                <a:cs typeface="Arial"/>
              </a:rPr>
              <a:t>Every piece of information that an attacker receives about a targeted system or application can be used as a valuable weapon for launching a dangerous attack.</a:t>
            </a:r>
            <a:endParaRPr lang="pt-BR" sz="1400" dirty="0">
              <a:latin typeface="Arial"/>
              <a:cs typeface="Arial"/>
            </a:endParaRPr>
          </a:p>
          <a:p>
            <a:pPr marL="285750" indent="-285750">
              <a:buFont typeface="Arial"/>
              <a:buChar char="•"/>
            </a:pPr>
            <a:r>
              <a:rPr lang="en-US" sz="1400" dirty="0">
                <a:latin typeface="Arial"/>
                <a:cs typeface="Arial"/>
              </a:rPr>
              <a:t>Some other types of application attacks are:</a:t>
            </a:r>
          </a:p>
          <a:p>
            <a:endParaRPr lang="en-US" sz="1400" dirty="0">
              <a:latin typeface="Arial"/>
              <a:cs typeface="Arial"/>
            </a:endParaRPr>
          </a:p>
          <a:p>
            <a:endParaRPr lang="en-US" sz="1400" dirty="0">
              <a:latin typeface="Arial"/>
              <a:cs typeface="Arial"/>
            </a:endParaRPr>
          </a:p>
        </p:txBody>
      </p:sp>
      <p:graphicFrame>
        <p:nvGraphicFramePr>
          <p:cNvPr id="4" name="Tabela 5">
            <a:extLst>
              <a:ext uri="{FF2B5EF4-FFF2-40B4-BE49-F238E27FC236}">
                <a16:creationId xmlns:a16="http://schemas.microsoft.com/office/drawing/2014/main" id="{460AF8B0-7442-166E-37B5-8D2F188719A4}"/>
              </a:ext>
            </a:extLst>
          </p:cNvPr>
          <p:cNvGraphicFramePr>
            <a:graphicFrameLocks noGrp="1"/>
          </p:cNvGraphicFramePr>
          <p:nvPr>
            <p:extLst>
              <p:ext uri="{D42A27DB-BD31-4B8C-83A1-F6EECF244321}">
                <p14:modId xmlns:p14="http://schemas.microsoft.com/office/powerpoint/2010/main" val="726876376"/>
              </p:ext>
            </p:extLst>
          </p:nvPr>
        </p:nvGraphicFramePr>
        <p:xfrm>
          <a:off x="157000" y="1595801"/>
          <a:ext cx="8848577" cy="3139440"/>
        </p:xfrm>
        <a:graphic>
          <a:graphicData uri="http://schemas.openxmlformats.org/drawingml/2006/table">
            <a:tbl>
              <a:tblPr firstRow="1" bandRow="1">
                <a:tableStyleId>{5C22544A-7EE6-4342-B048-85BDC9FD1C3A}</a:tableStyleId>
              </a:tblPr>
              <a:tblGrid>
                <a:gridCol w="2896466">
                  <a:extLst>
                    <a:ext uri="{9D8B030D-6E8A-4147-A177-3AD203B41FA5}">
                      <a16:colId xmlns:a16="http://schemas.microsoft.com/office/drawing/2014/main" val="356522558"/>
                    </a:ext>
                  </a:extLst>
                </a:gridCol>
                <a:gridCol w="5952111">
                  <a:extLst>
                    <a:ext uri="{9D8B030D-6E8A-4147-A177-3AD203B41FA5}">
                      <a16:colId xmlns:a16="http://schemas.microsoft.com/office/drawing/2014/main" val="1283840184"/>
                    </a:ext>
                  </a:extLst>
                </a:gridCol>
              </a:tblGrid>
              <a:tr h="370840">
                <a:tc>
                  <a:txBody>
                    <a:bodyPr/>
                    <a:lstStyle/>
                    <a:p>
                      <a:r>
                        <a:rPr lang="en-US" sz="1400" b="0" noProof="0" dirty="0">
                          <a:solidFill>
                            <a:schemeClr val="tx1"/>
                          </a:solidFill>
                          <a:latin typeface="Arial"/>
                        </a:rPr>
                        <a:t>Cross-site request forgery (CSRF)</a:t>
                      </a:r>
                    </a:p>
                  </a:txBody>
                  <a:tcPr>
                    <a:solidFill>
                      <a:schemeClr val="bg2"/>
                    </a:solidFill>
                  </a:tcPr>
                </a:tc>
                <a:tc>
                  <a:txBody>
                    <a:bodyPr/>
                    <a:lstStyle/>
                    <a:p>
                      <a:pPr lvl="0" algn="l">
                        <a:lnSpc>
                          <a:spcPct val="100000"/>
                        </a:lnSpc>
                        <a:spcBef>
                          <a:spcPts val="0"/>
                        </a:spcBef>
                        <a:spcAft>
                          <a:spcPts val="0"/>
                        </a:spcAft>
                        <a:buNone/>
                      </a:pPr>
                      <a:r>
                        <a:rPr lang="en-US" sz="1400" b="0" i="0" u="none" strike="noStrike" noProof="0" dirty="0">
                          <a:solidFill>
                            <a:schemeClr val="tx1"/>
                          </a:solidFill>
                          <a:latin typeface="Arial"/>
                        </a:rPr>
                        <a:t>It describes the malicious exploit of a website where unauthorized commands are submitted from a user’s browser to a trusted web application.</a:t>
                      </a:r>
                      <a:endParaRPr lang="en-US" sz="1400" noProof="0">
                        <a:solidFill>
                          <a:schemeClr val="tx1"/>
                        </a:solidFill>
                        <a:latin typeface="Arial"/>
                      </a:endParaRPr>
                    </a:p>
                  </a:txBody>
                  <a:tcPr>
                    <a:solidFill>
                      <a:schemeClr val="bg2"/>
                    </a:solidFill>
                  </a:tcPr>
                </a:tc>
                <a:extLst>
                  <a:ext uri="{0D108BD9-81ED-4DB2-BD59-A6C34878D82A}">
                    <a16:rowId xmlns:a16="http://schemas.microsoft.com/office/drawing/2014/main" val="4263546137"/>
                  </a:ext>
                </a:extLst>
              </a:tr>
              <a:tr h="370840">
                <a:tc>
                  <a:txBody>
                    <a:bodyPr/>
                    <a:lstStyle/>
                    <a:p>
                      <a:r>
                        <a:rPr lang="en-US" sz="1400" noProof="0" dirty="0">
                          <a:latin typeface="Arial"/>
                        </a:rPr>
                        <a:t>Race condition attack (time of check – TOC or time of use - TOU)</a:t>
                      </a:r>
                    </a:p>
                  </a:txBody>
                  <a:tcPr/>
                </a:tc>
                <a:tc>
                  <a:txBody>
                    <a:bodyPr/>
                    <a:lstStyle/>
                    <a:p>
                      <a:pPr lvl="0" algn="l">
                        <a:lnSpc>
                          <a:spcPct val="100000"/>
                        </a:lnSpc>
                        <a:spcBef>
                          <a:spcPts val="0"/>
                        </a:spcBef>
                        <a:spcAft>
                          <a:spcPts val="0"/>
                        </a:spcAft>
                        <a:buNone/>
                      </a:pPr>
                      <a:r>
                        <a:rPr lang="en-US" sz="1400" b="0" i="0" u="none" strike="noStrike" noProof="0" dirty="0">
                          <a:latin typeface="Arial"/>
                        </a:rPr>
                        <a:t>This attack happens when a computing system that is designed to handle tasks in a specific sequence is forced to perform two or more operations simultaneously.</a:t>
                      </a:r>
                      <a:endParaRPr lang="en-US" sz="1400" noProof="0">
                        <a:latin typeface="Arial"/>
                      </a:endParaRPr>
                    </a:p>
                  </a:txBody>
                  <a:tcPr/>
                </a:tc>
                <a:extLst>
                  <a:ext uri="{0D108BD9-81ED-4DB2-BD59-A6C34878D82A}">
                    <a16:rowId xmlns:a16="http://schemas.microsoft.com/office/drawing/2014/main" val="3178997387"/>
                  </a:ext>
                </a:extLst>
              </a:tr>
              <a:tr h="370840">
                <a:tc>
                  <a:txBody>
                    <a:bodyPr/>
                    <a:lstStyle/>
                    <a:p>
                      <a:r>
                        <a:rPr lang="en-US" sz="1400" noProof="0" dirty="0">
                          <a:latin typeface="Arial"/>
                        </a:rPr>
                        <a:t>Improper input handling attack</a:t>
                      </a:r>
                    </a:p>
                  </a:txBody>
                  <a:tcPr/>
                </a:tc>
                <a:tc>
                  <a:txBody>
                    <a:bodyPr/>
                    <a:lstStyle/>
                    <a:p>
                      <a:pPr lvl="0">
                        <a:buNone/>
                      </a:pPr>
                      <a:r>
                        <a:rPr lang="en-US" sz="1400" b="0" i="0" u="none" strike="noStrike" noProof="0" dirty="0">
                          <a:latin typeface="Arial"/>
                        </a:rPr>
                        <a:t>Data inputted by a user that is not properly validated can affect the data flow of a program and cause critical vulnerabilities in systems and applications that result in buffer overflow or SQL injection attacks.</a:t>
                      </a:r>
                      <a:endParaRPr lang="en-US" sz="1400" noProof="0">
                        <a:latin typeface="Arial"/>
                      </a:endParaRPr>
                    </a:p>
                  </a:txBody>
                  <a:tcPr/>
                </a:tc>
                <a:extLst>
                  <a:ext uri="{0D108BD9-81ED-4DB2-BD59-A6C34878D82A}">
                    <a16:rowId xmlns:a16="http://schemas.microsoft.com/office/drawing/2014/main" val="3564669329"/>
                  </a:ext>
                </a:extLst>
              </a:tr>
              <a:tr h="370840">
                <a:tc>
                  <a:txBody>
                    <a:bodyPr/>
                    <a:lstStyle/>
                    <a:p>
                      <a:r>
                        <a:rPr lang="en-US" sz="1400" noProof="0" dirty="0">
                          <a:latin typeface="Arial"/>
                        </a:rPr>
                        <a:t>Erro handling attack</a:t>
                      </a:r>
                    </a:p>
                  </a:txBody>
                  <a:tcPr/>
                </a:tc>
                <a:tc>
                  <a:txBody>
                    <a:bodyPr/>
                    <a:lstStyle/>
                    <a:p>
                      <a:pPr lvl="0">
                        <a:buNone/>
                      </a:pPr>
                      <a:r>
                        <a:rPr lang="en-US" sz="1400" b="0" i="0" u="none" strike="noStrike" noProof="0" dirty="0">
                          <a:latin typeface="Arial"/>
                        </a:rPr>
                        <a:t>Attackers can use error messages to extract specific information such as the hostnames of internal systems and directories or files that exist on a given web server — as well as database, table and field names that can be used to craft SQL injection attacks.</a:t>
                      </a:r>
                      <a:endParaRPr lang="en-US" sz="1400" noProof="0" dirty="0">
                        <a:latin typeface="Arial"/>
                      </a:endParaRPr>
                    </a:p>
                  </a:txBody>
                  <a:tcPr/>
                </a:tc>
                <a:extLst>
                  <a:ext uri="{0D108BD9-81ED-4DB2-BD59-A6C34878D82A}">
                    <a16:rowId xmlns:a16="http://schemas.microsoft.com/office/drawing/2014/main" val="611388638"/>
                  </a:ext>
                </a:extLst>
              </a:tr>
            </a:tbl>
          </a:graphicData>
        </a:graphic>
      </p:graphicFrame>
      <p:sp>
        <p:nvSpPr>
          <p:cNvPr id="25" name="Slide Number Placeholder 0"/>
          <p:cNvSpPr>
            <a:spLocks noGrp="1"/>
          </p:cNvSpPr>
          <p:nvPr>
            <p:ph type="sldNum" sz="quarter" idx="4294967295"/>
          </p:nvPr>
        </p:nvSpPr>
        <p:spPr>
          <a:xfrm>
            <a:off x="8625840" y="4778803"/>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580127"/>
          </a:xfrm>
          <a:prstGeom prst="rect">
            <a:avLst/>
          </a:prstGeom>
          <a:noFill/>
          <a:ln/>
        </p:spPr>
        <p:txBody>
          <a:bodyPr wrap="square" lIns="91440" tIns="45720" rIns="91440" bIns="45720" rtlCol="0" anchor="t"/>
          <a:lstStyle/>
          <a:p>
            <a:r>
              <a:rPr lang="en-US" sz="2200" dirty="0">
                <a:solidFill>
                  <a:srgbClr val="024C69"/>
                </a:solidFill>
                <a:latin typeface="Arial"/>
                <a:cs typeface="Arial"/>
              </a:rPr>
              <a:t>Other Application Attacks</a:t>
            </a:r>
            <a:r>
              <a:rPr lang="en-US">
                <a:latin typeface="Arial"/>
                <a:cs typeface="Arial"/>
              </a:rPr>
              <a:t> (Cont.)</a:t>
            </a:r>
            <a:endParaRPr lang="en-US" sz="2200"/>
          </a:p>
        </p:txBody>
      </p:sp>
      <p:graphicFrame>
        <p:nvGraphicFramePr>
          <p:cNvPr id="4" name="Tabela 5">
            <a:extLst>
              <a:ext uri="{FF2B5EF4-FFF2-40B4-BE49-F238E27FC236}">
                <a16:creationId xmlns:a16="http://schemas.microsoft.com/office/drawing/2014/main" id="{F62E947E-804B-CEA8-92C1-EDD82B378492}"/>
              </a:ext>
            </a:extLst>
          </p:cNvPr>
          <p:cNvGraphicFramePr>
            <a:graphicFrameLocks noGrp="1"/>
          </p:cNvGraphicFramePr>
          <p:nvPr>
            <p:extLst>
              <p:ext uri="{D42A27DB-BD31-4B8C-83A1-F6EECF244321}">
                <p14:modId xmlns:p14="http://schemas.microsoft.com/office/powerpoint/2010/main" val="1259288565"/>
              </p:ext>
            </p:extLst>
          </p:nvPr>
        </p:nvGraphicFramePr>
        <p:xfrm>
          <a:off x="150962" y="1002820"/>
          <a:ext cx="8796994" cy="3352800"/>
        </p:xfrm>
        <a:graphic>
          <a:graphicData uri="http://schemas.openxmlformats.org/drawingml/2006/table">
            <a:tbl>
              <a:tblPr firstRow="1" bandRow="1">
                <a:tableStyleId>{5C22544A-7EE6-4342-B048-85BDC9FD1C3A}</a:tableStyleId>
              </a:tblPr>
              <a:tblGrid>
                <a:gridCol w="2038864">
                  <a:extLst>
                    <a:ext uri="{9D8B030D-6E8A-4147-A177-3AD203B41FA5}">
                      <a16:colId xmlns:a16="http://schemas.microsoft.com/office/drawing/2014/main" val="2850392640"/>
                    </a:ext>
                  </a:extLst>
                </a:gridCol>
                <a:gridCol w="6758130">
                  <a:extLst>
                    <a:ext uri="{9D8B030D-6E8A-4147-A177-3AD203B41FA5}">
                      <a16:colId xmlns:a16="http://schemas.microsoft.com/office/drawing/2014/main" val="3554512685"/>
                    </a:ext>
                  </a:extLst>
                </a:gridCol>
              </a:tblGrid>
              <a:tr h="401594">
                <a:tc>
                  <a:txBody>
                    <a:bodyPr/>
                    <a:lstStyle/>
                    <a:p>
                      <a:r>
                        <a:rPr lang="en-US" sz="1400" b="0" noProof="0" dirty="0">
                          <a:solidFill>
                            <a:schemeClr val="tx1"/>
                          </a:solidFill>
                          <a:latin typeface="Arial"/>
                        </a:rPr>
                        <a:t>Application programming interface (API) attack</a:t>
                      </a:r>
                    </a:p>
                  </a:txBody>
                  <a:tcPr>
                    <a:solidFill>
                      <a:schemeClr val="bg2"/>
                    </a:solidFill>
                  </a:tcPr>
                </a:tc>
                <a:tc>
                  <a:txBody>
                    <a:bodyPr/>
                    <a:lstStyle/>
                    <a:p>
                      <a:pPr lvl="0">
                        <a:buNone/>
                      </a:pPr>
                      <a:r>
                        <a:rPr lang="en-US" sz="1400" b="0" i="0" u="none" strike="noStrike" noProof="0" dirty="0">
                          <a:solidFill>
                            <a:schemeClr val="tx1"/>
                          </a:solidFill>
                          <a:latin typeface="Arial"/>
                        </a:rPr>
                        <a:t>An API delivers a user response to a system and sends the system’s response back to the user. An API attack occurs when a cybercriminal abuses an API endpoint.</a:t>
                      </a:r>
                      <a:endParaRPr lang="en-US" sz="1400" noProof="0" dirty="0">
                        <a:solidFill>
                          <a:schemeClr val="tx1"/>
                        </a:solidFill>
                        <a:latin typeface="Arial"/>
                      </a:endParaRPr>
                    </a:p>
                  </a:txBody>
                  <a:tcPr>
                    <a:solidFill>
                      <a:schemeClr val="bg2"/>
                    </a:solidFill>
                  </a:tcPr>
                </a:tc>
                <a:extLst>
                  <a:ext uri="{0D108BD9-81ED-4DB2-BD59-A6C34878D82A}">
                    <a16:rowId xmlns:a16="http://schemas.microsoft.com/office/drawing/2014/main" val="1357129285"/>
                  </a:ext>
                </a:extLst>
              </a:tr>
              <a:tr h="370840">
                <a:tc>
                  <a:txBody>
                    <a:bodyPr/>
                    <a:lstStyle/>
                    <a:p>
                      <a:r>
                        <a:rPr lang="en-US" sz="1400" noProof="0" dirty="0">
                          <a:latin typeface="Arial"/>
                        </a:rPr>
                        <a:t>Replay attack</a:t>
                      </a:r>
                    </a:p>
                  </a:txBody>
                  <a:tcPr/>
                </a:tc>
                <a:tc>
                  <a:txBody>
                    <a:bodyPr/>
                    <a:lstStyle/>
                    <a:p>
                      <a:pPr lvl="0">
                        <a:buNone/>
                      </a:pPr>
                      <a:r>
                        <a:rPr lang="en-US" sz="1400" b="0" i="0" u="none" strike="noStrike" noProof="0" dirty="0">
                          <a:latin typeface="Arial"/>
                        </a:rPr>
                        <a:t>This describes a situation where a valid data transmission is maliciously or fraudulently repeated or delayed by an attacker, who intercepts, amends and resubmits the data to get the receiver to do whatever they want.</a:t>
                      </a:r>
                      <a:endParaRPr lang="en-US" sz="1400" noProof="0" dirty="0">
                        <a:latin typeface="Arial"/>
                      </a:endParaRPr>
                    </a:p>
                  </a:txBody>
                  <a:tcPr/>
                </a:tc>
                <a:extLst>
                  <a:ext uri="{0D108BD9-81ED-4DB2-BD59-A6C34878D82A}">
                    <a16:rowId xmlns:a16="http://schemas.microsoft.com/office/drawing/2014/main" val="727870876"/>
                  </a:ext>
                </a:extLst>
              </a:tr>
              <a:tr h="370840">
                <a:tc>
                  <a:txBody>
                    <a:bodyPr/>
                    <a:lstStyle/>
                    <a:p>
                      <a:r>
                        <a:rPr lang="en-US" sz="1400" noProof="0" dirty="0">
                          <a:latin typeface="Arial"/>
                        </a:rPr>
                        <a:t>Directory traversal attack</a:t>
                      </a:r>
                    </a:p>
                  </a:txBody>
                  <a:tcPr/>
                </a:tc>
                <a:tc>
                  <a:txBody>
                    <a:bodyPr/>
                    <a:lstStyle/>
                    <a:p>
                      <a:pPr lvl="0">
                        <a:buNone/>
                      </a:pPr>
                      <a:r>
                        <a:rPr lang="en-US" sz="1400" b="0" i="0" u="none" strike="noStrike" noProof="0" dirty="0">
                          <a:latin typeface="Arial"/>
                        </a:rPr>
                        <a:t>Directory traversal occurs when an attacker read files on the webserver outside of the directory of the website. An attacker can then use this information to download server configuration files containing sensitive information, potentially expose more server vulnerabilities or even take control of the server!</a:t>
                      </a:r>
                      <a:endParaRPr lang="en-US" sz="1400" noProof="0" dirty="0">
                        <a:latin typeface="Arial"/>
                      </a:endParaRPr>
                    </a:p>
                  </a:txBody>
                  <a:tcPr/>
                </a:tc>
                <a:extLst>
                  <a:ext uri="{0D108BD9-81ED-4DB2-BD59-A6C34878D82A}">
                    <a16:rowId xmlns:a16="http://schemas.microsoft.com/office/drawing/2014/main" val="200103233"/>
                  </a:ext>
                </a:extLst>
              </a:tr>
              <a:tr h="370840">
                <a:tc>
                  <a:txBody>
                    <a:bodyPr/>
                    <a:lstStyle/>
                    <a:p>
                      <a:r>
                        <a:rPr lang="en-US" sz="1400" noProof="0" dirty="0">
                          <a:latin typeface="Arial"/>
                        </a:rPr>
                        <a:t>Resource exhaustion attacks</a:t>
                      </a:r>
                    </a:p>
                  </a:txBody>
                  <a:tcPr/>
                </a:tc>
                <a:tc>
                  <a:txBody>
                    <a:bodyPr/>
                    <a:lstStyle/>
                    <a:p>
                      <a:pPr lvl="0">
                        <a:buNone/>
                      </a:pPr>
                      <a:r>
                        <a:rPr lang="en-US" sz="1400" b="0" i="0" u="none" strike="noStrike" noProof="0" dirty="0">
                          <a:latin typeface="Arial"/>
                        </a:rPr>
                        <a:t>These attacks are computer security exploits that crash, hang or otherwise interfere with a targeted program or system. Rather than overwhelming network bandwidth like a DoS attack, resource exhaustion attacks overwhelm the hardware resources available on the target’s server instead.</a:t>
                      </a:r>
                      <a:endParaRPr lang="en-US" sz="1400" noProof="0" dirty="0">
                        <a:latin typeface="Arial"/>
                      </a:endParaRPr>
                    </a:p>
                  </a:txBody>
                  <a:tcPr/>
                </a:tc>
                <a:extLst>
                  <a:ext uri="{0D108BD9-81ED-4DB2-BD59-A6C34878D82A}">
                    <a16:rowId xmlns:a16="http://schemas.microsoft.com/office/drawing/2014/main" val="34540049"/>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60</a:t>
            </a:fld>
            <a:endParaRPr lang="en-US"/>
          </a:p>
        </p:txBody>
      </p:sp>
    </p:spTree>
    <p:extLst>
      <p:ext uri="{BB962C8B-B14F-4D97-AF65-F5344CB8AC3E}">
        <p14:creationId xmlns:p14="http://schemas.microsoft.com/office/powerpoint/2010/main" val="33657935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64482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Defending Against Application Attacks</a:t>
            </a:r>
            <a:endParaRPr lang="en-US" sz="2200"/>
          </a:p>
        </p:txBody>
      </p:sp>
      <p:sp>
        <p:nvSpPr>
          <p:cNvPr id="5" name="Text 2"/>
          <p:cNvSpPr/>
          <p:nvPr/>
        </p:nvSpPr>
        <p:spPr>
          <a:xfrm>
            <a:off x="273326" y="1193240"/>
            <a:ext cx="8229600" cy="2571750"/>
          </a:xfrm>
          <a:prstGeom prst="rect">
            <a:avLst/>
          </a:prstGeom>
          <a:noFill/>
          <a:ln/>
        </p:spPr>
        <p:txBody>
          <a:bodyPr wrap="square" lIns="91440" tIns="45720" rIns="91440" bIns="45720" rtlCol="0" anchor="t"/>
          <a:lstStyle/>
          <a:p>
            <a:r>
              <a:rPr lang="en-US" sz="1400" dirty="0">
                <a:latin typeface="Arial"/>
                <a:cs typeface="Arial"/>
              </a:rPr>
              <a:t>You can take several actions to defend against an application attack.</a:t>
            </a:r>
            <a:endParaRPr lang="pt-BR" sz="1400" dirty="0">
              <a:latin typeface="Arial"/>
              <a:cs typeface="Arial"/>
            </a:endParaRPr>
          </a:p>
          <a:p>
            <a:endParaRPr lang="en-US" sz="1400" dirty="0">
              <a:latin typeface="Arial"/>
              <a:cs typeface="Arial"/>
            </a:endParaRPr>
          </a:p>
          <a:p>
            <a:r>
              <a:rPr lang="en-US" sz="1400" dirty="0">
                <a:latin typeface="Arial"/>
                <a:cs typeface="Arial"/>
              </a:rPr>
              <a:t> Some of them are:</a:t>
            </a:r>
            <a:endParaRPr lang="pt-BR" sz="1400" dirty="0">
              <a:latin typeface="Arial"/>
              <a:cs typeface="Arial"/>
            </a:endParaRPr>
          </a:p>
          <a:p>
            <a:endParaRPr lang="en-US" sz="1400" dirty="0">
              <a:latin typeface="Arial"/>
              <a:cs typeface="Arial"/>
            </a:endParaRPr>
          </a:p>
          <a:p>
            <a:pPr marL="285750" indent="-285750">
              <a:buFont typeface="Arial"/>
              <a:buChar char="•"/>
            </a:pPr>
            <a:r>
              <a:rPr lang="en-US" sz="1400" dirty="0">
                <a:latin typeface="Arial"/>
                <a:cs typeface="Arial"/>
              </a:rPr>
              <a:t>The first defense against an application attack is to write solid code.</a:t>
            </a:r>
          </a:p>
          <a:p>
            <a:endParaRPr lang="en-US" sz="1400" dirty="0">
              <a:latin typeface="Arial"/>
              <a:cs typeface="Arial"/>
            </a:endParaRPr>
          </a:p>
          <a:p>
            <a:pPr marL="285750" indent="-285750">
              <a:buFont typeface="Arial"/>
              <a:buChar char="•"/>
            </a:pPr>
            <a:r>
              <a:rPr lang="en-US" sz="1400" dirty="0">
                <a:latin typeface="Arial"/>
                <a:cs typeface="Arial"/>
              </a:rPr>
              <a:t>Prudent programming practice involves treating and validating all input from outside of a function as if it is hostile.</a:t>
            </a:r>
          </a:p>
          <a:p>
            <a:endParaRPr lang="en-US" sz="1400" dirty="0">
              <a:latin typeface="Arial"/>
              <a:cs typeface="Arial"/>
            </a:endParaRPr>
          </a:p>
          <a:p>
            <a:pPr marL="285750" indent="-285750">
              <a:buFont typeface="Arial"/>
              <a:buChar char="•"/>
            </a:pPr>
            <a:r>
              <a:rPr lang="en-US" sz="1400" dirty="0">
                <a:latin typeface="Arial"/>
                <a:cs typeface="Arial"/>
              </a:rPr>
              <a:t>Keep all software, including operating systems and applications, up to date, and do not ignore update prompts. Remember that not all programs update automatically.</a:t>
            </a: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59091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Spam</a:t>
            </a:r>
            <a:endParaRPr lang="en-US" sz="2200"/>
          </a:p>
        </p:txBody>
      </p:sp>
      <p:sp>
        <p:nvSpPr>
          <p:cNvPr id="5" name="Text 2"/>
          <p:cNvSpPr/>
          <p:nvPr/>
        </p:nvSpPr>
        <p:spPr>
          <a:xfrm>
            <a:off x="248479" y="1202635"/>
            <a:ext cx="8229600" cy="2231335"/>
          </a:xfrm>
          <a:prstGeom prst="rect">
            <a:avLst/>
          </a:prstGeom>
          <a:noFill/>
          <a:ln/>
        </p:spPr>
        <p:txBody>
          <a:bodyPr wrap="square" lIns="91440" tIns="45720" rIns="91440" bIns="45720" rtlCol="0" anchor="t"/>
          <a:lstStyle/>
          <a:p>
            <a:pPr marL="285750" indent="-285750">
              <a:buFont typeface="Arial"/>
              <a:buChar char="•"/>
            </a:pPr>
            <a:r>
              <a:rPr lang="en-US" sz="1400" dirty="0">
                <a:latin typeface="Arial"/>
                <a:cs typeface="Arial"/>
              </a:rPr>
              <a:t>Spam (junk mail) is unsolicited email and, in most cases, is an advertising method. </a:t>
            </a:r>
            <a:endParaRPr lang="pt-BR" sz="1400" dirty="0">
              <a:latin typeface="Arial"/>
              <a:cs typeface="Arial"/>
            </a:endParaRP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A lot of spam is sent in bulk by computers infected by viruses or worms — and often contains malicious links, malware, or deceptive content that aims to trick recipients into disclosing sensitive information.</a:t>
            </a:r>
            <a:endParaRPr lang="pt-BR" sz="1400" dirty="0">
              <a:latin typeface="Arial"/>
              <a:cs typeface="Arial"/>
            </a:endParaRP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Almost all email providers filter spam, but it still consumes bandwidth. And even if you have implemented security features, some spam might get through to you. </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59091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Spam (Cont.)</a:t>
            </a:r>
            <a:endParaRPr lang="en-US" sz="2200"/>
          </a:p>
        </p:txBody>
      </p:sp>
      <p:sp>
        <p:nvSpPr>
          <p:cNvPr id="5" name="Text 2"/>
          <p:cNvSpPr/>
          <p:nvPr/>
        </p:nvSpPr>
        <p:spPr>
          <a:xfrm>
            <a:off x="313083" y="959126"/>
            <a:ext cx="8229600" cy="3458817"/>
          </a:xfrm>
          <a:prstGeom prst="rect">
            <a:avLst/>
          </a:prstGeom>
          <a:noFill/>
          <a:ln/>
        </p:spPr>
        <p:txBody>
          <a:bodyPr wrap="square" lIns="91440" tIns="45720" rIns="91440" bIns="45720" rtlCol="0" anchor="t"/>
          <a:lstStyle/>
          <a:p>
            <a:r>
              <a:rPr lang="en-US" sz="1400" dirty="0">
                <a:latin typeface="Arial"/>
                <a:cs typeface="Arial"/>
              </a:rPr>
              <a:t>Some indicators of spam:</a:t>
            </a:r>
            <a:endParaRPr lang="pt-BR" sz="1400" dirty="0">
              <a:latin typeface="Arial"/>
              <a:cs typeface="Arial"/>
            </a:endParaRPr>
          </a:p>
          <a:p>
            <a:endParaRPr lang="en-US" sz="1400" dirty="0">
              <a:latin typeface="Arial"/>
              <a:cs typeface="Arial"/>
            </a:endParaRPr>
          </a:p>
          <a:p>
            <a:pPr marL="285750" indent="-285750">
              <a:buFont typeface="Arial"/>
              <a:buChar char="•"/>
            </a:pPr>
            <a:r>
              <a:rPr lang="en-US" sz="1400" dirty="0">
                <a:latin typeface="Arial"/>
                <a:cs typeface="Arial"/>
              </a:rPr>
              <a:t>The email has no subject line.</a:t>
            </a:r>
          </a:p>
          <a:p>
            <a:pPr marL="285750" indent="-285750">
              <a:buFont typeface="Arial"/>
              <a:buChar char="•"/>
            </a:pPr>
            <a:r>
              <a:rPr lang="en-US" sz="1400" dirty="0">
                <a:latin typeface="Arial"/>
                <a:cs typeface="Arial"/>
              </a:rPr>
              <a:t>The email asks you to update your account details.</a:t>
            </a:r>
          </a:p>
          <a:p>
            <a:pPr marL="285750" indent="-285750">
              <a:buFont typeface="Arial"/>
              <a:buChar char="•"/>
            </a:pPr>
            <a:r>
              <a:rPr lang="en-US" sz="1400" dirty="0">
                <a:latin typeface="Arial"/>
                <a:cs typeface="Arial"/>
              </a:rPr>
              <a:t>The email text contains misspelled words or strange punctuation.</a:t>
            </a:r>
          </a:p>
          <a:p>
            <a:pPr marL="285750" indent="-285750">
              <a:buFont typeface="Arial"/>
              <a:buChar char="•"/>
            </a:pPr>
            <a:r>
              <a:rPr lang="en-US" sz="1400" dirty="0">
                <a:latin typeface="Arial"/>
                <a:cs typeface="Arial"/>
              </a:rPr>
              <a:t>Links within the email are long and cryptic.</a:t>
            </a:r>
          </a:p>
          <a:p>
            <a:pPr marL="285750" indent="-285750">
              <a:buFont typeface="Arial"/>
              <a:buChar char="•"/>
            </a:pPr>
            <a:r>
              <a:rPr lang="en-US" sz="1400" dirty="0">
                <a:latin typeface="Arial"/>
                <a:cs typeface="Arial"/>
              </a:rPr>
              <a:t>The email looks like correspondence from a legitimate business, but there are tiny differences — or it contains information that does not seem relevant to you.</a:t>
            </a:r>
          </a:p>
          <a:p>
            <a:pPr marL="285750" indent="-285750">
              <a:buFont typeface="Arial"/>
              <a:buChar char="•"/>
            </a:pPr>
            <a:r>
              <a:rPr lang="en-US" sz="1400" dirty="0">
                <a:latin typeface="Arial"/>
                <a:cs typeface="Arial"/>
              </a:rPr>
              <a:t>The email asks you to open an attachment, often urgently.</a:t>
            </a:r>
          </a:p>
          <a:p>
            <a:endParaRPr lang="en-US" sz="1400" dirty="0">
              <a:latin typeface="Arial"/>
              <a:cs typeface="Arial"/>
            </a:endParaRPr>
          </a:p>
          <a:p>
            <a:r>
              <a:rPr lang="en-US" sz="1400" dirty="0">
                <a:latin typeface="Arial"/>
                <a:cs typeface="Arial"/>
              </a:rPr>
              <a:t>If you receive an email containing one or more indicators, you should not open the email or any attachments. </a:t>
            </a:r>
          </a:p>
          <a:p>
            <a:endParaRPr lang="en-US" sz="1400" dirty="0">
              <a:latin typeface="Arial"/>
              <a:cs typeface="Arial"/>
            </a:endParaRPr>
          </a:p>
          <a:p>
            <a:r>
              <a:rPr lang="en-US" sz="1400" dirty="0">
                <a:latin typeface="Arial"/>
                <a:cs typeface="Arial"/>
              </a:rPr>
              <a:t>Many organizations have an email policy that requires employees to report receipt of this type of email to their cybersecurity team for further investigation. If in doubt, always write. </a:t>
            </a: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63</a:t>
            </a:fld>
            <a:endParaRPr lang="en-US"/>
          </a:p>
        </p:txBody>
      </p:sp>
    </p:spTree>
    <p:extLst>
      <p:ext uri="{BB962C8B-B14F-4D97-AF65-F5344CB8AC3E}">
        <p14:creationId xmlns:p14="http://schemas.microsoft.com/office/powerpoint/2010/main" val="23637184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64482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Phishing</a:t>
            </a:r>
            <a:endParaRPr lang="en-US" sz="2200"/>
          </a:p>
        </p:txBody>
      </p:sp>
      <p:sp>
        <p:nvSpPr>
          <p:cNvPr id="5" name="Text 2"/>
          <p:cNvSpPr/>
          <p:nvPr/>
        </p:nvSpPr>
        <p:spPr>
          <a:xfrm>
            <a:off x="188843" y="1043257"/>
            <a:ext cx="8229600" cy="3056985"/>
          </a:xfrm>
          <a:prstGeom prst="rect">
            <a:avLst/>
          </a:prstGeom>
          <a:noFill/>
          <a:ln/>
        </p:spPr>
        <p:txBody>
          <a:bodyPr wrap="square" lIns="91440" tIns="45720" rIns="91440" bIns="45720" rtlCol="0" anchor="t"/>
          <a:lstStyle/>
          <a:p>
            <a:pPr>
              <a:lnSpc>
                <a:spcPts val="2000"/>
              </a:lnSpc>
            </a:pPr>
            <a:r>
              <a:rPr lang="en-US" sz="1400" dirty="0">
                <a:latin typeface="Arial"/>
                <a:cs typeface="Arial"/>
              </a:rPr>
              <a:t>Phishing is a form of fraudulent activity often used to steal personal information.</a:t>
            </a:r>
          </a:p>
          <a:p>
            <a:pPr>
              <a:lnSpc>
                <a:spcPts val="2000"/>
              </a:lnSpc>
            </a:pPr>
            <a:endParaRPr lang="en-US" sz="1400" dirty="0">
              <a:latin typeface="Arial"/>
              <a:cs typeface="Arial"/>
            </a:endParaRPr>
          </a:p>
          <a:p>
            <a:r>
              <a:rPr lang="en-US" sz="1400" dirty="0">
                <a:latin typeface="Arial"/>
                <a:cs typeface="Arial"/>
              </a:rPr>
              <a:t>Phishing</a:t>
            </a:r>
          </a:p>
          <a:p>
            <a:pPr marL="285750" indent="-285750">
              <a:buFont typeface="Arial"/>
              <a:buChar char="•"/>
            </a:pPr>
            <a:r>
              <a:rPr lang="en-US" sz="1400" dirty="0">
                <a:latin typeface="Arial"/>
                <a:cs typeface="Arial"/>
              </a:rPr>
              <a:t>It occurs when a user is contacted by email or instant message — or in any other way — by someone masquerading as a legitimate person or organization. </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The intent is to trick the recipient into installing malware on their device or into sharing personal information, such as login credentials or financial information.</a:t>
            </a:r>
            <a:endParaRPr lang="en-US" dirty="0">
              <a:cs typeface="Calibri" panose="020F0502020204030204"/>
            </a:endParaRPr>
          </a:p>
          <a:p>
            <a:endParaRPr lang="en-US" sz="1400" dirty="0">
              <a:latin typeface="Arial"/>
              <a:cs typeface="Arial"/>
            </a:endParaRPr>
          </a:p>
          <a:p>
            <a:r>
              <a:rPr lang="en-US" sz="1400" dirty="0">
                <a:latin typeface="Arial"/>
                <a:cs typeface="Arial"/>
              </a:rPr>
              <a:t>Spear phishing</a:t>
            </a:r>
          </a:p>
          <a:p>
            <a:pPr marL="285750" indent="-285750">
              <a:buFont typeface="Arial"/>
              <a:buChar char="•"/>
            </a:pPr>
            <a:r>
              <a:rPr lang="en-US" sz="1400" dirty="0">
                <a:latin typeface="Arial"/>
                <a:cs typeface="Arial"/>
              </a:rPr>
              <a:t>A highly targeted attack, spear phishing sends customized emails to a specific person based on information the attacker knows about them — which could be their interests, preferences, activities, and work projects.</a:t>
            </a: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515429"/>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Vishing, Pharming and Whaling</a:t>
            </a:r>
            <a:endParaRPr lang="en-US" sz="2200"/>
          </a:p>
        </p:txBody>
      </p:sp>
      <p:sp>
        <p:nvSpPr>
          <p:cNvPr id="5" name="Text 2"/>
          <p:cNvSpPr/>
          <p:nvPr/>
        </p:nvSpPr>
        <p:spPr>
          <a:xfrm>
            <a:off x="308113" y="1064069"/>
            <a:ext cx="8229600" cy="2571750"/>
          </a:xfrm>
          <a:prstGeom prst="rect">
            <a:avLst/>
          </a:prstGeom>
          <a:noFill/>
          <a:ln/>
        </p:spPr>
        <p:txBody>
          <a:bodyPr wrap="square" lIns="91440" tIns="45720" rIns="91440" bIns="45720" rtlCol="0" anchor="t"/>
          <a:lstStyle/>
          <a:p>
            <a:r>
              <a:rPr lang="en-US" sz="1400" dirty="0">
                <a:latin typeface="Arial"/>
                <a:cs typeface="Arial"/>
              </a:rPr>
              <a:t>Criminals make use of a wide range of techniques to try to gain access to your personal information.</a:t>
            </a:r>
            <a:endParaRPr lang="pt-BR" sz="1400" dirty="0">
              <a:latin typeface="Arial"/>
              <a:cs typeface="Arial"/>
            </a:endParaRPr>
          </a:p>
          <a:p>
            <a:endParaRPr lang="en-US" sz="1400" dirty="0">
              <a:latin typeface="Arial"/>
              <a:cs typeface="Arial"/>
            </a:endParaRPr>
          </a:p>
          <a:p>
            <a:r>
              <a:rPr lang="en-US" sz="1400" dirty="0">
                <a:latin typeface="Arial"/>
                <a:cs typeface="Arial"/>
              </a:rPr>
              <a:t>Some of their common scams are:</a:t>
            </a:r>
            <a:endParaRPr lang="en-US" dirty="0"/>
          </a:p>
          <a:p>
            <a:endParaRPr lang="en-US" sz="1400" dirty="0">
              <a:latin typeface="Arial"/>
              <a:cs typeface="Arial"/>
            </a:endParaRPr>
          </a:p>
          <a:p>
            <a:pPr marL="285750" indent="-285750">
              <a:buFont typeface="Arial"/>
              <a:buChar char="•"/>
            </a:pPr>
            <a:r>
              <a:rPr lang="en-US" sz="1400" dirty="0">
                <a:latin typeface="Arial"/>
                <a:cs typeface="Arial"/>
              </a:rPr>
              <a:t>Vishing: This type of attack sees criminals use voice communication technology to encourage users to divulge information, such as credit card details.</a:t>
            </a:r>
          </a:p>
          <a:p>
            <a:pPr marL="285750" indent="-285750">
              <a:buFont typeface="Arial"/>
              <a:buChar char="•"/>
            </a:pPr>
            <a:endParaRPr lang="en-US" sz="1400" dirty="0">
              <a:latin typeface="Calibri"/>
              <a:cs typeface="Calibri"/>
            </a:endParaRPr>
          </a:p>
          <a:p>
            <a:pPr marL="285750" indent="-285750">
              <a:buFont typeface="Arial"/>
              <a:buChar char="•"/>
            </a:pPr>
            <a:r>
              <a:rPr lang="en-US" sz="1400" dirty="0">
                <a:latin typeface="Arial"/>
                <a:cs typeface="Arial"/>
              </a:rPr>
              <a:t>Farming: This attack deliberately misdirects users to a fake version of an official website.</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Whaling: A phishing attack targets high-profile individuals, such as senior executives within an organization, politicians, and celebrities.</a:t>
            </a:r>
          </a:p>
          <a:p>
            <a:pPr marL="285750" indent="-285750">
              <a:lnSpc>
                <a:spcPts val="2000"/>
              </a:lnSpc>
              <a:buFont typeface="Arial"/>
              <a:buChar char="•"/>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481054"/>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Defending Against Email and Browser Attacks</a:t>
            </a:r>
            <a:endParaRPr lang="en-US" sz="2200"/>
          </a:p>
        </p:txBody>
      </p:sp>
      <p:sp>
        <p:nvSpPr>
          <p:cNvPr id="5" name="Text 2"/>
          <p:cNvSpPr/>
          <p:nvPr/>
        </p:nvSpPr>
        <p:spPr>
          <a:xfrm>
            <a:off x="159026" y="914400"/>
            <a:ext cx="8229600" cy="3443909"/>
          </a:xfrm>
          <a:prstGeom prst="rect">
            <a:avLst/>
          </a:prstGeom>
          <a:noFill/>
          <a:ln/>
        </p:spPr>
        <p:txBody>
          <a:bodyPr wrap="square" lIns="91440" tIns="45720" rIns="91440" bIns="45720" rtlCol="0" anchor="t"/>
          <a:lstStyle/>
          <a:p>
            <a:r>
              <a:rPr lang="en-US" sz="1400" dirty="0">
                <a:latin typeface="Arial"/>
                <a:cs typeface="Arial"/>
              </a:rPr>
              <a:t>Some of the important actions that you can take to defend against email and browser attacks:</a:t>
            </a:r>
            <a:endParaRPr lang="pt-BR" sz="1400" dirty="0">
              <a:latin typeface="Arial"/>
              <a:cs typeface="Arial"/>
            </a:endParaRPr>
          </a:p>
          <a:p>
            <a:endParaRPr lang="en-US" sz="1400" dirty="0">
              <a:latin typeface="Arial"/>
              <a:cs typeface="Arial"/>
            </a:endParaRPr>
          </a:p>
          <a:p>
            <a:r>
              <a:rPr lang="en-US" sz="1400" dirty="0">
                <a:latin typeface="Arial"/>
                <a:cs typeface="Arial"/>
              </a:rPr>
              <a:t>It is difficult to stop spam, but there are ways to reduce its effects:</a:t>
            </a:r>
          </a:p>
          <a:p>
            <a:pPr marL="285750" indent="-285750">
              <a:buFont typeface="Arial"/>
              <a:buChar char="•"/>
            </a:pPr>
            <a:r>
              <a:rPr lang="en-US" sz="1400" dirty="0">
                <a:latin typeface="Arial"/>
                <a:cs typeface="Arial"/>
              </a:rPr>
              <a:t>Most Internet service providers (ISPs) filter spam before it reaches the user’s inbox.</a:t>
            </a:r>
          </a:p>
          <a:p>
            <a:pPr marL="285750" indent="-285750">
              <a:buFont typeface="Arial"/>
              <a:buChar char="•"/>
            </a:pPr>
            <a:r>
              <a:rPr lang="en-US" sz="1400" dirty="0">
                <a:latin typeface="Arial"/>
                <a:cs typeface="Arial"/>
              </a:rPr>
              <a:t>Many antivirus and email software programs automatically detect and remove dangerous spam from an email inbox.</a:t>
            </a:r>
          </a:p>
          <a:p>
            <a:pPr marL="285750" indent="-285750">
              <a:buFont typeface="Arial"/>
              <a:buChar char="•"/>
            </a:pPr>
            <a:r>
              <a:rPr lang="en-US" sz="1400" dirty="0">
                <a:latin typeface="Arial"/>
                <a:cs typeface="Arial"/>
              </a:rPr>
              <a:t>Organizations should educate employees about the dangers of unsolicited emails and make them aware of the risks of opening attachments. </a:t>
            </a:r>
          </a:p>
          <a:p>
            <a:pPr marL="285750" indent="-285750">
              <a:buFont typeface="Arial"/>
              <a:buChar char="•"/>
            </a:pPr>
            <a:r>
              <a:rPr lang="en-US" sz="1400" dirty="0">
                <a:latin typeface="Arial"/>
                <a:cs typeface="Arial"/>
              </a:rPr>
              <a:t>Always scan email attachments before opening them.</a:t>
            </a:r>
          </a:p>
          <a:p>
            <a:pPr marL="285750" indent="-285750">
              <a:buFont typeface="Arial"/>
              <a:buChar char="•"/>
            </a:pPr>
            <a:endParaRPr lang="en-US" sz="1400" dirty="0">
              <a:latin typeface="Arial"/>
              <a:cs typeface="Arial"/>
            </a:endParaRPr>
          </a:p>
          <a:p>
            <a:r>
              <a:rPr lang="en-US" sz="1400" dirty="0">
                <a:latin typeface="Arial"/>
                <a:cs typeface="Arial"/>
              </a:rPr>
              <a:t>Become a member of the Anti-Phishing Working Group (APWG). It is an international association of companies focused on eliminating identity theft and fraud resulting from phishing and email spoofing.</a:t>
            </a:r>
          </a:p>
          <a:p>
            <a:endParaRPr lang="en-US" sz="1400" dirty="0">
              <a:latin typeface="Arial"/>
              <a:cs typeface="Arial"/>
            </a:endParaRPr>
          </a:p>
          <a:p>
            <a:r>
              <a:rPr lang="en-US" sz="1400" dirty="0">
                <a:latin typeface="Arial"/>
                <a:cs typeface="Arial"/>
              </a:rPr>
              <a:t>All software should be kept up-to-date, with the latest security patches, to protect against known vulnerabilities. </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Application Attacks</a:t>
            </a:r>
            <a:endParaRPr lang="en-US" sz="1600"/>
          </a:p>
        </p:txBody>
      </p:sp>
      <p:sp>
        <p:nvSpPr>
          <p:cNvPr id="3" name="Text 0"/>
          <p:cNvSpPr>
            <a:spLocks noGrp="1"/>
          </p:cNvSpPr>
          <p:nvPr>
            <p:ph type="body" idx="100" hasCustomPrompt="1"/>
          </p:nvPr>
        </p:nvSpPr>
        <p:spPr>
          <a:xfrm>
            <a:off x="0" y="274320"/>
            <a:ext cx="9144000" cy="472404"/>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There's More...</a:t>
            </a:r>
            <a:endParaRPr lang="en-US" sz="2200"/>
          </a:p>
        </p:txBody>
      </p:sp>
      <p:sp>
        <p:nvSpPr>
          <p:cNvPr id="5" name="Text 2"/>
          <p:cNvSpPr/>
          <p:nvPr/>
        </p:nvSpPr>
        <p:spPr>
          <a:xfrm>
            <a:off x="47445" y="746724"/>
            <a:ext cx="8229600" cy="319578"/>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dirty="0">
                <a:latin typeface="Arial"/>
                <a:cs typeface="Arial"/>
              </a:rPr>
              <a:t>Some other common attacks that cybercriminals can launch are:</a:t>
            </a:r>
            <a:endParaRPr lang="pt-B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graphicFrame>
        <p:nvGraphicFramePr>
          <p:cNvPr id="4" name="Tabela 5">
            <a:extLst>
              <a:ext uri="{FF2B5EF4-FFF2-40B4-BE49-F238E27FC236}">
                <a16:creationId xmlns:a16="http://schemas.microsoft.com/office/drawing/2014/main" id="{630B8932-C97C-92F0-B030-438BD2F40694}"/>
              </a:ext>
            </a:extLst>
          </p:cNvPr>
          <p:cNvGraphicFramePr>
            <a:graphicFrameLocks noGrp="1"/>
          </p:cNvGraphicFramePr>
          <p:nvPr>
            <p:extLst>
              <p:ext uri="{D42A27DB-BD31-4B8C-83A1-F6EECF244321}">
                <p14:modId xmlns:p14="http://schemas.microsoft.com/office/powerpoint/2010/main" val="3634482728"/>
              </p:ext>
            </p:extLst>
          </p:nvPr>
        </p:nvGraphicFramePr>
        <p:xfrm>
          <a:off x="70737" y="1121348"/>
          <a:ext cx="8858781" cy="3779520"/>
        </p:xfrm>
        <a:graphic>
          <a:graphicData uri="http://schemas.openxmlformats.org/drawingml/2006/table">
            <a:tbl>
              <a:tblPr firstRow="1" bandRow="1">
                <a:tableStyleId>{5C22544A-7EE6-4342-B048-85BDC9FD1C3A}</a:tableStyleId>
              </a:tblPr>
              <a:tblGrid>
                <a:gridCol w="1791729">
                  <a:extLst>
                    <a:ext uri="{9D8B030D-6E8A-4147-A177-3AD203B41FA5}">
                      <a16:colId xmlns:a16="http://schemas.microsoft.com/office/drawing/2014/main" val="4102437707"/>
                    </a:ext>
                  </a:extLst>
                </a:gridCol>
                <a:gridCol w="7067052">
                  <a:extLst>
                    <a:ext uri="{9D8B030D-6E8A-4147-A177-3AD203B41FA5}">
                      <a16:colId xmlns:a16="http://schemas.microsoft.com/office/drawing/2014/main" val="1929160489"/>
                    </a:ext>
                  </a:extLst>
                </a:gridCol>
              </a:tblGrid>
              <a:tr h="370840">
                <a:tc>
                  <a:txBody>
                    <a:bodyPr/>
                    <a:lstStyle/>
                    <a:p>
                      <a:r>
                        <a:rPr lang="en-US" sz="1400" b="0" noProof="0" dirty="0">
                          <a:solidFill>
                            <a:schemeClr val="tx1"/>
                          </a:solidFill>
                          <a:latin typeface="Arial"/>
                        </a:rPr>
                        <a:t>Physical attacks</a:t>
                      </a:r>
                    </a:p>
                  </a:txBody>
                  <a:tcPr>
                    <a:solidFill>
                      <a:schemeClr val="bg2"/>
                    </a:solidFill>
                  </a:tcPr>
                </a:tc>
                <a:tc>
                  <a:txBody>
                    <a:bodyPr/>
                    <a:lstStyle/>
                    <a:p>
                      <a:pPr lvl="0" algn="l">
                        <a:lnSpc>
                          <a:spcPct val="100000"/>
                        </a:lnSpc>
                        <a:spcBef>
                          <a:spcPts val="0"/>
                        </a:spcBef>
                        <a:spcAft>
                          <a:spcPts val="0"/>
                        </a:spcAft>
                        <a:buNone/>
                      </a:pPr>
                      <a:r>
                        <a:rPr lang="en-US" sz="1400" b="0" i="0" u="none" strike="noStrike" noProof="0" dirty="0">
                          <a:solidFill>
                            <a:schemeClr val="tx1"/>
                          </a:solidFill>
                          <a:latin typeface="Arial"/>
                        </a:rPr>
                        <a:t>They are intentional, offensive actions used to destroy, expose, alter, disable, steal or gain unauthorized access to an organization’s infrastructure or hardware.</a:t>
                      </a:r>
                      <a:endParaRPr lang="en-US" sz="1400">
                        <a:solidFill>
                          <a:schemeClr val="tx1"/>
                        </a:solidFill>
                        <a:latin typeface="Arial"/>
                      </a:endParaRPr>
                    </a:p>
                  </a:txBody>
                  <a:tcPr>
                    <a:solidFill>
                      <a:schemeClr val="bg2"/>
                    </a:solidFill>
                  </a:tcPr>
                </a:tc>
                <a:extLst>
                  <a:ext uri="{0D108BD9-81ED-4DB2-BD59-A6C34878D82A}">
                    <a16:rowId xmlns:a16="http://schemas.microsoft.com/office/drawing/2014/main" val="3683372249"/>
                  </a:ext>
                </a:extLst>
              </a:tr>
              <a:tr h="370840">
                <a:tc>
                  <a:txBody>
                    <a:bodyPr/>
                    <a:lstStyle/>
                    <a:p>
                      <a:r>
                        <a:rPr lang="en-US" sz="1400" noProof="0" dirty="0">
                          <a:latin typeface="Arial"/>
                        </a:rPr>
                        <a:t>Adversarial artificial intelligence attacks</a:t>
                      </a:r>
                    </a:p>
                  </a:txBody>
                  <a:tcPr/>
                </a:tc>
                <a:tc>
                  <a:txBody>
                    <a:bodyPr/>
                    <a:lstStyle/>
                    <a:p>
                      <a:pPr lvl="0" algn="l">
                        <a:lnSpc>
                          <a:spcPct val="100000"/>
                        </a:lnSpc>
                        <a:spcBef>
                          <a:spcPts val="0"/>
                        </a:spcBef>
                        <a:spcAft>
                          <a:spcPts val="0"/>
                        </a:spcAft>
                        <a:buNone/>
                      </a:pPr>
                      <a:r>
                        <a:rPr lang="en-US" sz="1400" b="0" i="0" u="none" strike="noStrike" noProof="0" dirty="0">
                          <a:latin typeface="Arial"/>
                        </a:rPr>
                        <a:t>Machine learning is a method of automation that allows devices to carry out analysis and perform tasks without specifically being programmed to do so. It uses mathematical models to predict outcomes. However, these models are dependent on the data that is inputted. If the data is tainted, it can have a negative impact on the predicted outcome. Attackers can take advantage of this to perpetrate attacks against machine learning algorithms. </a:t>
                      </a:r>
                      <a:endParaRPr lang="en-US" sz="1400" b="0" i="0" u="none" strike="noStrike" noProof="0">
                        <a:latin typeface="Arial"/>
                      </a:endParaRPr>
                    </a:p>
                  </a:txBody>
                  <a:tcPr/>
                </a:tc>
                <a:extLst>
                  <a:ext uri="{0D108BD9-81ED-4DB2-BD59-A6C34878D82A}">
                    <a16:rowId xmlns:a16="http://schemas.microsoft.com/office/drawing/2014/main" val="2356563557"/>
                  </a:ext>
                </a:extLst>
              </a:tr>
              <a:tr h="370840">
                <a:tc>
                  <a:txBody>
                    <a:bodyPr/>
                    <a:lstStyle/>
                    <a:p>
                      <a:r>
                        <a:rPr lang="en-US" sz="1400" noProof="0" dirty="0">
                          <a:latin typeface="Arial"/>
                        </a:rPr>
                        <a:t>Supply chain attacks</a:t>
                      </a:r>
                    </a:p>
                  </a:txBody>
                  <a:tcPr/>
                </a:tc>
                <a:tc>
                  <a:txBody>
                    <a:bodyPr/>
                    <a:lstStyle/>
                    <a:p>
                      <a:pPr lvl="0" algn="l">
                        <a:lnSpc>
                          <a:spcPct val="100000"/>
                        </a:lnSpc>
                        <a:spcBef>
                          <a:spcPts val="0"/>
                        </a:spcBef>
                        <a:spcAft>
                          <a:spcPts val="0"/>
                        </a:spcAft>
                        <a:buNone/>
                      </a:pPr>
                      <a:r>
                        <a:rPr lang="en-US" sz="1400" b="0" i="0" u="none" strike="noStrike" kern="1200" noProof="0" dirty="0">
                          <a:solidFill>
                            <a:schemeClr val="dk1"/>
                          </a:solidFill>
                          <a:latin typeface="Arial"/>
                          <a:ea typeface="+mn-ea"/>
                          <a:cs typeface="+mn-cs"/>
                        </a:rPr>
                        <a:t>Many organizations interface with a third party for their systems management or to purchase components and software. Organizations may even rely on parts or components from a foreign source. Attackers often find ways to intercept these supply chains. </a:t>
                      </a:r>
                    </a:p>
                  </a:txBody>
                  <a:tcPr/>
                </a:tc>
                <a:extLst>
                  <a:ext uri="{0D108BD9-81ED-4DB2-BD59-A6C34878D82A}">
                    <a16:rowId xmlns:a16="http://schemas.microsoft.com/office/drawing/2014/main" val="3674074642"/>
                  </a:ext>
                </a:extLst>
              </a:tr>
              <a:tr h="370840">
                <a:tc>
                  <a:txBody>
                    <a:bodyPr/>
                    <a:lstStyle/>
                    <a:p>
                      <a:r>
                        <a:rPr lang="en-US" sz="1400" noProof="0" dirty="0">
                          <a:latin typeface="Arial"/>
                        </a:rPr>
                        <a:t>Cloud-based attacks</a:t>
                      </a:r>
                    </a:p>
                  </a:txBody>
                  <a:tcPr/>
                </a:tc>
                <a:tc>
                  <a:txBody>
                    <a:bodyPr/>
                    <a:lstStyle/>
                    <a:p>
                      <a:pPr lvl="0" algn="l">
                        <a:lnSpc>
                          <a:spcPct val="100000"/>
                        </a:lnSpc>
                        <a:spcBef>
                          <a:spcPts val="0"/>
                        </a:spcBef>
                        <a:spcAft>
                          <a:spcPts val="0"/>
                        </a:spcAft>
                        <a:buNone/>
                      </a:pPr>
                      <a:r>
                        <a:rPr lang="en-US" sz="1400" b="0" i="0" u="none" strike="noStrike" kern="1200" noProof="0" dirty="0">
                          <a:solidFill>
                            <a:schemeClr val="dk1"/>
                          </a:solidFill>
                          <a:latin typeface="Arial"/>
                          <a:ea typeface="+mn-ea"/>
                          <a:cs typeface="+mn-cs"/>
                        </a:rPr>
                        <a:t>Rather than developing systems on their own premises, more and more organizations are making the move toward cloud-based computing. Attackers are constantly leveraging ways to exploit sensitive data stored on the cloud, as well as applications, platforms and infrastructure that is cloud-based, as we saw with SaaS, PaaS and IaaS.</a:t>
                      </a:r>
                      <a:endParaRPr lang="en-US" sz="1400" b="0" i="0" u="none" strike="noStrike" kern="1200" dirty="0">
                        <a:solidFill>
                          <a:schemeClr val="dk1"/>
                        </a:solidFill>
                        <a:latin typeface="Arial"/>
                        <a:ea typeface="+mn-ea"/>
                        <a:cs typeface="+mn-cs"/>
                      </a:endParaRPr>
                    </a:p>
                  </a:txBody>
                  <a:tcPr/>
                </a:tc>
                <a:extLst>
                  <a:ext uri="{0D108BD9-81ED-4DB2-BD59-A6C34878D82A}">
                    <a16:rowId xmlns:a16="http://schemas.microsoft.com/office/drawing/2014/main" val="3406380633"/>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a:solidFill>
                  <a:srgbClr val="B1E8FA"/>
                </a:solidFill>
                <a:latin typeface="Arial" pitchFamily="34" charset="0"/>
                <a:ea typeface="Arial" pitchFamily="34" charset="-122"/>
                <a:cs typeface="Arial" pitchFamily="34" charset="-120"/>
              </a:rPr>
              <a:t>1.6 Cybersecurity Threats, Vulnerabilities, and Attacks Summary</a:t>
            </a:r>
            <a:endParaRPr lang="en-US" sz="460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Threats, Vulnerabilities, and Attacks Summary</a:t>
            </a:r>
            <a:endParaRPr lang="en-US" sz="1600"/>
          </a:p>
        </p:txBody>
      </p:sp>
      <p:sp>
        <p:nvSpPr>
          <p:cNvPr id="3" name="Text 0"/>
          <p:cNvSpPr>
            <a:spLocks noGrp="1"/>
          </p:cNvSpPr>
          <p:nvPr>
            <p:ph type="body" idx="100" hasCustomPrompt="1"/>
          </p:nvPr>
        </p:nvSpPr>
        <p:spPr>
          <a:xfrm>
            <a:off x="0" y="274320"/>
            <a:ext cx="9144000" cy="569344"/>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What Did I Learn in this Module?</a:t>
            </a:r>
            <a:endParaRPr lang="en-US" sz="2200"/>
          </a:p>
        </p:txBody>
      </p:sp>
      <p:sp>
        <p:nvSpPr>
          <p:cNvPr id="5" name="Text 2"/>
          <p:cNvSpPr/>
          <p:nvPr/>
        </p:nvSpPr>
        <p:spPr>
          <a:xfrm>
            <a:off x="233569" y="1170174"/>
            <a:ext cx="8229600" cy="3132466"/>
          </a:xfrm>
          <a:prstGeom prst="rect">
            <a:avLst/>
          </a:prstGeom>
          <a:noFill/>
          <a:ln/>
        </p:spPr>
        <p:txBody>
          <a:bodyPr wrap="square" lIns="91440" tIns="45720" rIns="91440" bIns="45720" rtlCol="0" anchor="t"/>
          <a:lstStyle/>
          <a:p>
            <a:pPr marL="285750" indent="-285750">
              <a:buFont typeface="Arial"/>
              <a:buChar char="•"/>
            </a:pPr>
            <a:r>
              <a:rPr lang="en-US" sz="1400" dirty="0">
                <a:latin typeface="Arial"/>
                <a:cs typeface="Arial"/>
              </a:rPr>
              <a:t>A threat domain is an area of control, authority, or protection that attackers can exploit to gain access to a system.</a:t>
            </a:r>
            <a:endParaRPr lang="pt-BR" dirty="0">
              <a:cs typeface="Calibri" panose="020F0502020204030204"/>
            </a:endParaRPr>
          </a:p>
          <a:p>
            <a:pPr marL="285750" indent="-285750">
              <a:buFont typeface="Arial"/>
              <a:buChar char="•"/>
            </a:pPr>
            <a:r>
              <a:rPr lang="en-US" sz="1400" dirty="0">
                <a:latin typeface="Arial"/>
                <a:cs typeface="Arial"/>
              </a:rPr>
              <a:t>Cyber threats are classified as internal and external threats. It includes software attacks and errors, sabotage, human error, theft, hardware failures, utility interruption, and natural disasters.</a:t>
            </a:r>
          </a:p>
          <a:p>
            <a:pPr marL="285750" indent="-285750">
              <a:buFont typeface="Arial"/>
              <a:buChar char="•"/>
            </a:pPr>
            <a:r>
              <a:rPr lang="en-US" sz="1400" dirty="0">
                <a:latin typeface="Arial"/>
                <a:cs typeface="Arial"/>
              </a:rPr>
              <a:t>Social engineering is a non-technical strategy that attempts to manipulate individuals into performing specific actions or divulging confidential information.</a:t>
            </a:r>
          </a:p>
          <a:p>
            <a:pPr marL="285750" indent="-285750">
              <a:buFont typeface="Arial"/>
              <a:buChar char="•"/>
            </a:pPr>
            <a:r>
              <a:rPr lang="en-US" sz="1400" dirty="0">
                <a:latin typeface="Arial"/>
                <a:cs typeface="Arial"/>
              </a:rPr>
              <a:t>Malware is any code that can be used to steal data, bypass access controls, or cause harm to or compromise a system. </a:t>
            </a:r>
          </a:p>
          <a:p>
            <a:pPr marL="285750" indent="-285750">
              <a:buFont typeface="Arial"/>
              <a:buChar char="•"/>
            </a:pPr>
            <a:r>
              <a:rPr lang="en-US" sz="1400" dirty="0">
                <a:latin typeface="Arial"/>
                <a:cs typeface="Arial"/>
              </a:rPr>
              <a:t>Grayware is an unwanted application that behaves in an annoying or undesirable manner. To defend against wireless and mobile device attacks: change default configurations.</a:t>
            </a:r>
          </a:p>
          <a:p>
            <a:pPr marL="285750" indent="-285750">
              <a:buFont typeface="Arial"/>
              <a:buChar char="•"/>
            </a:pPr>
            <a:r>
              <a:rPr lang="en-US" sz="1400" dirty="0">
                <a:latin typeface="Arial"/>
                <a:cs typeface="Arial"/>
              </a:rPr>
              <a:t>Code Injection attacks include XML, SQL, DLL, and LDAP. Write solid code to defend against an application attack.</a:t>
            </a:r>
          </a:p>
          <a:p>
            <a:pPr marL="285750" indent="-285750">
              <a:buFont typeface="Arial"/>
              <a:buChar char="•"/>
            </a:pPr>
            <a:r>
              <a:rPr lang="en-US" sz="1400" dirty="0">
                <a:latin typeface="Arial"/>
                <a:cs typeface="Arial"/>
              </a:rPr>
              <a:t>Use antivirus software to defend against email and browser attacks.</a:t>
            </a:r>
          </a:p>
          <a:p>
            <a:pPr marL="285750" indent="-285750">
              <a:lnSpc>
                <a:spcPts val="2000"/>
              </a:lnSpc>
              <a:buFont typeface="Arial"/>
              <a:buChar char="•"/>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name="Slide 9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Module 1</a:t>
            </a:r>
            <a:endParaRPr lang="en-US" sz="1600" dirty="0"/>
          </a:p>
        </p:txBody>
      </p:sp>
      <p:sp>
        <p:nvSpPr>
          <p:cNvPr id="3" name="Text 0"/>
          <p:cNvSpPr>
            <a:spLocks noGrp="1"/>
          </p:cNvSpPr>
          <p:nvPr>
            <p:ph type="body" idx="100" hasCustomPrompt="1"/>
          </p:nvPr>
        </p:nvSpPr>
        <p:spPr>
          <a:xfrm>
            <a:off x="0" y="274320"/>
            <a:ext cx="9144000" cy="73442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Terms and Commands</a:t>
            </a:r>
            <a:endParaRPr lang="en-US" sz="2200" dirty="0"/>
          </a:p>
        </p:txBody>
      </p:sp>
      <p:sp>
        <p:nvSpPr>
          <p:cNvPr id="5" name="Text 2"/>
          <p:cNvSpPr/>
          <p:nvPr/>
        </p:nvSpPr>
        <p:spPr>
          <a:xfrm>
            <a:off x="278296" y="1282984"/>
            <a:ext cx="8229600" cy="3136616"/>
          </a:xfrm>
          <a:prstGeom prst="rect">
            <a:avLst/>
          </a:prstGeom>
          <a:noFill/>
          <a:ln/>
        </p:spPr>
        <p:txBody>
          <a:bodyPr wrap="square" lIns="91440" tIns="45720" rIns="91440" bIns="45720" rtlCol="0" anchor="t"/>
          <a:lstStyle/>
          <a:p>
            <a:pPr marL="285750" indent="-285750">
              <a:buFont typeface="Arial"/>
              <a:buChar char="•"/>
            </a:pPr>
            <a:r>
              <a:rPr lang="en-US" sz="1400" dirty="0">
                <a:latin typeface="Arial"/>
                <a:cs typeface="Arial"/>
              </a:rPr>
              <a:t>Cross-site scripting (XSS)</a:t>
            </a:r>
          </a:p>
          <a:p>
            <a:pPr marL="285750" indent="-285750">
              <a:buFont typeface="Arial"/>
              <a:buChar char="•"/>
            </a:pPr>
            <a:r>
              <a:rPr lang="en-US" sz="1400" dirty="0">
                <a:latin typeface="Arial"/>
                <a:cs typeface="Arial"/>
              </a:rPr>
              <a:t>Software as a Service (SaaS)</a:t>
            </a:r>
            <a:endParaRPr lang="pt-BR" sz="1400" dirty="0">
              <a:latin typeface="Arial"/>
              <a:cs typeface="Arial"/>
            </a:endParaRPr>
          </a:p>
          <a:p>
            <a:pPr marL="285750" indent="-285750">
              <a:buFont typeface="Arial"/>
              <a:buChar char="•"/>
            </a:pPr>
            <a:r>
              <a:rPr lang="en-US" sz="1400" dirty="0">
                <a:latin typeface="Arial"/>
                <a:cs typeface="Arial"/>
              </a:rPr>
              <a:t>Platform as a Service (PaaS)</a:t>
            </a:r>
          </a:p>
          <a:p>
            <a:pPr marL="285750" indent="-285750">
              <a:buFont typeface="Arial"/>
              <a:buChar char="•"/>
            </a:pPr>
            <a:r>
              <a:rPr lang="en-US" sz="1400" dirty="0">
                <a:latin typeface="Arial"/>
                <a:cs typeface="Arial"/>
              </a:rPr>
              <a:t>Infrastructure as a Service (IaaS)</a:t>
            </a:r>
          </a:p>
          <a:p>
            <a:pPr marL="285750" indent="-285750">
              <a:buFont typeface="Arial"/>
              <a:buChar char="•"/>
            </a:pPr>
            <a:r>
              <a:rPr lang="en-US" sz="1400" dirty="0">
                <a:latin typeface="Arial"/>
                <a:cs typeface="Arial"/>
              </a:rPr>
              <a:t>Advanced persistent threat (APT)</a:t>
            </a:r>
          </a:p>
          <a:p>
            <a:pPr marL="285750" indent="-285750">
              <a:buFont typeface="Arial"/>
              <a:buChar char="•"/>
            </a:pPr>
            <a:r>
              <a:rPr lang="en-US" sz="1400" dirty="0">
                <a:latin typeface="Arial"/>
                <a:cs typeface="Arial"/>
              </a:rPr>
              <a:t>Remote administrative tool program (RAT)</a:t>
            </a:r>
          </a:p>
          <a:p>
            <a:pPr marL="285750" indent="-285750">
              <a:buFont typeface="Arial"/>
              <a:buChar char="•"/>
            </a:pPr>
            <a:r>
              <a:rPr lang="en-US" sz="1400" dirty="0">
                <a:latin typeface="Arial"/>
                <a:cs typeface="Arial"/>
              </a:rPr>
              <a:t>Common vulnerabilities and exposures (CVE)</a:t>
            </a:r>
          </a:p>
          <a:p>
            <a:pPr marL="285750" indent="-285750">
              <a:buFont typeface="Arial"/>
              <a:buChar char="•"/>
            </a:pPr>
            <a:r>
              <a:rPr lang="en-US" sz="1400" dirty="0">
                <a:latin typeface="Arial"/>
                <a:cs typeface="Arial"/>
              </a:rPr>
              <a:t>Indicator of compromise (IOC)</a:t>
            </a:r>
          </a:p>
          <a:p>
            <a:pPr marL="285750" indent="-285750">
              <a:buFont typeface="Arial"/>
              <a:buChar char="•"/>
            </a:pPr>
            <a:r>
              <a:rPr lang="en-US" sz="1400" dirty="0">
                <a:latin typeface="Arial"/>
                <a:cs typeface="Arial"/>
              </a:rPr>
              <a:t>Dark web</a:t>
            </a:r>
          </a:p>
          <a:p>
            <a:pPr marL="285750" indent="-285750">
              <a:buFont typeface="Arial"/>
              <a:buChar char="•"/>
            </a:pPr>
            <a:r>
              <a:rPr lang="en-US" sz="1400" dirty="0">
                <a:latin typeface="Arial"/>
                <a:cs typeface="Arial"/>
              </a:rPr>
              <a:t>Structured Threat Information Expression (STIX)</a:t>
            </a:r>
          </a:p>
          <a:p>
            <a:pPr marL="285750" indent="-285750">
              <a:buFont typeface="Arial"/>
              <a:buChar char="•"/>
            </a:pPr>
            <a:r>
              <a:rPr lang="en-US" sz="1400" dirty="0">
                <a:latin typeface="Arial"/>
                <a:cs typeface="Arial"/>
              </a:rPr>
              <a:t>Trusted Automated Exchange of Intelligence Information (TAXII)</a:t>
            </a:r>
          </a:p>
          <a:p>
            <a:pPr marL="285750" indent="-285750">
              <a:buFont typeface="Arial"/>
              <a:buChar char="•"/>
            </a:pPr>
            <a:r>
              <a:rPr lang="en-US" sz="1400" dirty="0">
                <a:latin typeface="Arial"/>
                <a:cs typeface="Arial"/>
              </a:rPr>
              <a:t>Zero-day attack</a:t>
            </a:r>
          </a:p>
          <a:p>
            <a:pPr marL="285750" indent="-285750">
              <a:buFont typeface="Arial"/>
              <a:buChar char="•"/>
            </a:pPr>
            <a:r>
              <a:rPr lang="en-US" sz="1400" dirty="0">
                <a:latin typeface="Arial"/>
                <a:cs typeface="Arial"/>
              </a:rPr>
              <a:t>Malware</a:t>
            </a:r>
          </a:p>
          <a:p>
            <a:pPr marL="285750" indent="-285750">
              <a:buFont typeface="Arial"/>
              <a:buChar char="•"/>
            </a:pPr>
            <a:r>
              <a:rPr lang="en-US" sz="1400" dirty="0">
                <a:latin typeface="Arial"/>
                <a:cs typeface="Arial"/>
              </a:rPr>
              <a:t>Grayware</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70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63c561b-9ed7-4eff-a44a-420ee4b9be56">
      <Terms xmlns="http://schemas.microsoft.com/office/infopath/2007/PartnerControls"/>
    </lcf76f155ced4ddcb4097134ff3c332f>
    <TaxCatchAll xmlns="4596d6c2-6208-40c1-97d7-a7a8de7b2e7e" xsi:nil="true"/>
    <SharedWithUsers xmlns="4596d6c2-6208-40c1-97d7-a7a8de7b2e7e">
      <UserInfo>
        <DisplayName/>
        <AccountId xsi:nil="true"/>
        <AccountType/>
      </UserInfo>
    </SharedWithUsers>
    <MediaLengthInSeconds xmlns="663c561b-9ed7-4eff-a44a-420ee4b9be5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372FA7496D6DA479E8285E92D89F7A2" ma:contentTypeVersion="15" ma:contentTypeDescription="Create a new document." ma:contentTypeScope="" ma:versionID="cc03c34962dc7a1ce1ea79212ad1f1fe">
  <xsd:schema xmlns:xsd="http://www.w3.org/2001/XMLSchema" xmlns:xs="http://www.w3.org/2001/XMLSchema" xmlns:p="http://schemas.microsoft.com/office/2006/metadata/properties" xmlns:ns2="4596d6c2-6208-40c1-97d7-a7a8de7b2e7e" xmlns:ns3="663c561b-9ed7-4eff-a44a-420ee4b9be56" targetNamespace="http://schemas.microsoft.com/office/2006/metadata/properties" ma:root="true" ma:fieldsID="f297ccd91f930ebf464e3ef2d8f03a81" ns2:_="" ns3:_="">
    <xsd:import namespace="4596d6c2-6208-40c1-97d7-a7a8de7b2e7e"/>
    <xsd:import namespace="663c561b-9ed7-4eff-a44a-420ee4b9be5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96d6c2-6208-40c1-97d7-a7a8de7b2e7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4744fc2b-25fb-49a1-97aa-3319922cdb6c}" ma:internalName="TaxCatchAll" ma:showField="CatchAllData" ma:web="4596d6c2-6208-40c1-97d7-a7a8de7b2e7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63c561b-9ed7-4eff-a44a-420ee4b9be5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551257-9976-4DFA-AF04-E8B3661B046E}">
  <ds:schemaRefs>
    <ds:schemaRef ds:uri="http://schemas.openxmlformats.org/package/2006/metadata/core-properties"/>
    <ds:schemaRef ds:uri="20a0b39e-fcd0-423b-9f17-9d26d967be51"/>
    <ds:schemaRef ds:uri="http://schemas.microsoft.com/office/infopath/2007/PartnerControls"/>
    <ds:schemaRef ds:uri="http://schemas.microsoft.com/office/2006/metadata/properties"/>
    <ds:schemaRef ds:uri="http://purl.org/dc/elements/1.1/"/>
    <ds:schemaRef ds:uri="http://www.w3.org/XML/1998/namespace"/>
    <ds:schemaRef ds:uri="http://schemas.microsoft.com/office/2006/documentManagement/types"/>
    <ds:schemaRef ds:uri="810553ce-449d-4340-bb0a-414d416a9b51"/>
    <ds:schemaRef ds:uri="http://purl.org/dc/dcmitype/"/>
    <ds:schemaRef ds:uri="http://purl.org/dc/terms/"/>
  </ds:schemaRefs>
</ds:datastoreItem>
</file>

<file path=customXml/itemProps2.xml><?xml version="1.0" encoding="utf-8"?>
<ds:datastoreItem xmlns:ds="http://schemas.openxmlformats.org/officeDocument/2006/customXml" ds:itemID="{BA31361E-8D61-411A-9F7B-3CBADBDCCF5B}"/>
</file>

<file path=customXml/itemProps3.xml><?xml version="1.0" encoding="utf-8"?>
<ds:datastoreItem xmlns:ds="http://schemas.openxmlformats.org/officeDocument/2006/customXml" ds:itemID="{83AC4121-1C78-4402-A8E9-7F09CBD9DA5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85</TotalTime>
  <Words>8160</Words>
  <Application>Microsoft Office PowerPoint</Application>
  <PresentationFormat>On-screen Show (16:9)</PresentationFormat>
  <Paragraphs>980</Paragraphs>
  <Slides>70</Slides>
  <Notes>70</Notes>
  <HiddenSlides>12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Anna Bolen -X (abolen - UNICON INC at Cisco)</cp:lastModifiedBy>
  <cp:revision>323</cp:revision>
  <dcterms:created xsi:type="dcterms:W3CDTF">2022-10-03T22:07:09Z</dcterms:created>
  <dcterms:modified xsi:type="dcterms:W3CDTF">2023-03-30T15:38:56Z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0x010100198F9F34832A35489A19D5E200F54CC8</vt:lpwstr>
  </property>
  <property fmtid="{D5CDD505-2E9C-101B-9397-08002B2CF9AE}" pid="3" name="MediaServiceImageTags">
    <vt:lpwstr/>
  </property>
  <property fmtid="{D5CDD505-2E9C-101B-9397-08002B2CF9AE}" pid="4" name="Order">
    <vt:r8>2104600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